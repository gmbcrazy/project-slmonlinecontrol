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9" r:id="rId5"/>
    <p:sldId id="270" r:id="rId6"/>
    <p:sldId id="271" r:id="rId7"/>
    <p:sldId id="272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DF41"/>
    <a:srgbClr val="D41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2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23C4-CFB9-52A1-A5A1-8EB0D5688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ACAC3-427A-1EAF-2FB9-A62DB6F3F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CC294-9B10-33DF-9446-AF9CC956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651E-1C3E-4CCA-B24E-91CDDF65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9253-1838-2343-E4C3-1933BD24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7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C98B-D00E-DF4E-2CD5-46B6F8CA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468D-05C1-294E-19E5-58A5E91D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D0B49-2B01-4D47-3EE2-47D16AAE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601A-49EC-EDF1-F82C-F36ECD4A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1ECAC-E3C1-757E-F0DE-5D6E7159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4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526D-3636-B792-6BAA-87FE3EFC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511E2-6F59-2C18-5354-BE0BBF8E8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946A-2798-92FB-7C17-F97B400F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675F-1325-F441-1F75-4270F119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0FFDB-7E90-D451-C78E-2ED5B417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4EE2-7F26-AF02-580E-01FBA4266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EF661-8293-D0BD-98D5-C25646D03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CE51C-F7AD-51E3-5911-964B10189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08DE9-EFA0-48F0-7E95-FA5A0778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4201D-285E-B99C-7820-B4D115E2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FB107-88B9-94B1-F8AA-5F05DF38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6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79F9-C7AE-3499-74C3-B751FC5B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EC1B4-3CC4-C63D-3532-150BC2D96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FBE99-81E1-3DB0-9987-BD40BD5CD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789CE-42CD-EDE0-3B38-0C77E121E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28DC1-0514-2DED-1063-5017BB484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17E081-D504-BABB-4627-B0E32D1E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457E6-30AD-DADD-B872-366580B1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5699AA-598B-DB71-FC57-E12490DE4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5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1E96-8774-97FD-5F12-9FD03B57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B8DDF-6104-6287-9986-447CEF51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9B7F2-54B2-2ABF-E565-5E9A3136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D05E0-484A-01EC-F65B-26BF70E8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2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BC970-90BC-ED5A-AD4C-FAB04C7D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C3426-9441-640B-F4D2-6B2C3195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AB456-0630-9049-EBF9-2A83FA299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B169-AFFC-3728-BF5A-61F63635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8FA7-2C96-CA73-FD33-9970D32ED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045AF-76D2-EF2A-12D2-45F7031A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6E9BF-0054-87B3-039C-F30DD74C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89965-1CCF-8386-ECBA-F9773C70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FC1F0-6BFA-4621-49F1-C4F68B4D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2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E3A5-7A79-1833-E04F-17745E92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F6640-9DDD-011B-54B3-F9D7DBF43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21B56-C8F5-2CE6-5B34-619C7930A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48484-4784-9B53-BE64-1E404037E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12030-BB6C-07B7-DD7B-2194D403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DD744-E2BE-1F70-5538-42365146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42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2616-DE2E-E696-8C2F-6C84C71F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75EE0-406B-E29C-182F-1691C5C21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AB901-C1A2-AE3D-6CD4-BDAFBD54C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E6CED-4526-8A0F-1C4C-79341DE3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66FB5-24A8-7795-33C9-51DDE389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1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2D33D-7076-A5BF-12EC-E62EA407C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C188D-F032-8F6F-714E-1261C34F3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F737-0422-56C7-7398-35E710E7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B981E-887D-7265-4634-7BD8CCD8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3EDD0-655C-EC2B-F124-F014877F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3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4665E-A6AD-E094-2D42-B4F77F04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D5F2-D19C-AF81-318F-14EEF819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4ABF3-AFD0-8547-7C76-ACB2D7A9F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9C6BD-2205-4117-A19F-DF64BC9559A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81750-9F7F-D825-81A8-13D91223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08CF-7E29-5980-32FF-6F9CF2510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99772-72B3-49BB-9EB3-4BD4A645E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7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6F9C-680F-F27F-C60D-EF1849EDA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EB265-6380-BF20-225B-BDC5F78CBC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3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0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8C743F31-D091-8B22-D6D3-9C52E5652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2071687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B63E76EB-92C9-878B-8433-1406519642EF}"/>
              </a:ext>
            </a:extLst>
          </p:cNvPr>
          <p:cNvGrpSpPr/>
          <p:nvPr/>
        </p:nvGrpSpPr>
        <p:grpSpPr>
          <a:xfrm>
            <a:off x="451504" y="3756772"/>
            <a:ext cx="3963812" cy="1931405"/>
            <a:chOff x="451504" y="3756772"/>
            <a:chExt cx="3963812" cy="1931405"/>
          </a:xfrm>
        </p:grpSpPr>
        <p:grpSp>
          <p:nvGrpSpPr>
            <p:cNvPr id="1058" name="Group 1057">
              <a:extLst>
                <a:ext uri="{FF2B5EF4-FFF2-40B4-BE49-F238E27FC236}">
                  <a16:creationId xmlns:a16="http://schemas.microsoft.com/office/drawing/2014/main" id="{32007AFA-11B1-1483-87F6-15C64DBFA586}"/>
                </a:ext>
              </a:extLst>
            </p:cNvPr>
            <p:cNvGrpSpPr/>
            <p:nvPr/>
          </p:nvGrpSpPr>
          <p:grpSpPr>
            <a:xfrm>
              <a:off x="451504" y="3756772"/>
              <a:ext cx="3963812" cy="978773"/>
              <a:chOff x="451504" y="3756772"/>
              <a:chExt cx="3963812" cy="978773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D22752-056D-9607-A15B-44ACD5420B61}"/>
                  </a:ext>
                </a:extLst>
              </p:cNvPr>
              <p:cNvSpPr txBox="1"/>
              <p:nvPr/>
            </p:nvSpPr>
            <p:spPr>
              <a:xfrm>
                <a:off x="2005618" y="3933208"/>
                <a:ext cx="115065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Data flow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C4022480-ADF7-136C-6C5D-22FDC0543467}"/>
                  </a:ext>
                </a:extLst>
              </p:cNvPr>
              <p:cNvGrpSpPr/>
              <p:nvPr/>
            </p:nvGrpSpPr>
            <p:grpSpPr>
              <a:xfrm>
                <a:off x="451504" y="3944083"/>
                <a:ext cx="3963812" cy="791462"/>
                <a:chOff x="937057" y="1544882"/>
                <a:chExt cx="3963812" cy="791462"/>
              </a:xfrm>
            </p:grpSpPr>
            <p:pic>
              <p:nvPicPr>
                <p:cNvPr id="8" name="Picture 2" descr="Bruker (@bruker) / X">
                  <a:extLst>
                    <a:ext uri="{FF2B5EF4-FFF2-40B4-BE49-F238E27FC236}">
                      <a16:creationId xmlns:a16="http://schemas.microsoft.com/office/drawing/2014/main" id="{73F6139A-015F-D0FC-D5AC-F6B361939C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37057" y="1544882"/>
                  <a:ext cx="788790" cy="78879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" name="Picture 4" descr="MATLAB - Wikipedia">
                  <a:extLst>
                    <a:ext uri="{FF2B5EF4-FFF2-40B4-BE49-F238E27FC236}">
                      <a16:creationId xmlns:a16="http://schemas.microsoft.com/office/drawing/2014/main" id="{9E2303BE-5FE0-1E42-87B1-9C166C519A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25377" y="1553205"/>
                  <a:ext cx="875492" cy="78313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23A2829-C0F4-12CD-A1CB-97F63570860C}"/>
                  </a:ext>
                </a:extLst>
              </p:cNvPr>
              <p:cNvGrpSpPr/>
              <p:nvPr/>
            </p:nvGrpSpPr>
            <p:grpSpPr>
              <a:xfrm>
                <a:off x="1337225" y="4210207"/>
                <a:ext cx="2189866" cy="246221"/>
                <a:chOff x="1337225" y="4210207"/>
                <a:chExt cx="2189866" cy="246221"/>
              </a:xfrm>
            </p:grpSpPr>
            <p:sp>
              <p:nvSpPr>
                <p:cNvPr id="11" name="Arrow: Right 10">
                  <a:extLst>
                    <a:ext uri="{FF2B5EF4-FFF2-40B4-BE49-F238E27FC236}">
                      <a16:creationId xmlns:a16="http://schemas.microsoft.com/office/drawing/2014/main" id="{6A6BC347-C2AB-A70B-D041-8BDFA032AFB7}"/>
                    </a:ext>
                  </a:extLst>
                </p:cNvPr>
                <p:cNvSpPr/>
                <p:nvPr/>
              </p:nvSpPr>
              <p:spPr>
                <a:xfrm>
                  <a:off x="1337225" y="4210207"/>
                  <a:ext cx="337169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Arrow: Right 12">
                  <a:extLst>
                    <a:ext uri="{FF2B5EF4-FFF2-40B4-BE49-F238E27FC236}">
                      <a16:creationId xmlns:a16="http://schemas.microsoft.com/office/drawing/2014/main" id="{D4CBCD57-CF68-4108-A95A-FBC020A7F7F1}"/>
                    </a:ext>
                  </a:extLst>
                </p:cNvPr>
                <p:cNvSpPr/>
                <p:nvPr/>
              </p:nvSpPr>
              <p:spPr>
                <a:xfrm>
                  <a:off x="1676814" y="4210207"/>
                  <a:ext cx="421701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B0A78AD9-0787-F5C6-33F6-397B3580F3E4}"/>
                    </a:ext>
                  </a:extLst>
                </p:cNvPr>
                <p:cNvSpPr/>
                <p:nvPr/>
              </p:nvSpPr>
              <p:spPr>
                <a:xfrm>
                  <a:off x="2091175" y="4210207"/>
                  <a:ext cx="555511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4A1E3D5A-4C2E-D5F2-ECCE-CE4A6046D9B0}"/>
                    </a:ext>
                  </a:extLst>
                </p:cNvPr>
                <p:cNvSpPr/>
                <p:nvPr/>
              </p:nvSpPr>
              <p:spPr>
                <a:xfrm>
                  <a:off x="2640548" y="4210207"/>
                  <a:ext cx="337170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Arrow: Right 16">
                  <a:extLst>
                    <a:ext uri="{FF2B5EF4-FFF2-40B4-BE49-F238E27FC236}">
                      <a16:creationId xmlns:a16="http://schemas.microsoft.com/office/drawing/2014/main" id="{7838153A-EC53-CF3F-9076-9AB0C7139A2A}"/>
                    </a:ext>
                  </a:extLst>
                </p:cNvPr>
                <p:cNvSpPr/>
                <p:nvPr/>
              </p:nvSpPr>
              <p:spPr>
                <a:xfrm>
                  <a:off x="2970029" y="4210207"/>
                  <a:ext cx="557062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62F2CB-684D-33B9-B69F-9FDD6836619C}"/>
                  </a:ext>
                </a:extLst>
              </p:cNvPr>
              <p:cNvSpPr txBox="1"/>
              <p:nvPr/>
            </p:nvSpPr>
            <p:spPr>
              <a:xfrm>
                <a:off x="1533644" y="3756772"/>
                <a:ext cx="20434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solidFill>
                      <a:srgbClr val="0070C0"/>
                    </a:solidFill>
                  </a:rPr>
                  <a:t>Continuous imaging sequence </a:t>
                </a:r>
              </a:p>
            </p:txBody>
          </p:sp>
        </p:grpSp>
        <p:sp>
          <p:nvSpPr>
            <p:cNvPr id="1074" name="Arrow: Right 1073">
              <a:extLst>
                <a:ext uri="{FF2B5EF4-FFF2-40B4-BE49-F238E27FC236}">
                  <a16:creationId xmlns:a16="http://schemas.microsoft.com/office/drawing/2014/main" id="{C5EF857A-9FDA-2CCA-6DD7-417C91612CD5}"/>
                </a:ext>
              </a:extLst>
            </p:cNvPr>
            <p:cNvSpPr/>
            <p:nvPr/>
          </p:nvSpPr>
          <p:spPr>
            <a:xfrm rot="8815590">
              <a:off x="3527502" y="4528479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Arrow: Right 1074">
              <a:extLst>
                <a:ext uri="{FF2B5EF4-FFF2-40B4-BE49-F238E27FC236}">
                  <a16:creationId xmlns:a16="http://schemas.microsoft.com/office/drawing/2014/main" id="{BDA5ED01-E686-3BCD-E74E-8A220A67B612}"/>
                </a:ext>
              </a:extLst>
            </p:cNvPr>
            <p:cNvSpPr/>
            <p:nvPr/>
          </p:nvSpPr>
          <p:spPr>
            <a:xfrm rot="8815590">
              <a:off x="3246168" y="4699081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Arrow: Right 1075">
              <a:extLst>
                <a:ext uri="{FF2B5EF4-FFF2-40B4-BE49-F238E27FC236}">
                  <a16:creationId xmlns:a16="http://schemas.microsoft.com/office/drawing/2014/main" id="{6C9E4E08-9541-1A3E-7EB1-92C3E1B6FD25}"/>
                </a:ext>
              </a:extLst>
            </p:cNvPr>
            <p:cNvSpPr/>
            <p:nvPr/>
          </p:nvSpPr>
          <p:spPr>
            <a:xfrm rot="8815590">
              <a:off x="2963331" y="4870003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Arrow: Right 1076">
              <a:extLst>
                <a:ext uri="{FF2B5EF4-FFF2-40B4-BE49-F238E27FC236}">
                  <a16:creationId xmlns:a16="http://schemas.microsoft.com/office/drawing/2014/main" id="{B2F8634A-8324-B90E-D4A2-401F9277966E}"/>
                </a:ext>
              </a:extLst>
            </p:cNvPr>
            <p:cNvSpPr/>
            <p:nvPr/>
          </p:nvSpPr>
          <p:spPr>
            <a:xfrm rot="8815590">
              <a:off x="2680414" y="5036715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24E0136F-F82F-6197-47C6-2CE6B6E3C599}"/>
                </a:ext>
              </a:extLst>
            </p:cNvPr>
            <p:cNvSpPr txBox="1"/>
            <p:nvPr/>
          </p:nvSpPr>
          <p:spPr>
            <a:xfrm rot="19617034">
              <a:off x="3563208" y="4632845"/>
              <a:ext cx="58952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dirty="0"/>
                <a:t>Frame 1</a:t>
              </a: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D7823BCA-72A9-5955-234D-D1ECCDC300C7}"/>
                </a:ext>
              </a:extLst>
            </p:cNvPr>
            <p:cNvSpPr txBox="1"/>
            <p:nvPr/>
          </p:nvSpPr>
          <p:spPr>
            <a:xfrm rot="19617034">
              <a:off x="2972960" y="4997770"/>
              <a:ext cx="58952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dirty="0"/>
                <a:t>Frame 3</a:t>
              </a: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2502F325-26BB-8AF0-E46E-DB420780A8BF}"/>
                </a:ext>
              </a:extLst>
            </p:cNvPr>
            <p:cNvSpPr txBox="1"/>
            <p:nvPr/>
          </p:nvSpPr>
          <p:spPr>
            <a:xfrm rot="19617034">
              <a:off x="3270502" y="4817019"/>
              <a:ext cx="58952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dirty="0"/>
                <a:t>Frame 2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9B3E819-62CB-F505-C414-059582023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4294" y="5159825"/>
              <a:ext cx="731520" cy="528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8EB0CCAF-5CAA-E4DB-0E35-55474F4876DD}"/>
              </a:ext>
            </a:extLst>
          </p:cNvPr>
          <p:cNvSpPr/>
          <p:nvPr/>
        </p:nvSpPr>
        <p:spPr>
          <a:xfrm>
            <a:off x="210124" y="3790758"/>
            <a:ext cx="4458775" cy="2004828"/>
          </a:xfrm>
          <a:prstGeom prst="wedgeRoundRectCallout">
            <a:avLst>
              <a:gd name="adj1" fmla="val -22305"/>
              <a:gd name="adj2" fmla="val -89559"/>
              <a:gd name="adj3" fmla="val 16667"/>
            </a:avLst>
          </a:prstGeom>
          <a:solidFill>
            <a:srgbClr val="92D050">
              <a:alpha val="10000"/>
            </a:srgb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CFE45BCF-9433-1993-D98A-65944B144354}"/>
              </a:ext>
            </a:extLst>
          </p:cNvPr>
          <p:cNvGrpSpPr/>
          <p:nvPr/>
        </p:nvGrpSpPr>
        <p:grpSpPr>
          <a:xfrm>
            <a:off x="8539191" y="2387477"/>
            <a:ext cx="734030" cy="535781"/>
            <a:chOff x="1131027" y="1573386"/>
            <a:chExt cx="734030" cy="535781"/>
          </a:xfrm>
        </p:grpSpPr>
        <p:pic>
          <p:nvPicPr>
            <p:cNvPr id="1050" name="Picture 2" descr="Bruker (@bruker) / X">
              <a:extLst>
                <a:ext uri="{FF2B5EF4-FFF2-40B4-BE49-F238E27FC236}">
                  <a16:creationId xmlns:a16="http://schemas.microsoft.com/office/drawing/2014/main" id="{51B15896-B073-3E3A-5F85-F387747D8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4" descr="MATLAB - Wikipedia">
              <a:extLst>
                <a:ext uri="{FF2B5EF4-FFF2-40B4-BE49-F238E27FC236}">
                  <a16:creationId xmlns:a16="http://schemas.microsoft.com/office/drawing/2014/main" id="{F4DE1D2B-6ECB-D8B3-FC91-4F2BCE17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D76CD5B-0769-A41F-13C2-D0F301D24035}"/>
              </a:ext>
            </a:extLst>
          </p:cNvPr>
          <p:cNvGrpSpPr/>
          <p:nvPr/>
        </p:nvGrpSpPr>
        <p:grpSpPr>
          <a:xfrm>
            <a:off x="3950894" y="2404250"/>
            <a:ext cx="734030" cy="535781"/>
            <a:chOff x="1131027" y="1573386"/>
            <a:chExt cx="734030" cy="535781"/>
          </a:xfrm>
        </p:grpSpPr>
        <p:pic>
          <p:nvPicPr>
            <p:cNvPr id="1047" name="Picture 2" descr="Bruker (@bruker) / X">
              <a:extLst>
                <a:ext uri="{FF2B5EF4-FFF2-40B4-BE49-F238E27FC236}">
                  <a16:creationId xmlns:a16="http://schemas.microsoft.com/office/drawing/2014/main" id="{596AAF78-4312-540E-4DD0-B7DCA0F2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4" descr="MATLAB - Wikipedia">
              <a:extLst>
                <a:ext uri="{FF2B5EF4-FFF2-40B4-BE49-F238E27FC236}">
                  <a16:creationId xmlns:a16="http://schemas.microsoft.com/office/drawing/2014/main" id="{700858B2-CDE8-DFCA-85C7-8F428868D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2F5578B-5738-45E5-FC4E-5219A7E9CAAB}"/>
              </a:ext>
            </a:extLst>
          </p:cNvPr>
          <p:cNvGrpSpPr/>
          <p:nvPr/>
        </p:nvGrpSpPr>
        <p:grpSpPr>
          <a:xfrm>
            <a:off x="1131103" y="2401791"/>
            <a:ext cx="734030" cy="535781"/>
            <a:chOff x="1131027" y="1573386"/>
            <a:chExt cx="734030" cy="535781"/>
          </a:xfrm>
        </p:grpSpPr>
        <p:pic>
          <p:nvPicPr>
            <p:cNvPr id="1026" name="Picture 2" descr="Bruker (@bruker) / X">
              <a:extLst>
                <a:ext uri="{FF2B5EF4-FFF2-40B4-BE49-F238E27FC236}">
                  <a16:creationId xmlns:a16="http://schemas.microsoft.com/office/drawing/2014/main" id="{92F3E2CC-6362-E7F8-5603-4B2DE485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TLAB - Wikipedia">
              <a:extLst>
                <a:ext uri="{FF2B5EF4-FFF2-40B4-BE49-F238E27FC236}">
                  <a16:creationId xmlns:a16="http://schemas.microsoft.com/office/drawing/2014/main" id="{1939E4DF-87B1-12BD-1E78-FD636F030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719AD04-516F-7AD9-456C-BE115D316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6372615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tologic | Suite2P">
            <a:extLst>
              <a:ext uri="{FF2B5EF4-FFF2-40B4-BE49-F238E27FC236}">
                <a16:creationId xmlns:a16="http://schemas.microsoft.com/office/drawing/2014/main" id="{BBE1D8F0-7DD9-9643-91D3-99E7B2C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4" y="1763702"/>
            <a:ext cx="25717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42" y="411109"/>
            <a:ext cx="1123977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Holographic Imaging and Photo-Stimulation</a:t>
            </a:r>
            <a:b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2696E2-CAB8-D194-831C-F31D6249E461}"/>
              </a:ext>
            </a:extLst>
          </p:cNvPr>
          <p:cNvSpPr/>
          <p:nvPr/>
        </p:nvSpPr>
        <p:spPr>
          <a:xfrm>
            <a:off x="182550" y="1721335"/>
            <a:ext cx="874929" cy="749940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~20 min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56EED0-A2D4-63F2-0268-794AA83AF2A2}"/>
              </a:ext>
            </a:extLst>
          </p:cNvPr>
          <p:cNvSpPr/>
          <p:nvPr/>
        </p:nvSpPr>
        <p:spPr>
          <a:xfrm rot="19858606">
            <a:off x="992941" y="1535141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01152D-8077-8411-024C-C56A705D57BB}"/>
              </a:ext>
            </a:extLst>
          </p:cNvPr>
          <p:cNvSpPr/>
          <p:nvPr/>
        </p:nvSpPr>
        <p:spPr>
          <a:xfrm>
            <a:off x="1057478" y="1997024"/>
            <a:ext cx="828836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1593C-6161-4408-D447-8BE412351D25}"/>
              </a:ext>
            </a:extLst>
          </p:cNvPr>
          <p:cNvSpPr txBox="1"/>
          <p:nvPr/>
        </p:nvSpPr>
        <p:spPr>
          <a:xfrm>
            <a:off x="687441" y="2243568"/>
            <a:ext cx="1261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Bruker_PrairieLink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F87842-9E23-88FE-25EF-3842ACF44AFE}"/>
              </a:ext>
            </a:extLst>
          </p:cNvPr>
          <p:cNvSpPr/>
          <p:nvPr/>
        </p:nvSpPr>
        <p:spPr>
          <a:xfrm>
            <a:off x="1318195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C827F-C022-1A4D-A562-B3AE19CA0E04}"/>
              </a:ext>
            </a:extLst>
          </p:cNvPr>
          <p:cNvSpPr/>
          <p:nvPr/>
        </p:nvSpPr>
        <p:spPr>
          <a:xfrm>
            <a:off x="1887779" y="1734197"/>
            <a:ext cx="752768" cy="749940"/>
          </a:xfrm>
          <a:prstGeom prst="round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4161A8-777E-666C-5545-21C056B54470}"/>
              </a:ext>
            </a:extLst>
          </p:cNvPr>
          <p:cNvSpPr/>
          <p:nvPr/>
        </p:nvSpPr>
        <p:spPr>
          <a:xfrm>
            <a:off x="2642012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7B3B6A-5E67-391C-0C50-5663D65EC1A5}"/>
              </a:ext>
            </a:extLst>
          </p:cNvPr>
          <p:cNvSpPr/>
          <p:nvPr/>
        </p:nvSpPr>
        <p:spPr>
          <a:xfrm>
            <a:off x="3267724" y="1734197"/>
            <a:ext cx="1310309" cy="749940"/>
          </a:xfrm>
          <a:prstGeom prst="roundRect">
            <a:avLst/>
          </a:prstGeom>
          <a:noFill/>
          <a:ln w="38100"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Single cell stimulation ~20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2298C-62B9-48CE-84BB-1C262FC791ED}"/>
              </a:ext>
            </a:extLst>
          </p:cNvPr>
          <p:cNvSpPr txBox="1"/>
          <p:nvPr/>
        </p:nvSpPr>
        <p:spPr>
          <a:xfrm>
            <a:off x="3152685" y="2248968"/>
            <a:ext cx="162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E9AD522-B209-1483-D3C4-5D72CB59E2AD}"/>
              </a:ext>
            </a:extLst>
          </p:cNvPr>
          <p:cNvSpPr/>
          <p:nvPr/>
        </p:nvSpPr>
        <p:spPr>
          <a:xfrm rot="19858606">
            <a:off x="4443286" y="1529234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4A3AFE-39FE-6B8F-783F-6BBD065F3719}"/>
              </a:ext>
            </a:extLst>
          </p:cNvPr>
          <p:cNvSpPr/>
          <p:nvPr/>
        </p:nvSpPr>
        <p:spPr>
          <a:xfrm>
            <a:off x="4577840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B4F368-37DF-E328-D7CA-077123E5C91A}"/>
              </a:ext>
            </a:extLst>
          </p:cNvPr>
          <p:cNvSpPr/>
          <p:nvPr/>
        </p:nvSpPr>
        <p:spPr>
          <a:xfrm>
            <a:off x="4716097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analysis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F0B6337-920F-94B5-0CEB-DADBBDC6C373}"/>
              </a:ext>
            </a:extLst>
          </p:cNvPr>
          <p:cNvSpPr/>
          <p:nvPr/>
        </p:nvSpPr>
        <p:spPr>
          <a:xfrm>
            <a:off x="6760107" y="1976881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61106001-F165-0A8F-EF02-0B019F600C41}"/>
              </a:ext>
            </a:extLst>
          </p:cNvPr>
          <p:cNvSpPr/>
          <p:nvPr/>
        </p:nvSpPr>
        <p:spPr>
          <a:xfrm>
            <a:off x="6982590" y="1527485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DB65FA0B-EE9B-9E23-81CA-E2033CA81CE3}"/>
              </a:ext>
            </a:extLst>
          </p:cNvPr>
          <p:cNvSpPr/>
          <p:nvPr/>
        </p:nvSpPr>
        <p:spPr>
          <a:xfrm>
            <a:off x="6626820" y="1563257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2C873E9-0162-40F2-37F0-0664709CD75D}"/>
              </a:ext>
            </a:extLst>
          </p:cNvPr>
          <p:cNvSpPr/>
          <p:nvPr/>
        </p:nvSpPr>
        <p:spPr>
          <a:xfrm>
            <a:off x="6906264" y="1730808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3319D7F-301C-0C2A-3519-B616C7CAE047}"/>
              </a:ext>
            </a:extLst>
          </p:cNvPr>
          <p:cNvSpPr/>
          <p:nvPr/>
        </p:nvSpPr>
        <p:spPr>
          <a:xfrm>
            <a:off x="7250629" y="1636763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E7C2FF49-4B15-AB48-05A4-0660A75506C0}"/>
              </a:ext>
            </a:extLst>
          </p:cNvPr>
          <p:cNvSpPr/>
          <p:nvPr/>
        </p:nvSpPr>
        <p:spPr>
          <a:xfrm>
            <a:off x="7158813" y="1301314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E0A09836-41BF-F848-04A1-008F49946919}"/>
              </a:ext>
            </a:extLst>
          </p:cNvPr>
          <p:cNvSpPr/>
          <p:nvPr/>
        </p:nvSpPr>
        <p:spPr>
          <a:xfrm>
            <a:off x="6837865" y="1346054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5A9A727-6265-BFB6-7D52-D8F70023E678}"/>
              </a:ext>
            </a:extLst>
          </p:cNvPr>
          <p:cNvSpPr txBox="1"/>
          <p:nvPr/>
        </p:nvSpPr>
        <p:spPr>
          <a:xfrm>
            <a:off x="6477638" y="776719"/>
            <a:ext cx="12993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 ensure each cell has comparable response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71FD20EA-45F8-707B-0E91-138BD03F12AA}"/>
              </a:ext>
            </a:extLst>
          </p:cNvPr>
          <p:cNvSpPr/>
          <p:nvPr/>
        </p:nvSpPr>
        <p:spPr>
          <a:xfrm>
            <a:off x="7666542" y="1721335"/>
            <a:ext cx="1651087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Holographic photo-stimulation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1735DC6-B6B6-7871-25F5-24E5A1B0786F}"/>
              </a:ext>
            </a:extLst>
          </p:cNvPr>
          <p:cNvSpPr txBox="1"/>
          <p:nvPr/>
        </p:nvSpPr>
        <p:spPr>
          <a:xfrm>
            <a:off x="7776992" y="2240693"/>
            <a:ext cx="1755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95660E4B-B474-2FF6-0BA8-EEA85905056D}"/>
              </a:ext>
            </a:extLst>
          </p:cNvPr>
          <p:cNvSpPr/>
          <p:nvPr/>
        </p:nvSpPr>
        <p:spPr>
          <a:xfrm>
            <a:off x="9317629" y="1970712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601E92B5-8F3B-E7BC-36E4-218E4E8560FC}"/>
              </a:ext>
            </a:extLst>
          </p:cNvPr>
          <p:cNvSpPr/>
          <p:nvPr/>
        </p:nvSpPr>
        <p:spPr>
          <a:xfrm>
            <a:off x="5211405" y="1734573"/>
            <a:ext cx="1548701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Identify the SLM parameters for each single cell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6A55969-6B03-CDA0-C835-9C2595A91B75}"/>
              </a:ext>
            </a:extLst>
          </p:cNvPr>
          <p:cNvSpPr/>
          <p:nvPr/>
        </p:nvSpPr>
        <p:spPr>
          <a:xfrm>
            <a:off x="10224064" y="179115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1B5A74D2-0E52-7998-52A1-F2ED86922123}"/>
              </a:ext>
            </a:extLst>
          </p:cNvPr>
          <p:cNvGrpSpPr/>
          <p:nvPr/>
        </p:nvGrpSpPr>
        <p:grpSpPr>
          <a:xfrm>
            <a:off x="5512999" y="3735154"/>
            <a:ext cx="3963812" cy="978773"/>
            <a:chOff x="451504" y="3756772"/>
            <a:chExt cx="3963812" cy="978773"/>
          </a:xfrm>
        </p:grpSpPr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3C40E0A6-BD84-C654-832A-1928F1E9F08A}"/>
                </a:ext>
              </a:extLst>
            </p:cNvPr>
            <p:cNvSpPr txBox="1"/>
            <p:nvPr/>
          </p:nvSpPr>
          <p:spPr>
            <a:xfrm>
              <a:off x="2005618" y="3933208"/>
              <a:ext cx="11506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Data flow</a:t>
              </a:r>
            </a:p>
          </p:txBody>
        </p:sp>
        <p:grpSp>
          <p:nvGrpSpPr>
            <p:cNvPr id="1084" name="Group 1083">
              <a:extLst>
                <a:ext uri="{FF2B5EF4-FFF2-40B4-BE49-F238E27FC236}">
                  <a16:creationId xmlns:a16="http://schemas.microsoft.com/office/drawing/2014/main" id="{19575BBD-245F-E1EE-DF5C-54DFF3DE534E}"/>
                </a:ext>
              </a:extLst>
            </p:cNvPr>
            <p:cNvGrpSpPr/>
            <p:nvPr/>
          </p:nvGrpSpPr>
          <p:grpSpPr>
            <a:xfrm>
              <a:off x="451504" y="3944083"/>
              <a:ext cx="3963812" cy="791462"/>
              <a:chOff x="937057" y="1544882"/>
              <a:chExt cx="3963812" cy="791462"/>
            </a:xfrm>
          </p:grpSpPr>
          <p:pic>
            <p:nvPicPr>
              <p:cNvPr id="2053" name="Picture 2" descr="Bruker (@bruker) / X">
                <a:extLst>
                  <a:ext uri="{FF2B5EF4-FFF2-40B4-BE49-F238E27FC236}">
                    <a16:creationId xmlns:a16="http://schemas.microsoft.com/office/drawing/2014/main" id="{C176CB26-2627-098E-BA56-FB767AAB1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7057" y="1544882"/>
                <a:ext cx="788790" cy="7887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4" name="Picture 4" descr="MATLAB - Wikipedia">
                <a:extLst>
                  <a:ext uri="{FF2B5EF4-FFF2-40B4-BE49-F238E27FC236}">
                    <a16:creationId xmlns:a16="http://schemas.microsoft.com/office/drawing/2014/main" id="{ED9FBDE9-34D4-C54E-87D0-09DBBBDC4D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25377" y="1553205"/>
                <a:ext cx="875492" cy="7831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E707523D-0BCB-BE3B-F83E-AEDAA54AD461}"/>
                </a:ext>
              </a:extLst>
            </p:cNvPr>
            <p:cNvGrpSpPr/>
            <p:nvPr/>
          </p:nvGrpSpPr>
          <p:grpSpPr>
            <a:xfrm>
              <a:off x="1337225" y="4210207"/>
              <a:ext cx="2189866" cy="246221"/>
              <a:chOff x="1337225" y="4210207"/>
              <a:chExt cx="2189866" cy="246221"/>
            </a:xfrm>
          </p:grpSpPr>
          <p:sp>
            <p:nvSpPr>
              <p:cNvPr id="1087" name="Arrow: Right 1086">
                <a:extLst>
                  <a:ext uri="{FF2B5EF4-FFF2-40B4-BE49-F238E27FC236}">
                    <a16:creationId xmlns:a16="http://schemas.microsoft.com/office/drawing/2014/main" id="{B53B0982-843D-DA2D-63CD-2C64CC35460D}"/>
                  </a:ext>
                </a:extLst>
              </p:cNvPr>
              <p:cNvSpPr/>
              <p:nvPr/>
            </p:nvSpPr>
            <p:spPr>
              <a:xfrm>
                <a:off x="1337225" y="4210207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8" name="Arrow: Right 2047">
                <a:extLst>
                  <a:ext uri="{FF2B5EF4-FFF2-40B4-BE49-F238E27FC236}">
                    <a16:creationId xmlns:a16="http://schemas.microsoft.com/office/drawing/2014/main" id="{ECCB0C1D-C6F8-8787-3509-64974BA87849}"/>
                  </a:ext>
                </a:extLst>
              </p:cNvPr>
              <p:cNvSpPr/>
              <p:nvPr/>
            </p:nvSpPr>
            <p:spPr>
              <a:xfrm>
                <a:off x="1676814" y="4210207"/>
                <a:ext cx="421701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1" name="Arrow: Right 2050">
                <a:extLst>
                  <a:ext uri="{FF2B5EF4-FFF2-40B4-BE49-F238E27FC236}">
                    <a16:creationId xmlns:a16="http://schemas.microsoft.com/office/drawing/2014/main" id="{4CDD0CF2-BE97-5D57-0F1A-F18A69AC2511}"/>
                  </a:ext>
                </a:extLst>
              </p:cNvPr>
              <p:cNvSpPr/>
              <p:nvPr/>
            </p:nvSpPr>
            <p:spPr>
              <a:xfrm>
                <a:off x="2640548" y="4210207"/>
                <a:ext cx="337170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2" name="Arrow: Right 2051">
                <a:extLst>
                  <a:ext uri="{FF2B5EF4-FFF2-40B4-BE49-F238E27FC236}">
                    <a16:creationId xmlns:a16="http://schemas.microsoft.com/office/drawing/2014/main" id="{8A85EA8D-21CE-7131-B025-BBCE2096C854}"/>
                  </a:ext>
                </a:extLst>
              </p:cNvPr>
              <p:cNvSpPr/>
              <p:nvPr/>
            </p:nvSpPr>
            <p:spPr>
              <a:xfrm>
                <a:off x="2970029" y="4210207"/>
                <a:ext cx="557062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8D321376-DE43-8F48-1AAB-CCF3C8A2D542}"/>
                </a:ext>
              </a:extLst>
            </p:cNvPr>
            <p:cNvSpPr txBox="1"/>
            <p:nvPr/>
          </p:nvSpPr>
          <p:spPr>
            <a:xfrm>
              <a:off x="1533644" y="3756772"/>
              <a:ext cx="20434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</a:rPr>
                <a:t>Pause for SLM in imaging sequence </a:t>
              </a:r>
            </a:p>
          </p:txBody>
        </p:sp>
      </p:grpSp>
      <p:sp>
        <p:nvSpPr>
          <p:cNvPr id="2055" name="Arrow: Right 2054">
            <a:extLst>
              <a:ext uri="{FF2B5EF4-FFF2-40B4-BE49-F238E27FC236}">
                <a16:creationId xmlns:a16="http://schemas.microsoft.com/office/drawing/2014/main" id="{3CDEA4E0-43E5-02BD-984D-B49EDF82E3E6}"/>
              </a:ext>
            </a:extLst>
          </p:cNvPr>
          <p:cNvSpPr/>
          <p:nvPr/>
        </p:nvSpPr>
        <p:spPr>
          <a:xfrm rot="8815590">
            <a:off x="8588997" y="4506861"/>
            <a:ext cx="337169" cy="246221"/>
          </a:xfrm>
          <a:prstGeom prst="rightArrow">
            <a:avLst/>
          </a:prstGeom>
          <a:gradFill>
            <a:gsLst>
              <a:gs pos="0">
                <a:srgbClr val="802010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6" name="Arrow: Right 2055">
            <a:extLst>
              <a:ext uri="{FF2B5EF4-FFF2-40B4-BE49-F238E27FC236}">
                <a16:creationId xmlns:a16="http://schemas.microsoft.com/office/drawing/2014/main" id="{ABE8C633-D938-DCE2-B4BF-05636D2CC6E8}"/>
              </a:ext>
            </a:extLst>
          </p:cNvPr>
          <p:cNvSpPr/>
          <p:nvPr/>
        </p:nvSpPr>
        <p:spPr>
          <a:xfrm rot="8815590">
            <a:off x="8307663" y="4677463"/>
            <a:ext cx="337169" cy="246221"/>
          </a:xfrm>
          <a:prstGeom prst="rightArrow">
            <a:avLst/>
          </a:prstGeom>
          <a:gradFill>
            <a:gsLst>
              <a:gs pos="0">
                <a:srgbClr val="802010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Arrow: Right 2056">
            <a:extLst>
              <a:ext uri="{FF2B5EF4-FFF2-40B4-BE49-F238E27FC236}">
                <a16:creationId xmlns:a16="http://schemas.microsoft.com/office/drawing/2014/main" id="{604659A1-1EC7-B553-386E-992B82609347}"/>
              </a:ext>
            </a:extLst>
          </p:cNvPr>
          <p:cNvSpPr/>
          <p:nvPr/>
        </p:nvSpPr>
        <p:spPr>
          <a:xfrm rot="8815590">
            <a:off x="8024826" y="4848385"/>
            <a:ext cx="337169" cy="246221"/>
          </a:xfrm>
          <a:prstGeom prst="rightArrow">
            <a:avLst/>
          </a:prstGeom>
          <a:gradFill>
            <a:gsLst>
              <a:gs pos="0">
                <a:srgbClr val="802010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Arrow: Right 2057">
            <a:extLst>
              <a:ext uri="{FF2B5EF4-FFF2-40B4-BE49-F238E27FC236}">
                <a16:creationId xmlns:a16="http://schemas.microsoft.com/office/drawing/2014/main" id="{728E902F-8C6C-A069-FA0E-42D231854D78}"/>
              </a:ext>
            </a:extLst>
          </p:cNvPr>
          <p:cNvSpPr/>
          <p:nvPr/>
        </p:nvSpPr>
        <p:spPr>
          <a:xfrm rot="8815590">
            <a:off x="7741909" y="5015097"/>
            <a:ext cx="337169" cy="246221"/>
          </a:xfrm>
          <a:prstGeom prst="rightArrow">
            <a:avLst/>
          </a:prstGeom>
          <a:gradFill>
            <a:gsLst>
              <a:gs pos="0">
                <a:srgbClr val="802010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DE04A303-0CED-65BA-C1AE-59D5AC37C645}"/>
              </a:ext>
            </a:extLst>
          </p:cNvPr>
          <p:cNvSpPr txBox="1"/>
          <p:nvPr/>
        </p:nvSpPr>
        <p:spPr>
          <a:xfrm rot="19617034">
            <a:off x="8624703" y="4611227"/>
            <a:ext cx="5895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Frame 1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4D9E6D06-75C3-70B7-264D-023B73808D3F}"/>
              </a:ext>
            </a:extLst>
          </p:cNvPr>
          <p:cNvSpPr txBox="1"/>
          <p:nvPr/>
        </p:nvSpPr>
        <p:spPr>
          <a:xfrm rot="19617034">
            <a:off x="8034455" y="4976152"/>
            <a:ext cx="5895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Frame 3</a:t>
            </a:r>
          </a:p>
        </p:txBody>
      </p:sp>
      <p:sp>
        <p:nvSpPr>
          <p:cNvPr id="2061" name="TextBox 2060">
            <a:extLst>
              <a:ext uri="{FF2B5EF4-FFF2-40B4-BE49-F238E27FC236}">
                <a16:creationId xmlns:a16="http://schemas.microsoft.com/office/drawing/2014/main" id="{425AAC5F-5296-7F12-B09D-595E37AB4A06}"/>
              </a:ext>
            </a:extLst>
          </p:cNvPr>
          <p:cNvSpPr txBox="1"/>
          <p:nvPr/>
        </p:nvSpPr>
        <p:spPr>
          <a:xfrm rot="19617034">
            <a:off x="8331997" y="4795401"/>
            <a:ext cx="5895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Frame 2</a:t>
            </a:r>
          </a:p>
        </p:txBody>
      </p:sp>
      <p:pic>
        <p:nvPicPr>
          <p:cNvPr id="2062" name="Picture 2">
            <a:extLst>
              <a:ext uri="{FF2B5EF4-FFF2-40B4-BE49-F238E27FC236}">
                <a16:creationId xmlns:a16="http://schemas.microsoft.com/office/drawing/2014/main" id="{C21B8FC7-A83A-3F33-ECAC-1CFD22EC6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789" y="5138207"/>
            <a:ext cx="731520" cy="52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5" name="TextBox 2064">
            <a:extLst>
              <a:ext uri="{FF2B5EF4-FFF2-40B4-BE49-F238E27FC236}">
                <a16:creationId xmlns:a16="http://schemas.microsoft.com/office/drawing/2014/main" id="{493FA1B0-17B6-D21E-8898-530FC62F3696}"/>
              </a:ext>
            </a:extLst>
          </p:cNvPr>
          <p:cNvSpPr txBox="1"/>
          <p:nvPr/>
        </p:nvSpPr>
        <p:spPr>
          <a:xfrm>
            <a:off x="6502268" y="5839508"/>
            <a:ext cx="2280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Pixels shift after SLM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63" name="Speech Bubble: Rectangle with Corners Rounded 2062">
            <a:extLst>
              <a:ext uri="{FF2B5EF4-FFF2-40B4-BE49-F238E27FC236}">
                <a16:creationId xmlns:a16="http://schemas.microsoft.com/office/drawing/2014/main" id="{FA74EA73-69B3-DBAC-7FED-C92403897104}"/>
              </a:ext>
            </a:extLst>
          </p:cNvPr>
          <p:cNvSpPr/>
          <p:nvPr/>
        </p:nvSpPr>
        <p:spPr>
          <a:xfrm>
            <a:off x="5264248" y="3790758"/>
            <a:ext cx="4458775" cy="2004828"/>
          </a:xfrm>
          <a:prstGeom prst="wedgeRoundRectCallout">
            <a:avLst>
              <a:gd name="adj1" fmla="val -65092"/>
              <a:gd name="adj2" fmla="val -93497"/>
              <a:gd name="adj3" fmla="val 16667"/>
            </a:avLst>
          </a:prstGeom>
          <a:solidFill>
            <a:srgbClr val="92D050">
              <a:alpha val="10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3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41B6D2C5-67A5-E4A0-B271-8FC3EB519D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2071687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1B5A74D2-0E52-7998-52A1-F2ED86922123}"/>
              </a:ext>
            </a:extLst>
          </p:cNvPr>
          <p:cNvGrpSpPr/>
          <p:nvPr/>
        </p:nvGrpSpPr>
        <p:grpSpPr>
          <a:xfrm>
            <a:off x="5512999" y="3735154"/>
            <a:ext cx="3963812" cy="978773"/>
            <a:chOff x="451504" y="3756772"/>
            <a:chExt cx="3963812" cy="978773"/>
          </a:xfrm>
        </p:grpSpPr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3C40E0A6-BD84-C654-832A-1928F1E9F08A}"/>
                </a:ext>
              </a:extLst>
            </p:cNvPr>
            <p:cNvSpPr txBox="1"/>
            <p:nvPr/>
          </p:nvSpPr>
          <p:spPr>
            <a:xfrm>
              <a:off x="2005618" y="3933208"/>
              <a:ext cx="11506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Data flow</a:t>
              </a:r>
            </a:p>
          </p:txBody>
        </p:sp>
        <p:grpSp>
          <p:nvGrpSpPr>
            <p:cNvPr id="1084" name="Group 1083">
              <a:extLst>
                <a:ext uri="{FF2B5EF4-FFF2-40B4-BE49-F238E27FC236}">
                  <a16:creationId xmlns:a16="http://schemas.microsoft.com/office/drawing/2014/main" id="{19575BBD-245F-E1EE-DF5C-54DFF3DE534E}"/>
                </a:ext>
              </a:extLst>
            </p:cNvPr>
            <p:cNvGrpSpPr/>
            <p:nvPr/>
          </p:nvGrpSpPr>
          <p:grpSpPr>
            <a:xfrm>
              <a:off x="451504" y="3944083"/>
              <a:ext cx="3963812" cy="791462"/>
              <a:chOff x="937057" y="1544882"/>
              <a:chExt cx="3963812" cy="791462"/>
            </a:xfrm>
          </p:grpSpPr>
          <p:pic>
            <p:nvPicPr>
              <p:cNvPr id="2053" name="Picture 2" descr="Bruker (@bruker) / X">
                <a:extLst>
                  <a:ext uri="{FF2B5EF4-FFF2-40B4-BE49-F238E27FC236}">
                    <a16:creationId xmlns:a16="http://schemas.microsoft.com/office/drawing/2014/main" id="{C176CB26-2627-098E-BA56-FB767AAB1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7057" y="1544882"/>
                <a:ext cx="788790" cy="7887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4" name="Picture 4" descr="MATLAB - Wikipedia">
                <a:extLst>
                  <a:ext uri="{FF2B5EF4-FFF2-40B4-BE49-F238E27FC236}">
                    <a16:creationId xmlns:a16="http://schemas.microsoft.com/office/drawing/2014/main" id="{ED9FBDE9-34D4-C54E-87D0-09DBBBDC4D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25377" y="1553205"/>
                <a:ext cx="875492" cy="7831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E707523D-0BCB-BE3B-F83E-AEDAA54AD461}"/>
                </a:ext>
              </a:extLst>
            </p:cNvPr>
            <p:cNvGrpSpPr/>
            <p:nvPr/>
          </p:nvGrpSpPr>
          <p:grpSpPr>
            <a:xfrm>
              <a:off x="1337225" y="4210207"/>
              <a:ext cx="2189866" cy="246221"/>
              <a:chOff x="1337225" y="4210207"/>
              <a:chExt cx="2189866" cy="246221"/>
            </a:xfrm>
          </p:grpSpPr>
          <p:sp>
            <p:nvSpPr>
              <p:cNvPr id="1087" name="Arrow: Right 1086">
                <a:extLst>
                  <a:ext uri="{FF2B5EF4-FFF2-40B4-BE49-F238E27FC236}">
                    <a16:creationId xmlns:a16="http://schemas.microsoft.com/office/drawing/2014/main" id="{B53B0982-843D-DA2D-63CD-2C64CC35460D}"/>
                  </a:ext>
                </a:extLst>
              </p:cNvPr>
              <p:cNvSpPr/>
              <p:nvPr/>
            </p:nvSpPr>
            <p:spPr>
              <a:xfrm>
                <a:off x="1337225" y="4210207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8" name="Arrow: Right 2047">
                <a:extLst>
                  <a:ext uri="{FF2B5EF4-FFF2-40B4-BE49-F238E27FC236}">
                    <a16:creationId xmlns:a16="http://schemas.microsoft.com/office/drawing/2014/main" id="{ECCB0C1D-C6F8-8787-3509-64974BA87849}"/>
                  </a:ext>
                </a:extLst>
              </p:cNvPr>
              <p:cNvSpPr/>
              <p:nvPr/>
            </p:nvSpPr>
            <p:spPr>
              <a:xfrm>
                <a:off x="1676814" y="4210207"/>
                <a:ext cx="421701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1" name="Arrow: Right 2050">
                <a:extLst>
                  <a:ext uri="{FF2B5EF4-FFF2-40B4-BE49-F238E27FC236}">
                    <a16:creationId xmlns:a16="http://schemas.microsoft.com/office/drawing/2014/main" id="{4CDD0CF2-BE97-5D57-0F1A-F18A69AC2511}"/>
                  </a:ext>
                </a:extLst>
              </p:cNvPr>
              <p:cNvSpPr/>
              <p:nvPr/>
            </p:nvSpPr>
            <p:spPr>
              <a:xfrm>
                <a:off x="2640548" y="4210207"/>
                <a:ext cx="337170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2" name="Arrow: Right 2051">
                <a:extLst>
                  <a:ext uri="{FF2B5EF4-FFF2-40B4-BE49-F238E27FC236}">
                    <a16:creationId xmlns:a16="http://schemas.microsoft.com/office/drawing/2014/main" id="{8A85EA8D-21CE-7131-B025-BBCE2096C854}"/>
                  </a:ext>
                </a:extLst>
              </p:cNvPr>
              <p:cNvSpPr/>
              <p:nvPr/>
            </p:nvSpPr>
            <p:spPr>
              <a:xfrm>
                <a:off x="2970029" y="4210207"/>
                <a:ext cx="557062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86" name="TextBox 1085">
              <a:extLst>
                <a:ext uri="{FF2B5EF4-FFF2-40B4-BE49-F238E27FC236}">
                  <a16:creationId xmlns:a16="http://schemas.microsoft.com/office/drawing/2014/main" id="{8D321376-DE43-8F48-1AAB-CCF3C8A2D542}"/>
                </a:ext>
              </a:extLst>
            </p:cNvPr>
            <p:cNvSpPr txBox="1"/>
            <p:nvPr/>
          </p:nvSpPr>
          <p:spPr>
            <a:xfrm>
              <a:off x="1533644" y="3756772"/>
              <a:ext cx="20434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</a:rPr>
                <a:t>Pause for SLM in imaging sequence </a:t>
              </a:r>
            </a:p>
          </p:txBody>
        </p:sp>
      </p:grpSp>
      <p:sp>
        <p:nvSpPr>
          <p:cNvPr id="2063" name="Speech Bubble: Rectangle with Corners Rounded 2062">
            <a:extLst>
              <a:ext uri="{FF2B5EF4-FFF2-40B4-BE49-F238E27FC236}">
                <a16:creationId xmlns:a16="http://schemas.microsoft.com/office/drawing/2014/main" id="{FA74EA73-69B3-DBAC-7FED-C92403897104}"/>
              </a:ext>
            </a:extLst>
          </p:cNvPr>
          <p:cNvSpPr/>
          <p:nvPr/>
        </p:nvSpPr>
        <p:spPr>
          <a:xfrm>
            <a:off x="5264248" y="3790758"/>
            <a:ext cx="4458775" cy="2004828"/>
          </a:xfrm>
          <a:prstGeom prst="wedgeRoundRectCallout">
            <a:avLst>
              <a:gd name="adj1" fmla="val -65092"/>
              <a:gd name="adj2" fmla="val -93497"/>
              <a:gd name="adj3" fmla="val 16667"/>
            </a:avLst>
          </a:prstGeom>
          <a:solidFill>
            <a:srgbClr val="92D050">
              <a:alpha val="10000"/>
            </a:srgb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B63E76EB-92C9-878B-8433-1406519642EF}"/>
              </a:ext>
            </a:extLst>
          </p:cNvPr>
          <p:cNvGrpSpPr/>
          <p:nvPr/>
        </p:nvGrpSpPr>
        <p:grpSpPr>
          <a:xfrm>
            <a:off x="451504" y="3756772"/>
            <a:ext cx="3963812" cy="1931405"/>
            <a:chOff x="451504" y="3756772"/>
            <a:chExt cx="3963812" cy="1931405"/>
          </a:xfrm>
        </p:grpSpPr>
        <p:grpSp>
          <p:nvGrpSpPr>
            <p:cNvPr id="1058" name="Group 1057">
              <a:extLst>
                <a:ext uri="{FF2B5EF4-FFF2-40B4-BE49-F238E27FC236}">
                  <a16:creationId xmlns:a16="http://schemas.microsoft.com/office/drawing/2014/main" id="{32007AFA-11B1-1483-87F6-15C64DBFA586}"/>
                </a:ext>
              </a:extLst>
            </p:cNvPr>
            <p:cNvGrpSpPr/>
            <p:nvPr/>
          </p:nvGrpSpPr>
          <p:grpSpPr>
            <a:xfrm>
              <a:off x="451504" y="3756772"/>
              <a:ext cx="3963812" cy="978773"/>
              <a:chOff x="451504" y="3756772"/>
              <a:chExt cx="3963812" cy="978773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D22752-056D-9607-A15B-44ACD5420B61}"/>
                  </a:ext>
                </a:extLst>
              </p:cNvPr>
              <p:cNvSpPr txBox="1"/>
              <p:nvPr/>
            </p:nvSpPr>
            <p:spPr>
              <a:xfrm>
                <a:off x="2005618" y="3933208"/>
                <a:ext cx="115065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Data flow</a:t>
                </a: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C4022480-ADF7-136C-6C5D-22FDC0543467}"/>
                  </a:ext>
                </a:extLst>
              </p:cNvPr>
              <p:cNvGrpSpPr/>
              <p:nvPr/>
            </p:nvGrpSpPr>
            <p:grpSpPr>
              <a:xfrm>
                <a:off x="451504" y="3944083"/>
                <a:ext cx="3963812" cy="791462"/>
                <a:chOff x="937057" y="1544882"/>
                <a:chExt cx="3963812" cy="791462"/>
              </a:xfrm>
            </p:grpSpPr>
            <p:pic>
              <p:nvPicPr>
                <p:cNvPr id="8" name="Picture 2" descr="Bruker (@bruker) / X">
                  <a:extLst>
                    <a:ext uri="{FF2B5EF4-FFF2-40B4-BE49-F238E27FC236}">
                      <a16:creationId xmlns:a16="http://schemas.microsoft.com/office/drawing/2014/main" id="{73F6139A-015F-D0FC-D5AC-F6B361939C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37057" y="1544882"/>
                  <a:ext cx="788790" cy="78879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" name="Picture 4" descr="MATLAB - Wikipedia">
                  <a:extLst>
                    <a:ext uri="{FF2B5EF4-FFF2-40B4-BE49-F238E27FC236}">
                      <a16:creationId xmlns:a16="http://schemas.microsoft.com/office/drawing/2014/main" id="{9E2303BE-5FE0-1E42-87B1-9C166C519A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25377" y="1553205"/>
                  <a:ext cx="875492" cy="78313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23A2829-C0F4-12CD-A1CB-97F63570860C}"/>
                  </a:ext>
                </a:extLst>
              </p:cNvPr>
              <p:cNvGrpSpPr/>
              <p:nvPr/>
            </p:nvGrpSpPr>
            <p:grpSpPr>
              <a:xfrm>
                <a:off x="1337225" y="4210207"/>
                <a:ext cx="2189866" cy="246221"/>
                <a:chOff x="1337225" y="4210207"/>
                <a:chExt cx="2189866" cy="246221"/>
              </a:xfrm>
            </p:grpSpPr>
            <p:sp>
              <p:nvSpPr>
                <p:cNvPr id="11" name="Arrow: Right 10">
                  <a:extLst>
                    <a:ext uri="{FF2B5EF4-FFF2-40B4-BE49-F238E27FC236}">
                      <a16:creationId xmlns:a16="http://schemas.microsoft.com/office/drawing/2014/main" id="{6A6BC347-C2AB-A70B-D041-8BDFA032AFB7}"/>
                    </a:ext>
                  </a:extLst>
                </p:cNvPr>
                <p:cNvSpPr/>
                <p:nvPr/>
              </p:nvSpPr>
              <p:spPr>
                <a:xfrm>
                  <a:off x="1337225" y="4210207"/>
                  <a:ext cx="337169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Arrow: Right 12">
                  <a:extLst>
                    <a:ext uri="{FF2B5EF4-FFF2-40B4-BE49-F238E27FC236}">
                      <a16:creationId xmlns:a16="http://schemas.microsoft.com/office/drawing/2014/main" id="{D4CBCD57-CF68-4108-A95A-FBC020A7F7F1}"/>
                    </a:ext>
                  </a:extLst>
                </p:cNvPr>
                <p:cNvSpPr/>
                <p:nvPr/>
              </p:nvSpPr>
              <p:spPr>
                <a:xfrm>
                  <a:off x="1676814" y="4210207"/>
                  <a:ext cx="421701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B0A78AD9-0787-F5C6-33F6-397B3580F3E4}"/>
                    </a:ext>
                  </a:extLst>
                </p:cNvPr>
                <p:cNvSpPr/>
                <p:nvPr/>
              </p:nvSpPr>
              <p:spPr>
                <a:xfrm>
                  <a:off x="2091175" y="4210207"/>
                  <a:ext cx="555511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4A1E3D5A-4C2E-D5F2-ECCE-CE4A6046D9B0}"/>
                    </a:ext>
                  </a:extLst>
                </p:cNvPr>
                <p:cNvSpPr/>
                <p:nvPr/>
              </p:nvSpPr>
              <p:spPr>
                <a:xfrm>
                  <a:off x="2640548" y="4210207"/>
                  <a:ext cx="337170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Arrow: Right 16">
                  <a:extLst>
                    <a:ext uri="{FF2B5EF4-FFF2-40B4-BE49-F238E27FC236}">
                      <a16:creationId xmlns:a16="http://schemas.microsoft.com/office/drawing/2014/main" id="{7838153A-EC53-CF3F-9076-9AB0C7139A2A}"/>
                    </a:ext>
                  </a:extLst>
                </p:cNvPr>
                <p:cNvSpPr/>
                <p:nvPr/>
              </p:nvSpPr>
              <p:spPr>
                <a:xfrm>
                  <a:off x="2970029" y="4210207"/>
                  <a:ext cx="557062" cy="246221"/>
                </a:xfrm>
                <a:prstGeom prst="rightArrow">
                  <a:avLst/>
                </a:prstGeom>
                <a:gradFill>
                  <a:gsLst>
                    <a:gs pos="0">
                      <a:srgbClr val="336CBE"/>
                    </a:gs>
                    <a:gs pos="100000">
                      <a:srgbClr val="802010"/>
                    </a:gs>
                  </a:gsLst>
                  <a:lin ang="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62F2CB-684D-33B9-B69F-9FDD6836619C}"/>
                  </a:ext>
                </a:extLst>
              </p:cNvPr>
              <p:cNvSpPr txBox="1"/>
              <p:nvPr/>
            </p:nvSpPr>
            <p:spPr>
              <a:xfrm>
                <a:off x="1533644" y="3756772"/>
                <a:ext cx="204340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solidFill>
                      <a:srgbClr val="0070C0"/>
                    </a:solidFill>
                  </a:rPr>
                  <a:t>Continuous imaging sequence </a:t>
                </a:r>
              </a:p>
            </p:txBody>
          </p:sp>
        </p:grpSp>
        <p:sp>
          <p:nvSpPr>
            <p:cNvPr id="1074" name="Arrow: Right 1073">
              <a:extLst>
                <a:ext uri="{FF2B5EF4-FFF2-40B4-BE49-F238E27FC236}">
                  <a16:creationId xmlns:a16="http://schemas.microsoft.com/office/drawing/2014/main" id="{C5EF857A-9FDA-2CCA-6DD7-417C91612CD5}"/>
                </a:ext>
              </a:extLst>
            </p:cNvPr>
            <p:cNvSpPr/>
            <p:nvPr/>
          </p:nvSpPr>
          <p:spPr>
            <a:xfrm rot="8815590">
              <a:off x="3527502" y="4528479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Arrow: Right 1074">
              <a:extLst>
                <a:ext uri="{FF2B5EF4-FFF2-40B4-BE49-F238E27FC236}">
                  <a16:creationId xmlns:a16="http://schemas.microsoft.com/office/drawing/2014/main" id="{BDA5ED01-E686-3BCD-E74E-8A220A67B612}"/>
                </a:ext>
              </a:extLst>
            </p:cNvPr>
            <p:cNvSpPr/>
            <p:nvPr/>
          </p:nvSpPr>
          <p:spPr>
            <a:xfrm rot="8815590">
              <a:off x="3246168" y="4699081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Arrow: Right 1075">
              <a:extLst>
                <a:ext uri="{FF2B5EF4-FFF2-40B4-BE49-F238E27FC236}">
                  <a16:creationId xmlns:a16="http://schemas.microsoft.com/office/drawing/2014/main" id="{6C9E4E08-9541-1A3E-7EB1-92C3E1B6FD25}"/>
                </a:ext>
              </a:extLst>
            </p:cNvPr>
            <p:cNvSpPr/>
            <p:nvPr/>
          </p:nvSpPr>
          <p:spPr>
            <a:xfrm rot="8815590">
              <a:off x="2963331" y="4870003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Arrow: Right 1076">
              <a:extLst>
                <a:ext uri="{FF2B5EF4-FFF2-40B4-BE49-F238E27FC236}">
                  <a16:creationId xmlns:a16="http://schemas.microsoft.com/office/drawing/2014/main" id="{B2F8634A-8324-B90E-D4A2-401F9277966E}"/>
                </a:ext>
              </a:extLst>
            </p:cNvPr>
            <p:cNvSpPr/>
            <p:nvPr/>
          </p:nvSpPr>
          <p:spPr>
            <a:xfrm rot="8815590">
              <a:off x="2680414" y="5036715"/>
              <a:ext cx="337169" cy="246221"/>
            </a:xfrm>
            <a:prstGeom prst="rightArrow">
              <a:avLst/>
            </a:prstGeom>
            <a:gradFill>
              <a:gsLst>
                <a:gs pos="0">
                  <a:srgbClr val="802010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24E0136F-F82F-6197-47C6-2CE6B6E3C599}"/>
                </a:ext>
              </a:extLst>
            </p:cNvPr>
            <p:cNvSpPr txBox="1"/>
            <p:nvPr/>
          </p:nvSpPr>
          <p:spPr>
            <a:xfrm rot="19617034">
              <a:off x="3563208" y="4632845"/>
              <a:ext cx="58952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dirty="0"/>
                <a:t>Frame 1</a:t>
              </a: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D7823BCA-72A9-5955-234D-D1ECCDC300C7}"/>
                </a:ext>
              </a:extLst>
            </p:cNvPr>
            <p:cNvSpPr txBox="1"/>
            <p:nvPr/>
          </p:nvSpPr>
          <p:spPr>
            <a:xfrm rot="19617034">
              <a:off x="2972960" y="4997770"/>
              <a:ext cx="58952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dirty="0"/>
                <a:t>Frame 3</a:t>
              </a: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2502F325-26BB-8AF0-E46E-DB420780A8BF}"/>
                </a:ext>
              </a:extLst>
            </p:cNvPr>
            <p:cNvSpPr txBox="1"/>
            <p:nvPr/>
          </p:nvSpPr>
          <p:spPr>
            <a:xfrm rot="19617034">
              <a:off x="3270502" y="4817019"/>
              <a:ext cx="589529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700" dirty="0"/>
                <a:t>Frame 2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9B3E819-62CB-F505-C414-059582023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4294" y="5159825"/>
              <a:ext cx="731520" cy="528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8EB0CCAF-5CAA-E4DB-0E35-55474F4876DD}"/>
              </a:ext>
            </a:extLst>
          </p:cNvPr>
          <p:cNvSpPr/>
          <p:nvPr/>
        </p:nvSpPr>
        <p:spPr>
          <a:xfrm>
            <a:off x="6557726" y="5977224"/>
            <a:ext cx="4458775" cy="2004828"/>
          </a:xfrm>
          <a:prstGeom prst="wedgeRoundRectCallout">
            <a:avLst>
              <a:gd name="adj1" fmla="val -22305"/>
              <a:gd name="adj2" fmla="val -89559"/>
              <a:gd name="adj3" fmla="val 16667"/>
            </a:avLst>
          </a:prstGeom>
          <a:solidFill>
            <a:srgbClr val="92D050">
              <a:alpha val="10000"/>
            </a:srgb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CFE45BCF-9433-1993-D98A-65944B144354}"/>
              </a:ext>
            </a:extLst>
          </p:cNvPr>
          <p:cNvGrpSpPr/>
          <p:nvPr/>
        </p:nvGrpSpPr>
        <p:grpSpPr>
          <a:xfrm>
            <a:off x="8539191" y="2387477"/>
            <a:ext cx="734030" cy="535781"/>
            <a:chOff x="1131027" y="1573386"/>
            <a:chExt cx="734030" cy="535781"/>
          </a:xfrm>
        </p:grpSpPr>
        <p:pic>
          <p:nvPicPr>
            <p:cNvPr id="1050" name="Picture 2" descr="Bruker (@bruker) / X">
              <a:extLst>
                <a:ext uri="{FF2B5EF4-FFF2-40B4-BE49-F238E27FC236}">
                  <a16:creationId xmlns:a16="http://schemas.microsoft.com/office/drawing/2014/main" id="{51B15896-B073-3E3A-5F85-F387747D82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1" name="Picture 4" descr="MATLAB - Wikipedia">
              <a:extLst>
                <a:ext uri="{FF2B5EF4-FFF2-40B4-BE49-F238E27FC236}">
                  <a16:creationId xmlns:a16="http://schemas.microsoft.com/office/drawing/2014/main" id="{F4DE1D2B-6ECB-D8B3-FC91-4F2BCE179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4D76CD5B-0769-A41F-13C2-D0F301D24035}"/>
              </a:ext>
            </a:extLst>
          </p:cNvPr>
          <p:cNvGrpSpPr/>
          <p:nvPr/>
        </p:nvGrpSpPr>
        <p:grpSpPr>
          <a:xfrm>
            <a:off x="3950894" y="2404250"/>
            <a:ext cx="734030" cy="535781"/>
            <a:chOff x="1131027" y="1573386"/>
            <a:chExt cx="734030" cy="535781"/>
          </a:xfrm>
        </p:grpSpPr>
        <p:pic>
          <p:nvPicPr>
            <p:cNvPr id="1047" name="Picture 2" descr="Bruker (@bruker) / X">
              <a:extLst>
                <a:ext uri="{FF2B5EF4-FFF2-40B4-BE49-F238E27FC236}">
                  <a16:creationId xmlns:a16="http://schemas.microsoft.com/office/drawing/2014/main" id="{596AAF78-4312-540E-4DD0-B7DCA0F20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4" descr="MATLAB - Wikipedia">
              <a:extLst>
                <a:ext uri="{FF2B5EF4-FFF2-40B4-BE49-F238E27FC236}">
                  <a16:creationId xmlns:a16="http://schemas.microsoft.com/office/drawing/2014/main" id="{700858B2-CDE8-DFCA-85C7-8F428868D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2F5578B-5738-45E5-FC4E-5219A7E9CAAB}"/>
              </a:ext>
            </a:extLst>
          </p:cNvPr>
          <p:cNvGrpSpPr/>
          <p:nvPr/>
        </p:nvGrpSpPr>
        <p:grpSpPr>
          <a:xfrm>
            <a:off x="1131103" y="2401791"/>
            <a:ext cx="734030" cy="535781"/>
            <a:chOff x="1131027" y="1573386"/>
            <a:chExt cx="734030" cy="535781"/>
          </a:xfrm>
        </p:grpSpPr>
        <p:pic>
          <p:nvPicPr>
            <p:cNvPr id="1026" name="Picture 2" descr="Bruker (@bruker) / X">
              <a:extLst>
                <a:ext uri="{FF2B5EF4-FFF2-40B4-BE49-F238E27FC236}">
                  <a16:creationId xmlns:a16="http://schemas.microsoft.com/office/drawing/2014/main" id="{92F3E2CC-6362-E7F8-5603-4B2DE4856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027" y="1573386"/>
              <a:ext cx="535781" cy="53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ATLAB - Wikipedia">
              <a:extLst>
                <a:ext uri="{FF2B5EF4-FFF2-40B4-BE49-F238E27FC236}">
                  <a16:creationId xmlns:a16="http://schemas.microsoft.com/office/drawing/2014/main" id="{1939E4DF-87B1-12BD-1E78-FD636F0307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9314" y="1740311"/>
              <a:ext cx="225743" cy="20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id="{E719AD04-516F-7AD9-456C-BE115D3165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r="24256" b="32667"/>
          <a:stretch/>
        </p:blipFill>
        <p:spPr bwMode="auto">
          <a:xfrm>
            <a:off x="6372615" y="1757606"/>
            <a:ext cx="368392" cy="26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ntologic | Suite2P">
            <a:extLst>
              <a:ext uri="{FF2B5EF4-FFF2-40B4-BE49-F238E27FC236}">
                <a16:creationId xmlns:a16="http://schemas.microsoft.com/office/drawing/2014/main" id="{BBE1D8F0-7DD9-9643-91D3-99E7B2C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34" y="1763702"/>
            <a:ext cx="25717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36454-EDF5-6312-0C03-6D7F8547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742" y="411109"/>
            <a:ext cx="11239774" cy="600069"/>
          </a:xfrm>
        </p:spPr>
        <p:txBody>
          <a:bodyPr>
            <a:normAutofit fontScale="90000"/>
          </a:bodyPr>
          <a:lstStyle/>
          <a:p>
            <a: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Holographic Imaging and Photo-Stimulation</a:t>
            </a:r>
            <a:br>
              <a:rPr lang="en-US" sz="4400" spc="-50" dirty="0">
                <a:solidFill>
                  <a:srgbClr val="01204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2696E2-CAB8-D194-831C-F31D6249E461}"/>
              </a:ext>
            </a:extLst>
          </p:cNvPr>
          <p:cNvSpPr/>
          <p:nvPr/>
        </p:nvSpPr>
        <p:spPr>
          <a:xfrm>
            <a:off x="182550" y="1721335"/>
            <a:ext cx="874929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~20 min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56EED0-A2D4-63F2-0268-794AA83AF2A2}"/>
              </a:ext>
            </a:extLst>
          </p:cNvPr>
          <p:cNvSpPr/>
          <p:nvPr/>
        </p:nvSpPr>
        <p:spPr>
          <a:xfrm rot="19858606">
            <a:off x="992941" y="1535141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01152D-8077-8411-024C-C56A705D57BB}"/>
              </a:ext>
            </a:extLst>
          </p:cNvPr>
          <p:cNvSpPr/>
          <p:nvPr/>
        </p:nvSpPr>
        <p:spPr>
          <a:xfrm>
            <a:off x="1057478" y="1997024"/>
            <a:ext cx="828836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1593C-6161-4408-D447-8BE412351D25}"/>
              </a:ext>
            </a:extLst>
          </p:cNvPr>
          <p:cNvSpPr txBox="1"/>
          <p:nvPr/>
        </p:nvSpPr>
        <p:spPr>
          <a:xfrm>
            <a:off x="687441" y="2243568"/>
            <a:ext cx="1261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Bruker_PrairieLink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F87842-9E23-88FE-25EF-3842ACF44AFE}"/>
              </a:ext>
            </a:extLst>
          </p:cNvPr>
          <p:cNvSpPr/>
          <p:nvPr/>
        </p:nvSpPr>
        <p:spPr>
          <a:xfrm>
            <a:off x="1318195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C827F-C022-1A4D-A562-B3AE19CA0E04}"/>
              </a:ext>
            </a:extLst>
          </p:cNvPr>
          <p:cNvSpPr/>
          <p:nvPr/>
        </p:nvSpPr>
        <p:spPr>
          <a:xfrm>
            <a:off x="1887779" y="1734197"/>
            <a:ext cx="752768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C4161A8-777E-666C-5545-21C056B54470}"/>
              </a:ext>
            </a:extLst>
          </p:cNvPr>
          <p:cNvSpPr/>
          <p:nvPr/>
        </p:nvSpPr>
        <p:spPr>
          <a:xfrm>
            <a:off x="2642012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7B3B6A-5E67-391C-0C50-5663D65EC1A5}"/>
              </a:ext>
            </a:extLst>
          </p:cNvPr>
          <p:cNvSpPr/>
          <p:nvPr/>
        </p:nvSpPr>
        <p:spPr>
          <a:xfrm>
            <a:off x="3267724" y="1734197"/>
            <a:ext cx="1310309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Single cell stimulation ~20 min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2298C-62B9-48CE-84BB-1C262FC791ED}"/>
              </a:ext>
            </a:extLst>
          </p:cNvPr>
          <p:cNvSpPr txBox="1"/>
          <p:nvPr/>
        </p:nvSpPr>
        <p:spPr>
          <a:xfrm>
            <a:off x="3152685" y="2248968"/>
            <a:ext cx="1622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E9AD522-B209-1483-D3C4-5D72CB59E2AD}"/>
              </a:ext>
            </a:extLst>
          </p:cNvPr>
          <p:cNvSpPr/>
          <p:nvPr/>
        </p:nvSpPr>
        <p:spPr>
          <a:xfrm rot="19858606">
            <a:off x="4443286" y="1529234"/>
            <a:ext cx="545623" cy="120940"/>
          </a:xfrm>
          <a:prstGeom prst="rightArrow">
            <a:avLst>
              <a:gd name="adj1" fmla="val 50000"/>
              <a:gd name="adj2" fmla="val 18945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14A3AFE-39FE-6B8F-783F-6BBD065F3719}"/>
              </a:ext>
            </a:extLst>
          </p:cNvPr>
          <p:cNvSpPr/>
          <p:nvPr/>
        </p:nvSpPr>
        <p:spPr>
          <a:xfrm>
            <a:off x="4577840" y="1989206"/>
            <a:ext cx="635469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B4F368-37DF-E328-D7CA-077123E5C91A}"/>
              </a:ext>
            </a:extLst>
          </p:cNvPr>
          <p:cNvSpPr/>
          <p:nvPr/>
        </p:nvSpPr>
        <p:spPr>
          <a:xfrm>
            <a:off x="4716097" y="991350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analysis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F0B6337-920F-94B5-0CEB-DADBBDC6C373}"/>
              </a:ext>
            </a:extLst>
          </p:cNvPr>
          <p:cNvSpPr/>
          <p:nvPr/>
        </p:nvSpPr>
        <p:spPr>
          <a:xfrm>
            <a:off x="6760107" y="1976881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Oval 1023">
            <a:extLst>
              <a:ext uri="{FF2B5EF4-FFF2-40B4-BE49-F238E27FC236}">
                <a16:creationId xmlns:a16="http://schemas.microsoft.com/office/drawing/2014/main" id="{61106001-F165-0A8F-EF02-0B019F600C41}"/>
              </a:ext>
            </a:extLst>
          </p:cNvPr>
          <p:cNvSpPr/>
          <p:nvPr/>
        </p:nvSpPr>
        <p:spPr>
          <a:xfrm>
            <a:off x="6982590" y="1527485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Oval 1024">
            <a:extLst>
              <a:ext uri="{FF2B5EF4-FFF2-40B4-BE49-F238E27FC236}">
                <a16:creationId xmlns:a16="http://schemas.microsoft.com/office/drawing/2014/main" id="{DB65FA0B-EE9B-9E23-81CA-E2033CA81CE3}"/>
              </a:ext>
            </a:extLst>
          </p:cNvPr>
          <p:cNvSpPr/>
          <p:nvPr/>
        </p:nvSpPr>
        <p:spPr>
          <a:xfrm>
            <a:off x="6626820" y="1563257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02C873E9-0162-40F2-37F0-0664709CD75D}"/>
              </a:ext>
            </a:extLst>
          </p:cNvPr>
          <p:cNvSpPr/>
          <p:nvPr/>
        </p:nvSpPr>
        <p:spPr>
          <a:xfrm>
            <a:off x="6906264" y="1730808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D3319D7F-301C-0C2A-3519-B616C7CAE047}"/>
              </a:ext>
            </a:extLst>
          </p:cNvPr>
          <p:cNvSpPr/>
          <p:nvPr/>
        </p:nvSpPr>
        <p:spPr>
          <a:xfrm>
            <a:off x="7250629" y="1636763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E7C2FF49-4B15-AB48-05A4-0660A75506C0}"/>
              </a:ext>
            </a:extLst>
          </p:cNvPr>
          <p:cNvSpPr/>
          <p:nvPr/>
        </p:nvSpPr>
        <p:spPr>
          <a:xfrm>
            <a:off x="7158813" y="1301314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E0A09836-41BF-F848-04A1-008F49946919}"/>
              </a:ext>
            </a:extLst>
          </p:cNvPr>
          <p:cNvSpPr/>
          <p:nvPr/>
        </p:nvSpPr>
        <p:spPr>
          <a:xfrm>
            <a:off x="6837865" y="1346054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5A9A727-6265-BFB6-7D52-D8F70023E678}"/>
              </a:ext>
            </a:extLst>
          </p:cNvPr>
          <p:cNvSpPr txBox="1"/>
          <p:nvPr/>
        </p:nvSpPr>
        <p:spPr>
          <a:xfrm>
            <a:off x="6477638" y="776719"/>
            <a:ext cx="12993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 ensure each cell has comparable response 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71FD20EA-45F8-707B-0E91-138BD03F12AA}"/>
              </a:ext>
            </a:extLst>
          </p:cNvPr>
          <p:cNvSpPr/>
          <p:nvPr/>
        </p:nvSpPr>
        <p:spPr>
          <a:xfrm>
            <a:off x="7666542" y="1721335"/>
            <a:ext cx="1651087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2P imaging + Holographic photo-stimulation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1735DC6-B6B6-7871-25F5-24E5A1B0786F}"/>
              </a:ext>
            </a:extLst>
          </p:cNvPr>
          <p:cNvSpPr txBox="1"/>
          <p:nvPr/>
        </p:nvSpPr>
        <p:spPr>
          <a:xfrm>
            <a:off x="7776992" y="2240693"/>
            <a:ext cx="1755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solidFill>
                  <a:srgbClr val="0070C0"/>
                </a:solidFill>
              </a:rPr>
              <a:t>Bruker_PVLinkExcuteFolder</a:t>
            </a:r>
            <a:endParaRPr lang="en-US" sz="1000" dirty="0">
              <a:solidFill>
                <a:srgbClr val="0070C0"/>
              </a:solidFill>
            </a:endParaRPr>
          </a:p>
          <a:p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039" name="Arrow: Right 1038">
            <a:extLst>
              <a:ext uri="{FF2B5EF4-FFF2-40B4-BE49-F238E27FC236}">
                <a16:creationId xmlns:a16="http://schemas.microsoft.com/office/drawing/2014/main" id="{95660E4B-B474-2FF6-0BA8-EEA85905056D}"/>
              </a:ext>
            </a:extLst>
          </p:cNvPr>
          <p:cNvSpPr/>
          <p:nvPr/>
        </p:nvSpPr>
        <p:spPr>
          <a:xfrm>
            <a:off x="9317629" y="1970712"/>
            <a:ext cx="906435" cy="160464"/>
          </a:xfrm>
          <a:prstGeom prst="rightArrow">
            <a:avLst>
              <a:gd name="adj1" fmla="val 50000"/>
              <a:gd name="adj2" fmla="val 19695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: Rounded Corners 1040">
            <a:extLst>
              <a:ext uri="{FF2B5EF4-FFF2-40B4-BE49-F238E27FC236}">
                <a16:creationId xmlns:a16="http://schemas.microsoft.com/office/drawing/2014/main" id="{601E92B5-8F3B-E7BC-36E4-218E4E8560FC}"/>
              </a:ext>
            </a:extLst>
          </p:cNvPr>
          <p:cNvSpPr/>
          <p:nvPr/>
        </p:nvSpPr>
        <p:spPr>
          <a:xfrm>
            <a:off x="5211405" y="1734573"/>
            <a:ext cx="1548701" cy="749940"/>
          </a:xfrm>
          <a:prstGeom prst="roundRect">
            <a:avLst/>
          </a:prstGeom>
          <a:noFill/>
          <a:ln w="254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Quick analysis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Identify the SLM parameters for each single cell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E6A55969-6B03-CDA0-C835-9C2595A91B75}"/>
              </a:ext>
            </a:extLst>
          </p:cNvPr>
          <p:cNvSpPr/>
          <p:nvPr/>
        </p:nvSpPr>
        <p:spPr>
          <a:xfrm>
            <a:off x="10224064" y="1791159"/>
            <a:ext cx="1370596" cy="535781"/>
          </a:xfrm>
          <a:prstGeom prst="ellipse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Data for future offline analysis</a:t>
            </a:r>
          </a:p>
        </p:txBody>
      </p:sp>
      <p:sp>
        <p:nvSpPr>
          <p:cNvPr id="2055" name="Arrow: Right 2054">
            <a:extLst>
              <a:ext uri="{FF2B5EF4-FFF2-40B4-BE49-F238E27FC236}">
                <a16:creationId xmlns:a16="http://schemas.microsoft.com/office/drawing/2014/main" id="{3CDEA4E0-43E5-02BD-984D-B49EDF82E3E6}"/>
              </a:ext>
            </a:extLst>
          </p:cNvPr>
          <p:cNvSpPr/>
          <p:nvPr/>
        </p:nvSpPr>
        <p:spPr>
          <a:xfrm rot="8815590">
            <a:off x="8588997" y="4506861"/>
            <a:ext cx="337169" cy="246221"/>
          </a:xfrm>
          <a:prstGeom prst="rightArrow">
            <a:avLst/>
          </a:prstGeom>
          <a:gradFill>
            <a:gsLst>
              <a:gs pos="0">
                <a:srgbClr val="802010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Arrow: Right 2057">
            <a:extLst>
              <a:ext uri="{FF2B5EF4-FFF2-40B4-BE49-F238E27FC236}">
                <a16:creationId xmlns:a16="http://schemas.microsoft.com/office/drawing/2014/main" id="{728E902F-8C6C-A069-FA0E-42D231854D78}"/>
              </a:ext>
            </a:extLst>
          </p:cNvPr>
          <p:cNvSpPr/>
          <p:nvPr/>
        </p:nvSpPr>
        <p:spPr>
          <a:xfrm rot="8815590">
            <a:off x="8036636" y="4863393"/>
            <a:ext cx="337169" cy="246221"/>
          </a:xfrm>
          <a:prstGeom prst="rightArrow">
            <a:avLst/>
          </a:prstGeom>
          <a:gradFill>
            <a:gsLst>
              <a:gs pos="0">
                <a:srgbClr val="802010">
                  <a:alpha val="25000"/>
                </a:srgbClr>
              </a:gs>
              <a:gs pos="100000">
                <a:schemeClr val="accent4">
                  <a:lumMod val="60000"/>
                  <a:lumOff val="40000"/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DE04A303-0CED-65BA-C1AE-59D5AC37C645}"/>
              </a:ext>
            </a:extLst>
          </p:cNvPr>
          <p:cNvSpPr txBox="1"/>
          <p:nvPr/>
        </p:nvSpPr>
        <p:spPr>
          <a:xfrm rot="19617034">
            <a:off x="8624703" y="4611227"/>
            <a:ext cx="5895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Frame X</a:t>
            </a:r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4D9E6D06-75C3-70B7-264D-023B73808D3F}"/>
              </a:ext>
            </a:extLst>
          </p:cNvPr>
          <p:cNvSpPr txBox="1"/>
          <p:nvPr/>
        </p:nvSpPr>
        <p:spPr>
          <a:xfrm rot="19617034">
            <a:off x="8033654" y="5003657"/>
            <a:ext cx="5895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1">
                    <a:lumMod val="65000"/>
                  </a:schemeClr>
                </a:solidFill>
              </a:rPr>
              <a:t>Frame X+1</a:t>
            </a:r>
          </a:p>
        </p:txBody>
      </p:sp>
      <p:pic>
        <p:nvPicPr>
          <p:cNvPr id="2062" name="Picture 2">
            <a:extLst>
              <a:ext uri="{FF2B5EF4-FFF2-40B4-BE49-F238E27FC236}">
                <a16:creationId xmlns:a16="http://schemas.microsoft.com/office/drawing/2014/main" id="{C21B8FC7-A83A-3F33-ECAC-1CFD22EC6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789" y="5138207"/>
            <a:ext cx="731520" cy="52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9F3760A-F9CA-B856-7100-1FD6B3E3AA64}"/>
              </a:ext>
            </a:extLst>
          </p:cNvPr>
          <p:cNvSpPr txBox="1"/>
          <p:nvPr/>
        </p:nvSpPr>
        <p:spPr>
          <a:xfrm>
            <a:off x="6887966" y="3464387"/>
            <a:ext cx="2474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-5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Worked but not perfect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0986A2-3075-300E-530F-8AD25F16DDF3}"/>
              </a:ext>
            </a:extLst>
          </p:cNvPr>
          <p:cNvSpPr txBox="1"/>
          <p:nvPr/>
        </p:nvSpPr>
        <p:spPr>
          <a:xfrm>
            <a:off x="5046438" y="692127"/>
            <a:ext cx="1548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-5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B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233CD2E5-24F3-3756-3674-5498A1C8C7E9}"/>
              </a:ext>
            </a:extLst>
          </p:cNvPr>
          <p:cNvSpPr txBox="1"/>
          <p:nvPr/>
        </p:nvSpPr>
        <p:spPr>
          <a:xfrm>
            <a:off x="6554000" y="4434808"/>
            <a:ext cx="64336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Precisely identify the last frame X before SLM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72BA7AE-9CD4-BE8F-DBE7-E7C7895A0D4A}"/>
              </a:ext>
            </a:extLst>
          </p:cNvPr>
          <p:cNvSpPr/>
          <p:nvPr/>
        </p:nvSpPr>
        <p:spPr>
          <a:xfrm rot="8815590">
            <a:off x="7748014" y="5033416"/>
            <a:ext cx="337169" cy="246221"/>
          </a:xfrm>
          <a:prstGeom prst="rightArrow">
            <a:avLst/>
          </a:prstGeom>
          <a:gradFill>
            <a:gsLst>
              <a:gs pos="0">
                <a:srgbClr val="802010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3767E1A8-99B1-53DD-557C-B025E99EAB95}"/>
              </a:ext>
            </a:extLst>
          </p:cNvPr>
          <p:cNvSpPr txBox="1"/>
          <p:nvPr/>
        </p:nvSpPr>
        <p:spPr>
          <a:xfrm rot="19617034">
            <a:off x="7673400" y="5216351"/>
            <a:ext cx="5895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Frame X+2</a:t>
            </a:r>
          </a:p>
        </p:txBody>
      </p:sp>
    </p:spTree>
    <p:extLst>
      <p:ext uri="{BB962C8B-B14F-4D97-AF65-F5344CB8AC3E}">
        <p14:creationId xmlns:p14="http://schemas.microsoft.com/office/powerpoint/2010/main" val="397470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6DCD-412B-9606-ADA9-59773BA0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Bruker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Recording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52FB6EF-1BA7-3AB9-BF5C-A59E8AD607C2}"/>
              </a:ext>
            </a:extLst>
          </p:cNvPr>
          <p:cNvGrpSpPr/>
          <p:nvPr/>
        </p:nvGrpSpPr>
        <p:grpSpPr>
          <a:xfrm>
            <a:off x="997769" y="1325563"/>
            <a:ext cx="11163676" cy="1884122"/>
            <a:chOff x="997769" y="1325563"/>
            <a:chExt cx="11163676" cy="18841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B140154-4CA1-2B75-20CD-BEE444C2EE16}"/>
                </a:ext>
              </a:extLst>
            </p:cNvPr>
            <p:cNvGrpSpPr/>
            <p:nvPr/>
          </p:nvGrpSpPr>
          <p:grpSpPr>
            <a:xfrm>
              <a:off x="997769" y="1325563"/>
              <a:ext cx="6691614" cy="954239"/>
              <a:chOff x="451504" y="3781306"/>
              <a:chExt cx="6691614" cy="95423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76EB7F5-43E0-679C-8F94-87AC2F52FF34}"/>
                  </a:ext>
                </a:extLst>
              </p:cNvPr>
              <p:cNvGrpSpPr/>
              <p:nvPr/>
            </p:nvGrpSpPr>
            <p:grpSpPr>
              <a:xfrm>
                <a:off x="451504" y="3781306"/>
                <a:ext cx="3963812" cy="954239"/>
                <a:chOff x="451504" y="3781306"/>
                <a:chExt cx="3963812" cy="95423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521538-695F-0CB1-E5ED-32C76DE70B6C}"/>
                    </a:ext>
                  </a:extLst>
                </p:cNvPr>
                <p:cNvSpPr txBox="1"/>
                <p:nvPr/>
              </p:nvSpPr>
              <p:spPr>
                <a:xfrm>
                  <a:off x="2005618" y="3933208"/>
                  <a:ext cx="115065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 flow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0447B68-8617-0532-8864-F85EF55871E2}"/>
                    </a:ext>
                  </a:extLst>
                </p:cNvPr>
                <p:cNvGrpSpPr/>
                <p:nvPr/>
              </p:nvGrpSpPr>
              <p:grpSpPr>
                <a:xfrm>
                  <a:off x="451504" y="3944083"/>
                  <a:ext cx="3963812" cy="791462"/>
                  <a:chOff x="937057" y="1544882"/>
                  <a:chExt cx="3963812" cy="791462"/>
                </a:xfrm>
              </p:grpSpPr>
              <p:pic>
                <p:nvPicPr>
                  <p:cNvPr id="24" name="Picture 2" descr="Bruker (@bruker) / X">
                    <a:extLst>
                      <a:ext uri="{FF2B5EF4-FFF2-40B4-BE49-F238E27FC236}">
                        <a16:creationId xmlns:a16="http://schemas.microsoft.com/office/drawing/2014/main" id="{06C53F72-C316-8281-D0B1-14D5F9E21A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37057" y="1544882"/>
                    <a:ext cx="788790" cy="78879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5" name="Picture 4" descr="MATLAB - Wikipedia">
                    <a:extLst>
                      <a:ext uri="{FF2B5EF4-FFF2-40B4-BE49-F238E27FC236}">
                        <a16:creationId xmlns:a16="http://schemas.microsoft.com/office/drawing/2014/main" id="{F9D79462-50C0-AE18-1DC7-C1A794943CB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025377" y="1553205"/>
                    <a:ext cx="875492" cy="7831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6002826B-86A4-DE7F-36F6-B2A718D8589B}"/>
                    </a:ext>
                  </a:extLst>
                </p:cNvPr>
                <p:cNvGrpSpPr/>
                <p:nvPr/>
              </p:nvGrpSpPr>
              <p:grpSpPr>
                <a:xfrm>
                  <a:off x="1337225" y="4210207"/>
                  <a:ext cx="2189866" cy="246221"/>
                  <a:chOff x="1337225" y="4210207"/>
                  <a:chExt cx="2189866" cy="246221"/>
                </a:xfrm>
              </p:grpSpPr>
              <p:sp>
                <p:nvSpPr>
                  <p:cNvPr id="19" name="Arrow: Right 18">
                    <a:extLst>
                      <a:ext uri="{FF2B5EF4-FFF2-40B4-BE49-F238E27FC236}">
                        <a16:creationId xmlns:a16="http://schemas.microsoft.com/office/drawing/2014/main" id="{46961656-D59C-9664-53EF-0D534F32172E}"/>
                      </a:ext>
                    </a:extLst>
                  </p:cNvPr>
                  <p:cNvSpPr/>
                  <p:nvPr/>
                </p:nvSpPr>
                <p:spPr>
                  <a:xfrm>
                    <a:off x="1337225" y="4210207"/>
                    <a:ext cx="337169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Arrow: Right 19">
                    <a:extLst>
                      <a:ext uri="{FF2B5EF4-FFF2-40B4-BE49-F238E27FC236}">
                        <a16:creationId xmlns:a16="http://schemas.microsoft.com/office/drawing/2014/main" id="{8DF47706-38D8-146B-36F7-AFDB68538205}"/>
                      </a:ext>
                    </a:extLst>
                  </p:cNvPr>
                  <p:cNvSpPr/>
                  <p:nvPr/>
                </p:nvSpPr>
                <p:spPr>
                  <a:xfrm>
                    <a:off x="1676814" y="4210207"/>
                    <a:ext cx="421701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Arrow: Right 20">
                    <a:extLst>
                      <a:ext uri="{FF2B5EF4-FFF2-40B4-BE49-F238E27FC236}">
                        <a16:creationId xmlns:a16="http://schemas.microsoft.com/office/drawing/2014/main" id="{7EE123A8-CAB3-3203-FE68-0007FD9C18B7}"/>
                      </a:ext>
                    </a:extLst>
                  </p:cNvPr>
                  <p:cNvSpPr/>
                  <p:nvPr/>
                </p:nvSpPr>
                <p:spPr>
                  <a:xfrm>
                    <a:off x="2091175" y="4210207"/>
                    <a:ext cx="555511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Arrow: Right 21">
                    <a:extLst>
                      <a:ext uri="{FF2B5EF4-FFF2-40B4-BE49-F238E27FC236}">
                        <a16:creationId xmlns:a16="http://schemas.microsoft.com/office/drawing/2014/main" id="{C3D86AD3-C3AA-5591-418C-0F0CA991678B}"/>
                      </a:ext>
                    </a:extLst>
                  </p:cNvPr>
                  <p:cNvSpPr/>
                  <p:nvPr/>
                </p:nvSpPr>
                <p:spPr>
                  <a:xfrm>
                    <a:off x="2640548" y="4210207"/>
                    <a:ext cx="337170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Arrow: Right 22">
                    <a:extLst>
                      <a:ext uri="{FF2B5EF4-FFF2-40B4-BE49-F238E27FC236}">
                        <a16:creationId xmlns:a16="http://schemas.microsoft.com/office/drawing/2014/main" id="{6889B1BF-3CFB-0A01-D058-FA7B49C0E34B}"/>
                      </a:ext>
                    </a:extLst>
                  </p:cNvPr>
                  <p:cNvSpPr/>
                  <p:nvPr/>
                </p:nvSpPr>
                <p:spPr>
                  <a:xfrm>
                    <a:off x="2970029" y="4210207"/>
                    <a:ext cx="557062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0F370CD-D33A-FC7F-6CEC-32C3B2A73281}"/>
                    </a:ext>
                  </a:extLst>
                </p:cNvPr>
                <p:cNvSpPr txBox="1"/>
                <p:nvPr/>
              </p:nvSpPr>
              <p:spPr>
                <a:xfrm>
                  <a:off x="1559241" y="3781306"/>
                  <a:ext cx="2043406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Continuous imaging sequence </a:t>
                  </a:r>
                </a:p>
              </p:txBody>
            </p:sp>
          </p:grpSp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34564183-E7C1-7301-A06D-3178047FE6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598" y="4138713"/>
                <a:ext cx="731520" cy="528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8389EFD-9BB6-4726-35B5-AF2B49912294}"/>
                </a:ext>
              </a:extLst>
            </p:cNvPr>
            <p:cNvGrpSpPr/>
            <p:nvPr/>
          </p:nvGrpSpPr>
          <p:grpSpPr>
            <a:xfrm>
              <a:off x="5157462" y="1767612"/>
              <a:ext cx="1669549" cy="246221"/>
              <a:chOff x="5557997" y="1765121"/>
              <a:chExt cx="1669549" cy="246221"/>
            </a:xfrm>
          </p:grpSpPr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6F8599C3-8E91-DACA-1DC1-1EB8F01A3E7B}"/>
                  </a:ext>
                </a:extLst>
              </p:cNvPr>
              <p:cNvSpPr/>
              <p:nvPr/>
            </p:nvSpPr>
            <p:spPr>
              <a:xfrm>
                <a:off x="555799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8CD01148-272C-65C0-C597-2FB284342CC3}"/>
                  </a:ext>
                </a:extLst>
              </p:cNvPr>
              <p:cNvSpPr/>
              <p:nvPr/>
            </p:nvSpPr>
            <p:spPr>
              <a:xfrm>
                <a:off x="5895166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F815A276-D182-D706-C645-5C971A4DDCB6}"/>
                  </a:ext>
                </a:extLst>
              </p:cNvPr>
              <p:cNvSpPr/>
              <p:nvPr/>
            </p:nvSpPr>
            <p:spPr>
              <a:xfrm>
                <a:off x="622418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DF6C6ED5-0FCA-BF43-F1EC-BAAD6D79421E}"/>
                  </a:ext>
                </a:extLst>
              </p:cNvPr>
              <p:cNvSpPr/>
              <p:nvPr/>
            </p:nvSpPr>
            <p:spPr>
              <a:xfrm>
                <a:off x="6553208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60BF6E99-C25E-F777-9B27-FA95F68AB900}"/>
                  </a:ext>
                </a:extLst>
              </p:cNvPr>
              <p:cNvSpPr/>
              <p:nvPr/>
            </p:nvSpPr>
            <p:spPr>
              <a:xfrm>
                <a:off x="689037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D69463-1016-9125-CECD-7B1DC8E2054E}"/>
                </a:ext>
              </a:extLst>
            </p:cNvPr>
            <p:cNvSpPr txBox="1"/>
            <p:nvPr/>
          </p:nvSpPr>
          <p:spPr>
            <a:xfrm>
              <a:off x="5073686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76B7EC-E7C4-9824-F1B1-6125565537EB}"/>
                </a:ext>
              </a:extLst>
            </p:cNvPr>
            <p:cNvSpPr txBox="1"/>
            <p:nvPr/>
          </p:nvSpPr>
          <p:spPr>
            <a:xfrm>
              <a:off x="5429538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CF8A899-7B0E-98E8-08D5-AE0B6854B165}"/>
                </a:ext>
              </a:extLst>
            </p:cNvPr>
            <p:cNvSpPr txBox="1"/>
            <p:nvPr/>
          </p:nvSpPr>
          <p:spPr>
            <a:xfrm>
              <a:off x="5760563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91A653-ABCA-D453-3BD1-747A570D48B1}"/>
                </a:ext>
              </a:extLst>
            </p:cNvPr>
            <p:cNvSpPr txBox="1"/>
            <p:nvPr/>
          </p:nvSpPr>
          <p:spPr>
            <a:xfrm>
              <a:off x="6089584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B3AA9F-AEE5-98A9-1440-051438F09C27}"/>
                </a:ext>
              </a:extLst>
            </p:cNvPr>
            <p:cNvSpPr txBox="1"/>
            <p:nvPr/>
          </p:nvSpPr>
          <p:spPr>
            <a:xfrm>
              <a:off x="6418605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0B09EE-D6EA-B7A9-CB7C-252D278C386F}"/>
                </a:ext>
              </a:extLst>
            </p:cNvPr>
            <p:cNvSpPr txBox="1"/>
            <p:nvPr/>
          </p:nvSpPr>
          <p:spPr>
            <a:xfrm>
              <a:off x="8251087" y="1577814"/>
              <a:ext cx="978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pc="-5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 SLM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9E13AF-40BB-0FCF-11D2-4F07B2A7D5A7}"/>
                </a:ext>
              </a:extLst>
            </p:cNvPr>
            <p:cNvSpPr txBox="1"/>
            <p:nvPr/>
          </p:nvSpPr>
          <p:spPr>
            <a:xfrm>
              <a:off x="8251087" y="1888232"/>
              <a:ext cx="39103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original from Lloyd Russell 2017</a:t>
              </a:r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23DB484C-EE74-C5AB-A025-DCF0ADD16A69}"/>
                </a:ext>
              </a:extLst>
            </p:cNvPr>
            <p:cNvSpPr/>
            <p:nvPr/>
          </p:nvSpPr>
          <p:spPr>
            <a:xfrm>
              <a:off x="3516294" y="2653528"/>
              <a:ext cx="337170" cy="246221"/>
            </a:xfrm>
            <a:prstGeom prst="rightArrow">
              <a:avLst/>
            </a:prstGeom>
            <a:gradFill>
              <a:gsLst>
                <a:gs pos="0">
                  <a:srgbClr val="336CBE"/>
                </a:gs>
                <a:gs pos="100000">
                  <a:srgbClr val="80201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332A509-26D4-3AD7-C6FF-89E1D36C7215}"/>
                </a:ext>
              </a:extLst>
            </p:cNvPr>
            <p:cNvSpPr txBox="1"/>
            <p:nvPr/>
          </p:nvSpPr>
          <p:spPr>
            <a:xfrm>
              <a:off x="3902528" y="2563354"/>
              <a:ext cx="70821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Noted that, it is possible that during one specific iteration (</a:t>
              </a:r>
              <a:r>
                <a:rPr lang="en-US" sz="1200" b="0" i="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occurs randomly</a:t>
              </a:r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from Bruker-&gt;MATLAB data reading, the sample size is 0, even during continuous recording;  But it </a:t>
              </a:r>
              <a:r>
                <a:rPr lang="en-US" sz="1200" b="0" i="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is very rare that such case occurs continuously twice</a:t>
              </a:r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 (when I say “rare” means I never saw that).</a:t>
              </a:r>
              <a:endParaRPr 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F785350-0280-A898-1A23-DC77A69DEC16}"/>
                </a:ext>
              </a:extLst>
            </p:cNvPr>
            <p:cNvSpPr txBox="1"/>
            <p:nvPr/>
          </p:nvSpPr>
          <p:spPr>
            <a:xfrm>
              <a:off x="1806735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42C855-D68E-04E9-3555-14FDCDFC18C5}"/>
                </a:ext>
              </a:extLst>
            </p:cNvPr>
            <p:cNvSpPr txBox="1"/>
            <p:nvPr/>
          </p:nvSpPr>
          <p:spPr>
            <a:xfrm>
              <a:off x="217247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0C7E849-C0B3-C2BD-D48C-C521081F3D16}"/>
                </a:ext>
              </a:extLst>
            </p:cNvPr>
            <p:cNvSpPr txBox="1"/>
            <p:nvPr/>
          </p:nvSpPr>
          <p:spPr>
            <a:xfrm>
              <a:off x="2659132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C87821F-E7A4-8237-45CC-922BBB9657BD}"/>
                </a:ext>
              </a:extLst>
            </p:cNvPr>
            <p:cNvSpPr txBox="1"/>
            <p:nvPr/>
          </p:nvSpPr>
          <p:spPr>
            <a:xfrm>
              <a:off x="3140121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520BC2-E599-86E2-C7BD-89596AA0F1D7}"/>
                </a:ext>
              </a:extLst>
            </p:cNvPr>
            <p:cNvSpPr txBox="1"/>
            <p:nvPr/>
          </p:nvSpPr>
          <p:spPr>
            <a:xfrm>
              <a:off x="353922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82C9E0-1759-75AD-F64B-01352AEE6DEF}"/>
                </a:ext>
              </a:extLst>
            </p:cNvPr>
            <p:cNvSpPr txBox="1"/>
            <p:nvPr/>
          </p:nvSpPr>
          <p:spPr>
            <a:xfrm>
              <a:off x="196000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44745E1-EDD2-0616-A061-768BC9493EAC}"/>
                </a:ext>
              </a:extLst>
            </p:cNvPr>
            <p:cNvSpPr txBox="1"/>
            <p:nvPr/>
          </p:nvSpPr>
          <p:spPr>
            <a:xfrm>
              <a:off x="2299206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9B3D07F-0ACB-1103-C8EC-11184A5E76AF}"/>
                </a:ext>
              </a:extLst>
            </p:cNvPr>
            <p:cNvSpPr txBox="1"/>
            <p:nvPr/>
          </p:nvSpPr>
          <p:spPr>
            <a:xfrm>
              <a:off x="2638404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D002554-B986-CAF0-00A9-17A0B2CB112B}"/>
                </a:ext>
              </a:extLst>
            </p:cNvPr>
            <p:cNvSpPr txBox="1"/>
            <p:nvPr/>
          </p:nvSpPr>
          <p:spPr>
            <a:xfrm>
              <a:off x="2977601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BCE5EAF-AFEE-7F97-3E7A-CF1A2BD97473}"/>
                </a:ext>
              </a:extLst>
            </p:cNvPr>
            <p:cNvSpPr txBox="1"/>
            <p:nvPr/>
          </p:nvSpPr>
          <p:spPr>
            <a:xfrm>
              <a:off x="331679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5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A5B6105-6655-8D31-AC75-D23930B5DB90}"/>
                </a:ext>
              </a:extLst>
            </p:cNvPr>
            <p:cNvCxnSpPr>
              <a:cxnSpLocks/>
            </p:cNvCxnSpPr>
            <p:nvPr/>
          </p:nvCxnSpPr>
          <p:spPr>
            <a:xfrm>
              <a:off x="2194275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15D5089-30D9-7046-D318-350584F94A92}"/>
                </a:ext>
              </a:extLst>
            </p:cNvPr>
            <p:cNvCxnSpPr>
              <a:cxnSpLocks/>
            </p:cNvCxnSpPr>
            <p:nvPr/>
          </p:nvCxnSpPr>
          <p:spPr>
            <a:xfrm>
              <a:off x="2532883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EF5FE37-A006-29D3-3168-FDDB1CF3E0B0}"/>
                </a:ext>
              </a:extLst>
            </p:cNvPr>
            <p:cNvCxnSpPr>
              <a:cxnSpLocks/>
            </p:cNvCxnSpPr>
            <p:nvPr/>
          </p:nvCxnSpPr>
          <p:spPr>
            <a:xfrm>
              <a:off x="2871491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750E873-36BD-9BA4-EFB5-6CB31886F724}"/>
                </a:ext>
              </a:extLst>
            </p:cNvPr>
            <p:cNvCxnSpPr>
              <a:cxnSpLocks/>
            </p:cNvCxnSpPr>
            <p:nvPr/>
          </p:nvCxnSpPr>
          <p:spPr>
            <a:xfrm>
              <a:off x="3210099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37FEF6A-AF28-634D-FD08-C8942F867BBB}"/>
                </a:ext>
              </a:extLst>
            </p:cNvPr>
            <p:cNvCxnSpPr>
              <a:cxnSpLocks/>
            </p:cNvCxnSpPr>
            <p:nvPr/>
          </p:nvCxnSpPr>
          <p:spPr>
            <a:xfrm>
              <a:off x="3548708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4B53BBC-EE49-7B13-904E-233A5CFB55F7}"/>
              </a:ext>
            </a:extLst>
          </p:cNvPr>
          <p:cNvGrpSpPr/>
          <p:nvPr/>
        </p:nvGrpSpPr>
        <p:grpSpPr>
          <a:xfrm>
            <a:off x="997769" y="3505415"/>
            <a:ext cx="8579367" cy="1768852"/>
            <a:chOff x="997769" y="1325563"/>
            <a:chExt cx="8579367" cy="176885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8E4D5E-CE72-4645-047A-334810E7462A}"/>
                </a:ext>
              </a:extLst>
            </p:cNvPr>
            <p:cNvGrpSpPr/>
            <p:nvPr/>
          </p:nvGrpSpPr>
          <p:grpSpPr>
            <a:xfrm>
              <a:off x="997769" y="1325563"/>
              <a:ext cx="6691614" cy="954239"/>
              <a:chOff x="451504" y="3781306"/>
              <a:chExt cx="6691614" cy="954239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E2CF9499-E160-8BE8-62F9-AFBCA29068BC}"/>
                  </a:ext>
                </a:extLst>
              </p:cNvPr>
              <p:cNvGrpSpPr/>
              <p:nvPr/>
            </p:nvGrpSpPr>
            <p:grpSpPr>
              <a:xfrm>
                <a:off x="451504" y="3781306"/>
                <a:ext cx="3963812" cy="954239"/>
                <a:chOff x="451504" y="3781306"/>
                <a:chExt cx="3963812" cy="954239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F0CF5F05-2223-19BC-4E5C-338DA90CC050}"/>
                    </a:ext>
                  </a:extLst>
                </p:cNvPr>
                <p:cNvSpPr txBox="1"/>
                <p:nvPr/>
              </p:nvSpPr>
              <p:spPr>
                <a:xfrm>
                  <a:off x="2005618" y="3933208"/>
                  <a:ext cx="115065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 flow</a:t>
                  </a:r>
                </a:p>
              </p:txBody>
            </p: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4404C90A-EF09-69AA-B035-BA4DFF39B0C5}"/>
                    </a:ext>
                  </a:extLst>
                </p:cNvPr>
                <p:cNvGrpSpPr/>
                <p:nvPr/>
              </p:nvGrpSpPr>
              <p:grpSpPr>
                <a:xfrm>
                  <a:off x="451504" y="3944083"/>
                  <a:ext cx="3963812" cy="791462"/>
                  <a:chOff x="937057" y="1544882"/>
                  <a:chExt cx="3963812" cy="791462"/>
                </a:xfrm>
              </p:grpSpPr>
              <p:pic>
                <p:nvPicPr>
                  <p:cNvPr id="109" name="Picture 2" descr="Bruker (@bruker) / X">
                    <a:extLst>
                      <a:ext uri="{FF2B5EF4-FFF2-40B4-BE49-F238E27FC236}">
                        <a16:creationId xmlns:a16="http://schemas.microsoft.com/office/drawing/2014/main" id="{1E251633-7DA5-700A-1761-548B0E622F9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37057" y="1544882"/>
                    <a:ext cx="788790" cy="78879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10" name="Picture 4" descr="MATLAB - Wikipedia">
                    <a:extLst>
                      <a:ext uri="{FF2B5EF4-FFF2-40B4-BE49-F238E27FC236}">
                        <a16:creationId xmlns:a16="http://schemas.microsoft.com/office/drawing/2014/main" id="{BE8EC11E-2166-40E1-7B26-DB93E0B763D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025377" y="1553205"/>
                    <a:ext cx="875492" cy="7831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F948DDDA-E133-B557-4D1D-0AC60026634A}"/>
                    </a:ext>
                  </a:extLst>
                </p:cNvPr>
                <p:cNvGrpSpPr/>
                <p:nvPr/>
              </p:nvGrpSpPr>
              <p:grpSpPr>
                <a:xfrm>
                  <a:off x="1337225" y="4210207"/>
                  <a:ext cx="2189866" cy="246221"/>
                  <a:chOff x="1337225" y="4210207"/>
                  <a:chExt cx="2189866" cy="246221"/>
                </a:xfrm>
              </p:grpSpPr>
              <p:sp>
                <p:nvSpPr>
                  <p:cNvPr id="104" name="Arrow: Right 103">
                    <a:extLst>
                      <a:ext uri="{FF2B5EF4-FFF2-40B4-BE49-F238E27FC236}">
                        <a16:creationId xmlns:a16="http://schemas.microsoft.com/office/drawing/2014/main" id="{B009C80A-E1DF-9970-79E6-759F09EE5F96}"/>
                      </a:ext>
                    </a:extLst>
                  </p:cNvPr>
                  <p:cNvSpPr/>
                  <p:nvPr/>
                </p:nvSpPr>
                <p:spPr>
                  <a:xfrm>
                    <a:off x="1337225" y="4210207"/>
                    <a:ext cx="337169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Arrow: Right 104">
                    <a:extLst>
                      <a:ext uri="{FF2B5EF4-FFF2-40B4-BE49-F238E27FC236}">
                        <a16:creationId xmlns:a16="http://schemas.microsoft.com/office/drawing/2014/main" id="{CA382ED1-9E22-F91F-EBCB-1F27D5931499}"/>
                      </a:ext>
                    </a:extLst>
                  </p:cNvPr>
                  <p:cNvSpPr/>
                  <p:nvPr/>
                </p:nvSpPr>
                <p:spPr>
                  <a:xfrm>
                    <a:off x="1676814" y="4210207"/>
                    <a:ext cx="532901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Arrow: Right 106">
                    <a:extLst>
                      <a:ext uri="{FF2B5EF4-FFF2-40B4-BE49-F238E27FC236}">
                        <a16:creationId xmlns:a16="http://schemas.microsoft.com/office/drawing/2014/main" id="{73EFBD58-E8B9-F30D-18A2-060A4631D168}"/>
                      </a:ext>
                    </a:extLst>
                  </p:cNvPr>
                  <p:cNvSpPr/>
                  <p:nvPr/>
                </p:nvSpPr>
                <p:spPr>
                  <a:xfrm>
                    <a:off x="2640548" y="4210207"/>
                    <a:ext cx="337170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" name="Arrow: Right 107">
                    <a:extLst>
                      <a:ext uri="{FF2B5EF4-FFF2-40B4-BE49-F238E27FC236}">
                        <a16:creationId xmlns:a16="http://schemas.microsoft.com/office/drawing/2014/main" id="{02CCDC11-CAFE-140A-E62A-368226750FC4}"/>
                      </a:ext>
                    </a:extLst>
                  </p:cNvPr>
                  <p:cNvSpPr/>
                  <p:nvPr/>
                </p:nvSpPr>
                <p:spPr>
                  <a:xfrm>
                    <a:off x="2970029" y="4210207"/>
                    <a:ext cx="557062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3644A36-AB54-AB4D-2FFE-4EF53A01A692}"/>
                    </a:ext>
                  </a:extLst>
                </p:cNvPr>
                <p:cNvSpPr txBox="1"/>
                <p:nvPr/>
              </p:nvSpPr>
              <p:spPr>
                <a:xfrm>
                  <a:off x="1559241" y="3781306"/>
                  <a:ext cx="2043406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Pause for SLM</a:t>
                  </a:r>
                </a:p>
              </p:txBody>
            </p:sp>
          </p:grpSp>
          <p:pic>
            <p:nvPicPr>
              <p:cNvPr id="99" name="Picture 2">
                <a:extLst>
                  <a:ext uri="{FF2B5EF4-FFF2-40B4-BE49-F238E27FC236}">
                    <a16:creationId xmlns:a16="http://schemas.microsoft.com/office/drawing/2014/main" id="{D30B0B3E-66BB-DC45-5A99-4C39490375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598" y="4138713"/>
                <a:ext cx="731520" cy="528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26A2DCA-C141-FDA9-E068-306B64152C7B}"/>
                </a:ext>
              </a:extLst>
            </p:cNvPr>
            <p:cNvGrpSpPr/>
            <p:nvPr/>
          </p:nvGrpSpPr>
          <p:grpSpPr>
            <a:xfrm>
              <a:off x="5157462" y="1767612"/>
              <a:ext cx="1669549" cy="246221"/>
              <a:chOff x="5557997" y="1765121"/>
              <a:chExt cx="1669549" cy="246221"/>
            </a:xfrm>
          </p:grpSpPr>
          <p:sp>
            <p:nvSpPr>
              <p:cNvPr id="93" name="Arrow: Right 92">
                <a:extLst>
                  <a:ext uri="{FF2B5EF4-FFF2-40B4-BE49-F238E27FC236}">
                    <a16:creationId xmlns:a16="http://schemas.microsoft.com/office/drawing/2014/main" id="{ECE1510D-AE7C-0EB4-388B-D81030ACD6FD}"/>
                  </a:ext>
                </a:extLst>
              </p:cNvPr>
              <p:cNvSpPr/>
              <p:nvPr/>
            </p:nvSpPr>
            <p:spPr>
              <a:xfrm>
                <a:off x="555799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Arrow: Right 93">
                <a:extLst>
                  <a:ext uri="{FF2B5EF4-FFF2-40B4-BE49-F238E27FC236}">
                    <a16:creationId xmlns:a16="http://schemas.microsoft.com/office/drawing/2014/main" id="{5E1239E2-A5E8-ACE2-CF87-1733927A80CA}"/>
                  </a:ext>
                </a:extLst>
              </p:cNvPr>
              <p:cNvSpPr/>
              <p:nvPr/>
            </p:nvSpPr>
            <p:spPr>
              <a:xfrm>
                <a:off x="5895166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row: Right 94">
                <a:extLst>
                  <a:ext uri="{FF2B5EF4-FFF2-40B4-BE49-F238E27FC236}">
                    <a16:creationId xmlns:a16="http://schemas.microsoft.com/office/drawing/2014/main" id="{FDDD806E-263C-4F10-1D00-C650E22DEF0D}"/>
                  </a:ext>
                </a:extLst>
              </p:cNvPr>
              <p:cNvSpPr/>
              <p:nvPr/>
            </p:nvSpPr>
            <p:spPr>
              <a:xfrm>
                <a:off x="622418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Arrow: Right 95">
                <a:extLst>
                  <a:ext uri="{FF2B5EF4-FFF2-40B4-BE49-F238E27FC236}">
                    <a16:creationId xmlns:a16="http://schemas.microsoft.com/office/drawing/2014/main" id="{70304EE6-C046-0D90-BC54-B4366E9DBBB2}"/>
                  </a:ext>
                </a:extLst>
              </p:cNvPr>
              <p:cNvSpPr/>
              <p:nvPr/>
            </p:nvSpPr>
            <p:spPr>
              <a:xfrm>
                <a:off x="6553208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Arrow: Right 96">
                <a:extLst>
                  <a:ext uri="{FF2B5EF4-FFF2-40B4-BE49-F238E27FC236}">
                    <a16:creationId xmlns:a16="http://schemas.microsoft.com/office/drawing/2014/main" id="{83A9DD08-4B05-0825-492F-5B35A9CA65C9}"/>
                  </a:ext>
                </a:extLst>
              </p:cNvPr>
              <p:cNvSpPr/>
              <p:nvPr/>
            </p:nvSpPr>
            <p:spPr>
              <a:xfrm>
                <a:off x="689037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50B08C0-DDFF-99A7-E064-7DC700210E21}"/>
                </a:ext>
              </a:extLst>
            </p:cNvPr>
            <p:cNvSpPr txBox="1"/>
            <p:nvPr/>
          </p:nvSpPr>
          <p:spPr>
            <a:xfrm>
              <a:off x="5073686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46B9F08-7B86-4C29-346C-FFA6D5EDAF6B}"/>
                </a:ext>
              </a:extLst>
            </p:cNvPr>
            <p:cNvSpPr txBox="1"/>
            <p:nvPr/>
          </p:nvSpPr>
          <p:spPr>
            <a:xfrm>
              <a:off x="5429538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9A777E-D432-3028-2228-3885AF9BC47D}"/>
                </a:ext>
              </a:extLst>
            </p:cNvPr>
            <p:cNvSpPr txBox="1"/>
            <p:nvPr/>
          </p:nvSpPr>
          <p:spPr>
            <a:xfrm>
              <a:off x="5760563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7DFDC4E-E4D8-5A57-F463-9B1B2BD8FAA2}"/>
                </a:ext>
              </a:extLst>
            </p:cNvPr>
            <p:cNvSpPr txBox="1"/>
            <p:nvPr/>
          </p:nvSpPr>
          <p:spPr>
            <a:xfrm>
              <a:off x="6089584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C9E2E39-4DB2-1D98-1F34-143660803F05}"/>
                </a:ext>
              </a:extLst>
            </p:cNvPr>
            <p:cNvSpPr txBox="1"/>
            <p:nvPr/>
          </p:nvSpPr>
          <p:spPr>
            <a:xfrm>
              <a:off x="6418605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7835D0F-7AD7-20A8-0355-99A993DB62E4}"/>
                </a:ext>
              </a:extLst>
            </p:cNvPr>
            <p:cNvSpPr txBox="1"/>
            <p:nvPr/>
          </p:nvSpPr>
          <p:spPr>
            <a:xfrm>
              <a:off x="8251087" y="1577814"/>
              <a:ext cx="978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pc="-5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SLM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014D52B-B410-7AD3-5849-7563E53E29A4}"/>
                </a:ext>
              </a:extLst>
            </p:cNvPr>
            <p:cNvSpPr txBox="1"/>
            <p:nvPr/>
          </p:nvSpPr>
          <p:spPr>
            <a:xfrm>
              <a:off x="3902527" y="2632750"/>
              <a:ext cx="56746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Redundant data detected, clean the buffer; Pause the data processing till new data coming.  </a:t>
              </a:r>
              <a:endParaRPr lang="en-US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9CFB1AE-BC6A-CEC4-0B0C-A94EAB7B9A2E}"/>
                </a:ext>
              </a:extLst>
            </p:cNvPr>
            <p:cNvSpPr txBox="1"/>
            <p:nvPr/>
          </p:nvSpPr>
          <p:spPr>
            <a:xfrm>
              <a:off x="1806735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E037D6-D65C-A393-6535-3F9061E1891E}"/>
                </a:ext>
              </a:extLst>
            </p:cNvPr>
            <p:cNvSpPr txBox="1"/>
            <p:nvPr/>
          </p:nvSpPr>
          <p:spPr>
            <a:xfrm>
              <a:off x="217247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6BD5BF0-66E7-E638-6486-D7DFDCA22D7C}"/>
                </a:ext>
              </a:extLst>
            </p:cNvPr>
            <p:cNvSpPr txBox="1"/>
            <p:nvPr/>
          </p:nvSpPr>
          <p:spPr>
            <a:xfrm>
              <a:off x="3140121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06522CE-4F5D-1113-FFD2-74EA389732BE}"/>
                </a:ext>
              </a:extLst>
            </p:cNvPr>
            <p:cNvSpPr txBox="1"/>
            <p:nvPr/>
          </p:nvSpPr>
          <p:spPr>
            <a:xfrm>
              <a:off x="353922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AAD5EF-2B53-E7EE-D3BD-E454FE787A8E}"/>
                </a:ext>
              </a:extLst>
            </p:cNvPr>
            <p:cNvSpPr txBox="1"/>
            <p:nvPr/>
          </p:nvSpPr>
          <p:spPr>
            <a:xfrm>
              <a:off x="196000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4F69140-D9F2-57FC-8F29-96A73B812078}"/>
                </a:ext>
              </a:extLst>
            </p:cNvPr>
            <p:cNvSpPr txBox="1"/>
            <p:nvPr/>
          </p:nvSpPr>
          <p:spPr>
            <a:xfrm>
              <a:off x="2299206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C5E8E97-CA20-F6CE-31C4-8EE18D3F17D5}"/>
                </a:ext>
              </a:extLst>
            </p:cNvPr>
            <p:cNvSpPr txBox="1"/>
            <p:nvPr/>
          </p:nvSpPr>
          <p:spPr>
            <a:xfrm>
              <a:off x="2977601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8829954-34F5-9A03-8E7B-34378BB362AD}"/>
                </a:ext>
              </a:extLst>
            </p:cNvPr>
            <p:cNvSpPr txBox="1"/>
            <p:nvPr/>
          </p:nvSpPr>
          <p:spPr>
            <a:xfrm>
              <a:off x="331679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8D4F45D-1468-001B-C4E5-FC99DF8904BD}"/>
                </a:ext>
              </a:extLst>
            </p:cNvPr>
            <p:cNvCxnSpPr>
              <a:cxnSpLocks/>
            </p:cNvCxnSpPr>
            <p:nvPr/>
          </p:nvCxnSpPr>
          <p:spPr>
            <a:xfrm>
              <a:off x="2194275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2699E84-A014-834B-9EF9-419D5A549A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4206" y="1655871"/>
              <a:ext cx="8677" cy="1335981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4FAD31E-B0D5-8CAA-1ECA-384C71DD634D}"/>
                </a:ext>
              </a:extLst>
            </p:cNvPr>
            <p:cNvCxnSpPr>
              <a:cxnSpLocks/>
            </p:cNvCxnSpPr>
            <p:nvPr/>
          </p:nvCxnSpPr>
          <p:spPr>
            <a:xfrm>
              <a:off x="3186347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85871B3-DF9E-F9E5-B1F3-973A90BB70E0}"/>
                </a:ext>
              </a:extLst>
            </p:cNvPr>
            <p:cNvCxnSpPr>
              <a:cxnSpLocks/>
            </p:cNvCxnSpPr>
            <p:nvPr/>
          </p:nvCxnSpPr>
          <p:spPr>
            <a:xfrm>
              <a:off x="3519018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298C224-6AEC-78C0-40EC-3BC51B72118B}"/>
              </a:ext>
            </a:extLst>
          </p:cNvPr>
          <p:cNvCxnSpPr>
            <a:cxnSpLocks/>
          </p:cNvCxnSpPr>
          <p:nvPr/>
        </p:nvCxnSpPr>
        <p:spPr>
          <a:xfrm>
            <a:off x="2749207" y="3850946"/>
            <a:ext cx="6773" cy="1320758"/>
          </a:xfrm>
          <a:prstGeom prst="line">
            <a:avLst/>
          </a:prstGeom>
          <a:ln w="19050">
            <a:solidFill>
              <a:srgbClr val="D41C9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510328C-5D7F-D06E-02EB-22D76F066E04}"/>
              </a:ext>
            </a:extLst>
          </p:cNvPr>
          <p:cNvCxnSpPr>
            <a:cxnSpLocks/>
          </p:cNvCxnSpPr>
          <p:nvPr/>
        </p:nvCxnSpPr>
        <p:spPr>
          <a:xfrm>
            <a:off x="2526008" y="4937672"/>
            <a:ext cx="244000" cy="0"/>
          </a:xfrm>
          <a:prstGeom prst="straightConnector1">
            <a:avLst/>
          </a:prstGeom>
          <a:ln>
            <a:solidFill>
              <a:srgbClr val="D41C9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A57780C-0572-FF2D-5D50-0C2CE52114AD}"/>
              </a:ext>
            </a:extLst>
          </p:cNvPr>
          <p:cNvCxnSpPr>
            <a:cxnSpLocks/>
          </p:cNvCxnSpPr>
          <p:nvPr/>
        </p:nvCxnSpPr>
        <p:spPr>
          <a:xfrm>
            <a:off x="3523983" y="4933230"/>
            <a:ext cx="244000" cy="0"/>
          </a:xfrm>
          <a:prstGeom prst="straightConnector1">
            <a:avLst/>
          </a:prstGeom>
          <a:ln>
            <a:solidFill>
              <a:srgbClr val="D41C9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03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6DCD-412B-9606-ADA9-59773BA0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60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Bruker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Recording, 1 SLM Trial/File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CF9499-E160-8BE8-62F9-AFBCA29068BC}"/>
              </a:ext>
            </a:extLst>
          </p:cNvPr>
          <p:cNvGrpSpPr/>
          <p:nvPr/>
        </p:nvGrpSpPr>
        <p:grpSpPr>
          <a:xfrm>
            <a:off x="4604854" y="1325563"/>
            <a:ext cx="3362203" cy="1156807"/>
            <a:chOff x="451504" y="3576066"/>
            <a:chExt cx="3362203" cy="115680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0CF5F05-2223-19BC-4E5C-338DA90CC050}"/>
                </a:ext>
              </a:extLst>
            </p:cNvPr>
            <p:cNvSpPr txBox="1"/>
            <p:nvPr/>
          </p:nvSpPr>
          <p:spPr>
            <a:xfrm>
              <a:off x="1906319" y="3789653"/>
              <a:ext cx="11506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flow</a:t>
              </a:r>
            </a:p>
          </p:txBody>
        </p:sp>
        <p:pic>
          <p:nvPicPr>
            <p:cNvPr id="109" name="Picture 2" descr="Bruker (@bruker) / X">
              <a:extLst>
                <a:ext uri="{FF2B5EF4-FFF2-40B4-BE49-F238E27FC236}">
                  <a16:creationId xmlns:a16="http://schemas.microsoft.com/office/drawing/2014/main" id="{1E251633-7DA5-700A-1761-548B0E622F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504" y="3944083"/>
              <a:ext cx="788790" cy="788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948DDDA-E133-B557-4D1D-0AC60026634A}"/>
                </a:ext>
              </a:extLst>
            </p:cNvPr>
            <p:cNvGrpSpPr/>
            <p:nvPr/>
          </p:nvGrpSpPr>
          <p:grpSpPr>
            <a:xfrm>
              <a:off x="1354490" y="4210207"/>
              <a:ext cx="2148304" cy="246221"/>
              <a:chOff x="1354490" y="4210207"/>
              <a:chExt cx="2148304" cy="246221"/>
            </a:xfrm>
          </p:grpSpPr>
          <p:sp>
            <p:nvSpPr>
              <p:cNvPr id="105" name="Arrow: Right 104">
                <a:extLst>
                  <a:ext uri="{FF2B5EF4-FFF2-40B4-BE49-F238E27FC236}">
                    <a16:creationId xmlns:a16="http://schemas.microsoft.com/office/drawing/2014/main" id="{CA382ED1-9E22-F91F-EBCB-1F27D5931499}"/>
                  </a:ext>
                </a:extLst>
              </p:cNvPr>
              <p:cNvSpPr/>
              <p:nvPr/>
            </p:nvSpPr>
            <p:spPr>
              <a:xfrm>
                <a:off x="1354490" y="4210207"/>
                <a:ext cx="621465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row: Right 106">
                <a:extLst>
                  <a:ext uri="{FF2B5EF4-FFF2-40B4-BE49-F238E27FC236}">
                    <a16:creationId xmlns:a16="http://schemas.microsoft.com/office/drawing/2014/main" id="{73EFBD58-E8B9-F30D-18A2-060A4631D168}"/>
                  </a:ext>
                </a:extLst>
              </p:cNvPr>
              <p:cNvSpPr/>
              <p:nvPr/>
            </p:nvSpPr>
            <p:spPr>
              <a:xfrm>
                <a:off x="2640547" y="4210207"/>
                <a:ext cx="862247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3644A36-AB54-AB4D-2FFE-4EF53A01A692}"/>
                </a:ext>
              </a:extLst>
            </p:cNvPr>
            <p:cNvSpPr txBox="1"/>
            <p:nvPr/>
          </p:nvSpPr>
          <p:spPr>
            <a:xfrm>
              <a:off x="1770301" y="3576066"/>
              <a:ext cx="20434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shutter closed</a:t>
              </a:r>
            </a:p>
          </p:txBody>
        </p:sp>
      </p:grpSp>
      <p:pic>
        <p:nvPicPr>
          <p:cNvPr id="99" name="Picture 2">
            <a:extLst>
              <a:ext uri="{FF2B5EF4-FFF2-40B4-BE49-F238E27FC236}">
                <a16:creationId xmlns:a16="http://schemas.microsoft.com/office/drawing/2014/main" id="{D30B0B3E-66BB-DC45-5A99-4C394903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417" y="1861111"/>
            <a:ext cx="731520" cy="52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0AAAD5EF-2B53-E7EE-D3BD-E454FE787A8E}"/>
              </a:ext>
            </a:extLst>
          </p:cNvPr>
          <p:cNvSpPr txBox="1"/>
          <p:nvPr/>
        </p:nvSpPr>
        <p:spPr>
          <a:xfrm>
            <a:off x="5567094" y="2417655"/>
            <a:ext cx="572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F69140-D9F2-57FC-8F29-96A73B812078}"/>
              </a:ext>
            </a:extLst>
          </p:cNvPr>
          <p:cNvSpPr txBox="1"/>
          <p:nvPr/>
        </p:nvSpPr>
        <p:spPr>
          <a:xfrm>
            <a:off x="5906291" y="2417655"/>
            <a:ext cx="59579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50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C5E8E97-CA20-F6CE-31C4-8EE18D3F17D5}"/>
              </a:ext>
            </a:extLst>
          </p:cNvPr>
          <p:cNvSpPr txBox="1"/>
          <p:nvPr/>
        </p:nvSpPr>
        <p:spPr>
          <a:xfrm>
            <a:off x="6584686" y="2417655"/>
            <a:ext cx="5463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51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829954-34F5-9A03-8E7B-34378BB362AD}"/>
              </a:ext>
            </a:extLst>
          </p:cNvPr>
          <p:cNvSpPr txBox="1"/>
          <p:nvPr/>
        </p:nvSpPr>
        <p:spPr>
          <a:xfrm>
            <a:off x="6923884" y="2417655"/>
            <a:ext cx="572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52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8D4F45D-1468-001B-C4E5-FC99DF8904BD}"/>
              </a:ext>
            </a:extLst>
          </p:cNvPr>
          <p:cNvCxnSpPr>
            <a:cxnSpLocks/>
          </p:cNvCxnSpPr>
          <p:nvPr/>
        </p:nvCxnSpPr>
        <p:spPr>
          <a:xfrm>
            <a:off x="5801360" y="186111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FAD31E-B0D5-8CAA-1ECA-384C71DD634D}"/>
              </a:ext>
            </a:extLst>
          </p:cNvPr>
          <p:cNvCxnSpPr>
            <a:cxnSpLocks/>
          </p:cNvCxnSpPr>
          <p:nvPr/>
        </p:nvCxnSpPr>
        <p:spPr>
          <a:xfrm>
            <a:off x="6793432" y="186111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85871B3-DF9E-F9E5-B1F3-973A90BB70E0}"/>
              </a:ext>
            </a:extLst>
          </p:cNvPr>
          <p:cNvCxnSpPr>
            <a:cxnSpLocks/>
          </p:cNvCxnSpPr>
          <p:nvPr/>
        </p:nvCxnSpPr>
        <p:spPr>
          <a:xfrm>
            <a:off x="7126103" y="186111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46EAB4-E1D2-4195-8826-A2167018139C}"/>
              </a:ext>
            </a:extLst>
          </p:cNvPr>
          <p:cNvCxnSpPr>
            <a:cxnSpLocks/>
          </p:cNvCxnSpPr>
          <p:nvPr/>
        </p:nvCxnSpPr>
        <p:spPr>
          <a:xfrm>
            <a:off x="6129305" y="186338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F5D304-DAB0-EF7F-39AF-F043C2147D10}"/>
              </a:ext>
            </a:extLst>
          </p:cNvPr>
          <p:cNvSpPr txBox="1"/>
          <p:nvPr/>
        </p:nvSpPr>
        <p:spPr>
          <a:xfrm>
            <a:off x="838200" y="1959704"/>
            <a:ext cx="3393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50 frames  -&gt; SLM -&gt; Imaging 20 frames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FCB90-ECCF-7C84-ED81-5A9A07F37CB2}"/>
              </a:ext>
            </a:extLst>
          </p:cNvPr>
          <p:cNvSpPr txBox="1"/>
          <p:nvPr/>
        </p:nvSpPr>
        <p:spPr>
          <a:xfrm>
            <a:off x="838200" y="1582317"/>
            <a:ext cx="3393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recording file (session) = One trial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21A090-7E7B-2B03-B3DF-5009F68564D6}"/>
              </a:ext>
            </a:extLst>
          </p:cNvPr>
          <p:cNvSpPr/>
          <p:nvPr/>
        </p:nvSpPr>
        <p:spPr>
          <a:xfrm>
            <a:off x="2449451" y="2773625"/>
            <a:ext cx="144725" cy="145229"/>
          </a:xfrm>
          <a:prstGeom prst="ellipse">
            <a:avLst/>
          </a:prstGeom>
          <a:solidFill>
            <a:srgbClr val="FF0000">
              <a:alpha val="2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28CECE-E32C-27A4-98A9-B3DA5F97DEA3}"/>
              </a:ext>
            </a:extLst>
          </p:cNvPr>
          <p:cNvSpPr/>
          <p:nvPr/>
        </p:nvSpPr>
        <p:spPr>
          <a:xfrm>
            <a:off x="2093681" y="2809397"/>
            <a:ext cx="144725" cy="145229"/>
          </a:xfrm>
          <a:prstGeom prst="ellipse">
            <a:avLst/>
          </a:prstGeom>
          <a:solidFill>
            <a:srgbClr val="FF0000">
              <a:alpha val="32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4C92EA-DC2C-F1B8-5CA5-611B23E664F3}"/>
              </a:ext>
            </a:extLst>
          </p:cNvPr>
          <p:cNvSpPr/>
          <p:nvPr/>
        </p:nvSpPr>
        <p:spPr>
          <a:xfrm>
            <a:off x="2373125" y="2976948"/>
            <a:ext cx="144725" cy="145229"/>
          </a:xfrm>
          <a:prstGeom prst="ellipse">
            <a:avLst/>
          </a:prstGeom>
          <a:solidFill>
            <a:srgbClr val="FF0000"/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2C745F-9862-4FA4-3641-33749D4F5A72}"/>
              </a:ext>
            </a:extLst>
          </p:cNvPr>
          <p:cNvSpPr/>
          <p:nvPr/>
        </p:nvSpPr>
        <p:spPr>
          <a:xfrm>
            <a:off x="2717490" y="2882903"/>
            <a:ext cx="144725" cy="145229"/>
          </a:xfrm>
          <a:prstGeom prst="ellipse">
            <a:avLst/>
          </a:prstGeom>
          <a:solidFill>
            <a:srgbClr val="FF0000">
              <a:alpha val="85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0FBF666-8A09-E12D-D864-F499C4D70FBF}"/>
              </a:ext>
            </a:extLst>
          </p:cNvPr>
          <p:cNvSpPr/>
          <p:nvPr/>
        </p:nvSpPr>
        <p:spPr>
          <a:xfrm>
            <a:off x="2625674" y="2547454"/>
            <a:ext cx="144725" cy="145229"/>
          </a:xfrm>
          <a:prstGeom prst="ellipse">
            <a:avLst/>
          </a:prstGeom>
          <a:solidFill>
            <a:srgbClr val="FF0000">
              <a:alpha val="5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9BE4EA2-4339-7C9D-1235-973E07946950}"/>
              </a:ext>
            </a:extLst>
          </p:cNvPr>
          <p:cNvSpPr/>
          <p:nvPr/>
        </p:nvSpPr>
        <p:spPr>
          <a:xfrm>
            <a:off x="2304726" y="2592194"/>
            <a:ext cx="144725" cy="145229"/>
          </a:xfrm>
          <a:prstGeom prst="ellipse">
            <a:avLst/>
          </a:prstGeom>
          <a:solidFill>
            <a:srgbClr val="FF0000">
              <a:alpha val="60000"/>
            </a:srgbClr>
          </a:solidFill>
          <a:ln w="2540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773389-6AFD-C07E-69DE-DE7AFBC56E3E}"/>
              </a:ext>
            </a:extLst>
          </p:cNvPr>
          <p:cNvSpPr txBox="1"/>
          <p:nvPr/>
        </p:nvSpPr>
        <p:spPr>
          <a:xfrm>
            <a:off x="3066032" y="2692683"/>
            <a:ext cx="6761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holographic stimulation pattern in this recording is predefined by a pair of setting files: (.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and a .xml file. )</a:t>
            </a:r>
            <a:endParaRPr lang="en-US" sz="1200" dirty="0"/>
          </a:p>
        </p:txBody>
      </p: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55575E0F-8CA5-C198-886D-E5D332F6B362}"/>
              </a:ext>
            </a:extLst>
          </p:cNvPr>
          <p:cNvSpPr/>
          <p:nvPr/>
        </p:nvSpPr>
        <p:spPr>
          <a:xfrm rot="5553452">
            <a:off x="8852385" y="3648024"/>
            <a:ext cx="2763824" cy="861025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64ABE8F-00C4-D13D-6DEF-77B07D247A88}"/>
              </a:ext>
            </a:extLst>
          </p:cNvPr>
          <p:cNvGrpSpPr>
            <a:grpSpLocks noChangeAspect="1"/>
          </p:cNvGrpSpPr>
          <p:nvPr/>
        </p:nvGrpSpPr>
        <p:grpSpPr>
          <a:xfrm>
            <a:off x="8304734" y="3402924"/>
            <a:ext cx="2106741" cy="1320758"/>
            <a:chOff x="5481552" y="2428735"/>
            <a:chExt cx="3145458" cy="1971950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FB50570-26F4-4158-8006-59C8115D1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1552" y="2457314"/>
              <a:ext cx="1228896" cy="1943371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E519935D-C1CE-4B5B-BB90-27DE58D55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83692" y="2428735"/>
              <a:ext cx="1743318" cy="1971950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D5E05BE-ADE5-4B46-0651-224C9FA21A00}"/>
              </a:ext>
            </a:extLst>
          </p:cNvPr>
          <p:cNvSpPr txBox="1"/>
          <p:nvPr/>
        </p:nvSpPr>
        <p:spPr>
          <a:xfrm>
            <a:off x="838200" y="5543818"/>
            <a:ext cx="3907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works power customization of single cell SLM power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CDD5974-51F1-AB58-C61B-802354ED4DFE}"/>
              </a:ext>
            </a:extLst>
          </p:cNvPr>
          <p:cNvSpPr txBox="1"/>
          <p:nvPr/>
        </p:nvSpPr>
        <p:spPr>
          <a:xfrm>
            <a:off x="10726046" y="2606095"/>
            <a:ext cx="13905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a 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pre-defined file lists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could automatically executed in MATLAB controlled PV-Link environment for any the experiments design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928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6DCD-412B-9606-ADA9-59773BA0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60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Bruker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Recording, 1 SLM Trial/File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2CF9499-E160-8BE8-62F9-AFBCA29068BC}"/>
              </a:ext>
            </a:extLst>
          </p:cNvPr>
          <p:cNvGrpSpPr/>
          <p:nvPr/>
        </p:nvGrpSpPr>
        <p:grpSpPr>
          <a:xfrm>
            <a:off x="4604854" y="1325563"/>
            <a:ext cx="3362203" cy="1156807"/>
            <a:chOff x="451504" y="3576066"/>
            <a:chExt cx="3362203" cy="115680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0CF5F05-2223-19BC-4E5C-338DA90CC050}"/>
                </a:ext>
              </a:extLst>
            </p:cNvPr>
            <p:cNvSpPr txBox="1"/>
            <p:nvPr/>
          </p:nvSpPr>
          <p:spPr>
            <a:xfrm>
              <a:off x="1906319" y="3789653"/>
              <a:ext cx="115065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flow</a:t>
              </a:r>
            </a:p>
          </p:txBody>
        </p:sp>
        <p:pic>
          <p:nvPicPr>
            <p:cNvPr id="109" name="Picture 2" descr="Bruker (@bruker) / X">
              <a:extLst>
                <a:ext uri="{FF2B5EF4-FFF2-40B4-BE49-F238E27FC236}">
                  <a16:creationId xmlns:a16="http://schemas.microsoft.com/office/drawing/2014/main" id="{1E251633-7DA5-700A-1761-548B0E622F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504" y="3944083"/>
              <a:ext cx="788790" cy="7887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948DDDA-E133-B557-4D1D-0AC60026634A}"/>
                </a:ext>
              </a:extLst>
            </p:cNvPr>
            <p:cNvGrpSpPr/>
            <p:nvPr/>
          </p:nvGrpSpPr>
          <p:grpSpPr>
            <a:xfrm>
              <a:off x="1354490" y="4210207"/>
              <a:ext cx="2148304" cy="246221"/>
              <a:chOff x="1354490" y="4210207"/>
              <a:chExt cx="2148304" cy="246221"/>
            </a:xfrm>
          </p:grpSpPr>
          <p:sp>
            <p:nvSpPr>
              <p:cNvPr id="105" name="Arrow: Right 104">
                <a:extLst>
                  <a:ext uri="{FF2B5EF4-FFF2-40B4-BE49-F238E27FC236}">
                    <a16:creationId xmlns:a16="http://schemas.microsoft.com/office/drawing/2014/main" id="{CA382ED1-9E22-F91F-EBCB-1F27D5931499}"/>
                  </a:ext>
                </a:extLst>
              </p:cNvPr>
              <p:cNvSpPr/>
              <p:nvPr/>
            </p:nvSpPr>
            <p:spPr>
              <a:xfrm>
                <a:off x="1354490" y="4210207"/>
                <a:ext cx="621465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Arrow: Right 106">
                <a:extLst>
                  <a:ext uri="{FF2B5EF4-FFF2-40B4-BE49-F238E27FC236}">
                    <a16:creationId xmlns:a16="http://schemas.microsoft.com/office/drawing/2014/main" id="{73EFBD58-E8B9-F30D-18A2-060A4631D168}"/>
                  </a:ext>
                </a:extLst>
              </p:cNvPr>
              <p:cNvSpPr/>
              <p:nvPr/>
            </p:nvSpPr>
            <p:spPr>
              <a:xfrm>
                <a:off x="2640547" y="4210207"/>
                <a:ext cx="862247" cy="246221"/>
              </a:xfrm>
              <a:prstGeom prst="rightArrow">
                <a:avLst/>
              </a:prstGeom>
              <a:gradFill>
                <a:gsLst>
                  <a:gs pos="0">
                    <a:srgbClr val="336CBE"/>
                  </a:gs>
                  <a:gs pos="100000">
                    <a:srgbClr val="802010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3644A36-AB54-AB4D-2FFE-4EF53A01A692}"/>
                </a:ext>
              </a:extLst>
            </p:cNvPr>
            <p:cNvSpPr txBox="1"/>
            <p:nvPr/>
          </p:nvSpPr>
          <p:spPr>
            <a:xfrm>
              <a:off x="1770301" y="3576066"/>
              <a:ext cx="20434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shutter closed</a:t>
              </a:r>
            </a:p>
          </p:txBody>
        </p:sp>
      </p:grpSp>
      <p:pic>
        <p:nvPicPr>
          <p:cNvPr id="99" name="Picture 2">
            <a:extLst>
              <a:ext uri="{FF2B5EF4-FFF2-40B4-BE49-F238E27FC236}">
                <a16:creationId xmlns:a16="http://schemas.microsoft.com/office/drawing/2014/main" id="{D30B0B3E-66BB-DC45-5A99-4C394903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417" y="1861111"/>
            <a:ext cx="731520" cy="52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0AAAD5EF-2B53-E7EE-D3BD-E454FE787A8E}"/>
              </a:ext>
            </a:extLst>
          </p:cNvPr>
          <p:cNvSpPr txBox="1"/>
          <p:nvPr/>
        </p:nvSpPr>
        <p:spPr>
          <a:xfrm>
            <a:off x="5567094" y="2417655"/>
            <a:ext cx="572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F69140-D9F2-57FC-8F29-96A73B812078}"/>
              </a:ext>
            </a:extLst>
          </p:cNvPr>
          <p:cNvSpPr txBox="1"/>
          <p:nvPr/>
        </p:nvSpPr>
        <p:spPr>
          <a:xfrm>
            <a:off x="5906291" y="2417655"/>
            <a:ext cx="59579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50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C5E8E97-CA20-F6CE-31C4-8EE18D3F17D5}"/>
              </a:ext>
            </a:extLst>
          </p:cNvPr>
          <p:cNvSpPr txBox="1"/>
          <p:nvPr/>
        </p:nvSpPr>
        <p:spPr>
          <a:xfrm>
            <a:off x="6584686" y="2417655"/>
            <a:ext cx="54638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51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829954-34F5-9A03-8E7B-34378BB362AD}"/>
              </a:ext>
            </a:extLst>
          </p:cNvPr>
          <p:cNvSpPr txBox="1"/>
          <p:nvPr/>
        </p:nvSpPr>
        <p:spPr>
          <a:xfrm>
            <a:off x="6923884" y="2417655"/>
            <a:ext cx="57287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52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8D4F45D-1468-001B-C4E5-FC99DF8904BD}"/>
              </a:ext>
            </a:extLst>
          </p:cNvPr>
          <p:cNvCxnSpPr>
            <a:cxnSpLocks/>
          </p:cNvCxnSpPr>
          <p:nvPr/>
        </p:nvCxnSpPr>
        <p:spPr>
          <a:xfrm>
            <a:off x="5801360" y="186111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FAD31E-B0D5-8CAA-1ECA-384C71DD634D}"/>
              </a:ext>
            </a:extLst>
          </p:cNvPr>
          <p:cNvCxnSpPr>
            <a:cxnSpLocks/>
          </p:cNvCxnSpPr>
          <p:nvPr/>
        </p:nvCxnSpPr>
        <p:spPr>
          <a:xfrm>
            <a:off x="6793432" y="186111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85871B3-DF9E-F9E5-B1F3-973A90BB70E0}"/>
              </a:ext>
            </a:extLst>
          </p:cNvPr>
          <p:cNvCxnSpPr>
            <a:cxnSpLocks/>
          </p:cNvCxnSpPr>
          <p:nvPr/>
        </p:nvCxnSpPr>
        <p:spPr>
          <a:xfrm>
            <a:off x="7126103" y="186111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46EAB4-E1D2-4195-8826-A2167018139C}"/>
              </a:ext>
            </a:extLst>
          </p:cNvPr>
          <p:cNvCxnSpPr>
            <a:cxnSpLocks/>
          </p:cNvCxnSpPr>
          <p:nvPr/>
        </p:nvCxnSpPr>
        <p:spPr>
          <a:xfrm>
            <a:off x="6129305" y="1863381"/>
            <a:ext cx="0" cy="595358"/>
          </a:xfrm>
          <a:prstGeom prst="line">
            <a:avLst/>
          </a:prstGeom>
          <a:ln w="19050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F5D304-DAB0-EF7F-39AF-F043C2147D10}"/>
              </a:ext>
            </a:extLst>
          </p:cNvPr>
          <p:cNvSpPr txBox="1"/>
          <p:nvPr/>
        </p:nvSpPr>
        <p:spPr>
          <a:xfrm>
            <a:off x="838200" y="1959704"/>
            <a:ext cx="3393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50 frames  -&gt; SLM -&gt; Imaging 20 frames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FCB90-ECCF-7C84-ED81-5A9A07F37CB2}"/>
              </a:ext>
            </a:extLst>
          </p:cNvPr>
          <p:cNvSpPr txBox="1"/>
          <p:nvPr/>
        </p:nvSpPr>
        <p:spPr>
          <a:xfrm>
            <a:off x="838200" y="1582317"/>
            <a:ext cx="3393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recording file (session) = One trial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70AE53-67DC-A582-10E2-49F07F5F51EB}"/>
              </a:ext>
            </a:extLst>
          </p:cNvPr>
          <p:cNvGrpSpPr>
            <a:grpSpLocks noChangeAspect="1"/>
          </p:cNvGrpSpPr>
          <p:nvPr/>
        </p:nvGrpSpPr>
        <p:grpSpPr>
          <a:xfrm>
            <a:off x="6243501" y="1930734"/>
            <a:ext cx="441538" cy="330190"/>
            <a:chOff x="2093681" y="2547454"/>
            <a:chExt cx="768534" cy="57472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121A090-7E7B-2B03-B3DF-5009F68564D6}"/>
                </a:ext>
              </a:extLst>
            </p:cNvPr>
            <p:cNvSpPr/>
            <p:nvPr/>
          </p:nvSpPr>
          <p:spPr>
            <a:xfrm>
              <a:off x="2449451" y="2773625"/>
              <a:ext cx="144725" cy="145229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28CECE-E32C-27A4-98A9-B3DA5F97DEA3}"/>
                </a:ext>
              </a:extLst>
            </p:cNvPr>
            <p:cNvSpPr/>
            <p:nvPr/>
          </p:nvSpPr>
          <p:spPr>
            <a:xfrm>
              <a:off x="2093681" y="2809397"/>
              <a:ext cx="144725" cy="145229"/>
            </a:xfrm>
            <a:prstGeom prst="ellipse">
              <a:avLst/>
            </a:prstGeom>
            <a:solidFill>
              <a:srgbClr val="FF0000">
                <a:alpha val="32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A4C92EA-DC2C-F1B8-5CA5-611B23E664F3}"/>
                </a:ext>
              </a:extLst>
            </p:cNvPr>
            <p:cNvSpPr/>
            <p:nvPr/>
          </p:nvSpPr>
          <p:spPr>
            <a:xfrm>
              <a:off x="2373125" y="2976948"/>
              <a:ext cx="144725" cy="145229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92C745F-9862-4FA4-3641-33749D4F5A72}"/>
                </a:ext>
              </a:extLst>
            </p:cNvPr>
            <p:cNvSpPr/>
            <p:nvPr/>
          </p:nvSpPr>
          <p:spPr>
            <a:xfrm>
              <a:off x="2717490" y="2882903"/>
              <a:ext cx="144725" cy="145229"/>
            </a:xfrm>
            <a:prstGeom prst="ellipse">
              <a:avLst/>
            </a:prstGeom>
            <a:solidFill>
              <a:srgbClr val="FF0000">
                <a:alpha val="85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0FBF666-8A09-E12D-D864-F499C4D70FBF}"/>
                </a:ext>
              </a:extLst>
            </p:cNvPr>
            <p:cNvSpPr/>
            <p:nvPr/>
          </p:nvSpPr>
          <p:spPr>
            <a:xfrm>
              <a:off x="2625674" y="2547454"/>
              <a:ext cx="144725" cy="145229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9BE4EA2-4339-7C9D-1235-973E07946950}"/>
                </a:ext>
              </a:extLst>
            </p:cNvPr>
            <p:cNvSpPr/>
            <p:nvPr/>
          </p:nvSpPr>
          <p:spPr>
            <a:xfrm>
              <a:off x="2304726" y="2592194"/>
              <a:ext cx="144725" cy="14522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9773389-6AFD-C07E-69DE-DE7AFBC56E3E}"/>
              </a:ext>
            </a:extLst>
          </p:cNvPr>
          <p:cNvSpPr txBox="1"/>
          <p:nvPr/>
        </p:nvSpPr>
        <p:spPr>
          <a:xfrm>
            <a:off x="3066032" y="2692683"/>
            <a:ext cx="67618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holographic stimulation pattern in this recording is predefined by a pair of setting files: (.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and a .xml file. )</a:t>
            </a:r>
            <a:endParaRPr lang="en-US" sz="1200" dirty="0"/>
          </a:p>
        </p:txBody>
      </p: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55575E0F-8CA5-C198-886D-E5D332F6B362}"/>
              </a:ext>
            </a:extLst>
          </p:cNvPr>
          <p:cNvSpPr/>
          <p:nvPr/>
        </p:nvSpPr>
        <p:spPr>
          <a:xfrm rot="5553452">
            <a:off x="8852385" y="3648024"/>
            <a:ext cx="2763824" cy="861025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64ABE8F-00C4-D13D-6DEF-77B07D247A88}"/>
              </a:ext>
            </a:extLst>
          </p:cNvPr>
          <p:cNvGrpSpPr>
            <a:grpSpLocks noChangeAspect="1"/>
          </p:cNvGrpSpPr>
          <p:nvPr/>
        </p:nvGrpSpPr>
        <p:grpSpPr>
          <a:xfrm>
            <a:off x="8304734" y="3402924"/>
            <a:ext cx="2106741" cy="1320758"/>
            <a:chOff x="5481552" y="2428735"/>
            <a:chExt cx="3145458" cy="1971950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FB50570-26F4-4158-8006-59C8115D1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1552" y="2457314"/>
              <a:ext cx="1228896" cy="1943371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E519935D-C1CE-4B5B-BB90-27DE58D55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83692" y="2428735"/>
              <a:ext cx="1743318" cy="1971950"/>
            </a:xfrm>
            <a:prstGeom prst="rect">
              <a:avLst/>
            </a:prstGeom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EE0090A7-2971-C4CE-9FB5-9B9C36B7B17E}"/>
              </a:ext>
            </a:extLst>
          </p:cNvPr>
          <p:cNvSpPr txBox="1"/>
          <p:nvPr/>
        </p:nvSpPr>
        <p:spPr>
          <a:xfrm>
            <a:off x="10692423" y="2098203"/>
            <a:ext cx="13905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a 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pre-defined file lists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could automatically executed any the experiments design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D5E05BE-ADE5-4B46-0651-224C9FA21A00}"/>
              </a:ext>
            </a:extLst>
          </p:cNvPr>
          <p:cNvSpPr txBox="1"/>
          <p:nvPr/>
        </p:nvSpPr>
        <p:spPr>
          <a:xfrm>
            <a:off x="838200" y="5416406"/>
            <a:ext cx="6607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works power customization of single cell SLM power. However, 1SLM/File strategy is not ideal for continuous recording while randomly activate different functional group of cells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33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6DCD-412B-9606-ADA9-59773BA0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60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Bruker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Recording, 1 SLM Trial/File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5D304-DAB0-EF7F-39AF-F043C2147D10}"/>
              </a:ext>
            </a:extLst>
          </p:cNvPr>
          <p:cNvSpPr txBox="1"/>
          <p:nvPr/>
        </p:nvSpPr>
        <p:spPr>
          <a:xfrm>
            <a:off x="838199" y="1959704"/>
            <a:ext cx="7975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frames  -&gt; SLM -&gt; 80 frames -&gt; SLM -&gt; 40 frames -&gt; SLM -&gt; 60 frames -&gt; SLM -&gt; 30 frames -&gt; SLM -&gt; 30 frames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FCB90-ECCF-7C84-ED81-5A9A07F37CB2}"/>
              </a:ext>
            </a:extLst>
          </p:cNvPr>
          <p:cNvSpPr txBox="1"/>
          <p:nvPr/>
        </p:nvSpPr>
        <p:spPr>
          <a:xfrm>
            <a:off x="838199" y="1582317"/>
            <a:ext cx="91308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recording file (session) = 5 trials in following example, a pre sequence of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imagings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defined (50, 80, 40, 60, 30, 30) frames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70AE53-67DC-A582-10E2-49F07F5F51EB}"/>
              </a:ext>
            </a:extLst>
          </p:cNvPr>
          <p:cNvGrpSpPr>
            <a:grpSpLocks noChangeAspect="1"/>
          </p:cNvGrpSpPr>
          <p:nvPr/>
        </p:nvGrpSpPr>
        <p:grpSpPr>
          <a:xfrm>
            <a:off x="1718742" y="2289921"/>
            <a:ext cx="441538" cy="330190"/>
            <a:chOff x="2093681" y="2547454"/>
            <a:chExt cx="768534" cy="57472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121A090-7E7B-2B03-B3DF-5009F68564D6}"/>
                </a:ext>
              </a:extLst>
            </p:cNvPr>
            <p:cNvSpPr/>
            <p:nvPr/>
          </p:nvSpPr>
          <p:spPr>
            <a:xfrm>
              <a:off x="2449451" y="2773625"/>
              <a:ext cx="144725" cy="145229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328CECE-E32C-27A4-98A9-B3DA5F97DEA3}"/>
                </a:ext>
              </a:extLst>
            </p:cNvPr>
            <p:cNvSpPr/>
            <p:nvPr/>
          </p:nvSpPr>
          <p:spPr>
            <a:xfrm>
              <a:off x="2093681" y="2809397"/>
              <a:ext cx="144725" cy="145229"/>
            </a:xfrm>
            <a:prstGeom prst="ellipse">
              <a:avLst/>
            </a:prstGeom>
            <a:solidFill>
              <a:srgbClr val="FF0000">
                <a:alpha val="32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A4C92EA-DC2C-F1B8-5CA5-611B23E664F3}"/>
                </a:ext>
              </a:extLst>
            </p:cNvPr>
            <p:cNvSpPr/>
            <p:nvPr/>
          </p:nvSpPr>
          <p:spPr>
            <a:xfrm>
              <a:off x="2373125" y="2976948"/>
              <a:ext cx="144725" cy="145229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92C745F-9862-4FA4-3641-33749D4F5A72}"/>
                </a:ext>
              </a:extLst>
            </p:cNvPr>
            <p:cNvSpPr/>
            <p:nvPr/>
          </p:nvSpPr>
          <p:spPr>
            <a:xfrm>
              <a:off x="2717490" y="2882903"/>
              <a:ext cx="144725" cy="145229"/>
            </a:xfrm>
            <a:prstGeom prst="ellipse">
              <a:avLst/>
            </a:prstGeom>
            <a:solidFill>
              <a:srgbClr val="FF0000">
                <a:alpha val="85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0FBF666-8A09-E12D-D864-F499C4D70FBF}"/>
                </a:ext>
              </a:extLst>
            </p:cNvPr>
            <p:cNvSpPr/>
            <p:nvPr/>
          </p:nvSpPr>
          <p:spPr>
            <a:xfrm>
              <a:off x="2625674" y="2547454"/>
              <a:ext cx="144725" cy="145229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9BE4EA2-4339-7C9D-1235-973E07946950}"/>
                </a:ext>
              </a:extLst>
            </p:cNvPr>
            <p:cNvSpPr/>
            <p:nvPr/>
          </p:nvSpPr>
          <p:spPr>
            <a:xfrm>
              <a:off x="2304726" y="2592194"/>
              <a:ext cx="144725" cy="14522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55575E0F-8CA5-C198-886D-E5D332F6B362}"/>
              </a:ext>
            </a:extLst>
          </p:cNvPr>
          <p:cNvSpPr/>
          <p:nvPr/>
        </p:nvSpPr>
        <p:spPr>
          <a:xfrm rot="5553452">
            <a:off x="8852385" y="3648024"/>
            <a:ext cx="2763824" cy="861025"/>
          </a:xfrm>
          <a:prstGeom prst="curved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E0090A7-2971-C4CE-9FB5-9B9C36B7B17E}"/>
              </a:ext>
            </a:extLst>
          </p:cNvPr>
          <p:cNvSpPr txBox="1"/>
          <p:nvPr/>
        </p:nvSpPr>
        <p:spPr>
          <a:xfrm>
            <a:off x="10693142" y="2918106"/>
            <a:ext cx="13905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a 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pre-defined file lists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could automatically executed in MATLAB controlled PV-Link environment for any the experiments design</a:t>
            </a:r>
            <a:r>
              <a:rPr lang="en-US" sz="1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D5E05BE-ADE5-4B46-0651-224C9FA21A00}"/>
              </a:ext>
            </a:extLst>
          </p:cNvPr>
          <p:cNvSpPr txBox="1"/>
          <p:nvPr/>
        </p:nvSpPr>
        <p:spPr>
          <a:xfrm>
            <a:off x="838200" y="5416406"/>
            <a:ext cx="6607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works power customization of single cell SLM power. However, 1SLM/File strategy is not ideal for continuous recording while randomly activate different functional group of cells</a:t>
            </a:r>
            <a:endParaRPr lang="en-US" sz="1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08EF3B3-BB8A-EF8F-9FC2-0057F12BDB5C}"/>
              </a:ext>
            </a:extLst>
          </p:cNvPr>
          <p:cNvGrpSpPr>
            <a:grpSpLocks noChangeAspect="1"/>
          </p:cNvGrpSpPr>
          <p:nvPr/>
        </p:nvGrpSpPr>
        <p:grpSpPr>
          <a:xfrm>
            <a:off x="3033631" y="2289921"/>
            <a:ext cx="441538" cy="330190"/>
            <a:chOff x="2093681" y="2547454"/>
            <a:chExt cx="768534" cy="57472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81ECA49-00C0-A790-B6C5-C57DDEC9EE7D}"/>
                </a:ext>
              </a:extLst>
            </p:cNvPr>
            <p:cNvSpPr/>
            <p:nvPr/>
          </p:nvSpPr>
          <p:spPr>
            <a:xfrm>
              <a:off x="2449451" y="2773625"/>
              <a:ext cx="144725" cy="145229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EBFD413-7C8F-B1CB-2828-E0452A7E13B1}"/>
                </a:ext>
              </a:extLst>
            </p:cNvPr>
            <p:cNvSpPr/>
            <p:nvPr/>
          </p:nvSpPr>
          <p:spPr>
            <a:xfrm>
              <a:off x="2093681" y="2809397"/>
              <a:ext cx="144725" cy="145229"/>
            </a:xfrm>
            <a:prstGeom prst="ellipse">
              <a:avLst/>
            </a:prstGeom>
            <a:solidFill>
              <a:srgbClr val="FF0000">
                <a:alpha val="32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3F605A5-D1A2-81BA-A199-33B4DA9ACEE7}"/>
                </a:ext>
              </a:extLst>
            </p:cNvPr>
            <p:cNvSpPr/>
            <p:nvPr/>
          </p:nvSpPr>
          <p:spPr>
            <a:xfrm>
              <a:off x="2373125" y="2976948"/>
              <a:ext cx="144725" cy="145229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C37CE8-1390-97A8-7BB9-3FE49DAF1DF5}"/>
                </a:ext>
              </a:extLst>
            </p:cNvPr>
            <p:cNvSpPr/>
            <p:nvPr/>
          </p:nvSpPr>
          <p:spPr>
            <a:xfrm>
              <a:off x="2717490" y="2882903"/>
              <a:ext cx="144725" cy="145229"/>
            </a:xfrm>
            <a:prstGeom prst="ellipse">
              <a:avLst/>
            </a:prstGeom>
            <a:solidFill>
              <a:srgbClr val="FF0000">
                <a:alpha val="85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53B457-BE13-3AE0-3962-D33FD41772DC}"/>
                </a:ext>
              </a:extLst>
            </p:cNvPr>
            <p:cNvSpPr/>
            <p:nvPr/>
          </p:nvSpPr>
          <p:spPr>
            <a:xfrm>
              <a:off x="2625674" y="2547454"/>
              <a:ext cx="144725" cy="145229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542608F-D1A9-2DB0-0FE8-1485182E2B39}"/>
                </a:ext>
              </a:extLst>
            </p:cNvPr>
            <p:cNvSpPr/>
            <p:nvPr/>
          </p:nvSpPr>
          <p:spPr>
            <a:xfrm>
              <a:off x="2304726" y="2592194"/>
              <a:ext cx="144725" cy="14522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02C12E-DB9D-CE3D-0DF2-8B2CBF209E30}"/>
              </a:ext>
            </a:extLst>
          </p:cNvPr>
          <p:cNvGrpSpPr>
            <a:grpSpLocks noChangeAspect="1"/>
          </p:cNvGrpSpPr>
          <p:nvPr/>
        </p:nvGrpSpPr>
        <p:grpSpPr>
          <a:xfrm>
            <a:off x="4413125" y="2289921"/>
            <a:ext cx="441538" cy="330190"/>
            <a:chOff x="2093681" y="2547454"/>
            <a:chExt cx="768534" cy="574723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36947D3-BAD2-5007-8D38-9638A13204CE}"/>
                </a:ext>
              </a:extLst>
            </p:cNvPr>
            <p:cNvSpPr/>
            <p:nvPr/>
          </p:nvSpPr>
          <p:spPr>
            <a:xfrm>
              <a:off x="2449451" y="2773625"/>
              <a:ext cx="144725" cy="145229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E6BA6E-C9FF-0C22-9B52-1EEE283CF811}"/>
                </a:ext>
              </a:extLst>
            </p:cNvPr>
            <p:cNvSpPr/>
            <p:nvPr/>
          </p:nvSpPr>
          <p:spPr>
            <a:xfrm>
              <a:off x="2093681" y="2809397"/>
              <a:ext cx="144725" cy="145229"/>
            </a:xfrm>
            <a:prstGeom prst="ellipse">
              <a:avLst/>
            </a:prstGeom>
            <a:solidFill>
              <a:srgbClr val="FF0000">
                <a:alpha val="32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BF05E97-2985-A1A5-C8DA-628D413675E6}"/>
                </a:ext>
              </a:extLst>
            </p:cNvPr>
            <p:cNvSpPr/>
            <p:nvPr/>
          </p:nvSpPr>
          <p:spPr>
            <a:xfrm>
              <a:off x="2373125" y="2976948"/>
              <a:ext cx="144725" cy="145229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ABE276F-164C-77CD-82CA-9617480A83BC}"/>
                </a:ext>
              </a:extLst>
            </p:cNvPr>
            <p:cNvSpPr/>
            <p:nvPr/>
          </p:nvSpPr>
          <p:spPr>
            <a:xfrm>
              <a:off x="2717490" y="2882903"/>
              <a:ext cx="144725" cy="145229"/>
            </a:xfrm>
            <a:prstGeom prst="ellipse">
              <a:avLst/>
            </a:prstGeom>
            <a:solidFill>
              <a:srgbClr val="FF0000">
                <a:alpha val="85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6A6AF3-7D95-C988-7690-E633F465E928}"/>
                </a:ext>
              </a:extLst>
            </p:cNvPr>
            <p:cNvSpPr/>
            <p:nvPr/>
          </p:nvSpPr>
          <p:spPr>
            <a:xfrm>
              <a:off x="2625674" y="2547454"/>
              <a:ext cx="144725" cy="145229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6B8BB0E-189B-A4F1-6DCD-53FD23F157BE}"/>
                </a:ext>
              </a:extLst>
            </p:cNvPr>
            <p:cNvSpPr/>
            <p:nvPr/>
          </p:nvSpPr>
          <p:spPr>
            <a:xfrm>
              <a:off x="2304726" y="2592194"/>
              <a:ext cx="144725" cy="14522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1069C42-5242-71BE-6EBC-0740748BD5B2}"/>
              </a:ext>
            </a:extLst>
          </p:cNvPr>
          <p:cNvGrpSpPr>
            <a:grpSpLocks noChangeAspect="1"/>
          </p:cNvGrpSpPr>
          <p:nvPr/>
        </p:nvGrpSpPr>
        <p:grpSpPr>
          <a:xfrm>
            <a:off x="5768294" y="2289921"/>
            <a:ext cx="441538" cy="330190"/>
            <a:chOff x="2093681" y="2547454"/>
            <a:chExt cx="768534" cy="574723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4560FCD-C513-28D2-999D-1F6313538F7D}"/>
                </a:ext>
              </a:extLst>
            </p:cNvPr>
            <p:cNvSpPr/>
            <p:nvPr/>
          </p:nvSpPr>
          <p:spPr>
            <a:xfrm>
              <a:off x="2449451" y="2773625"/>
              <a:ext cx="144725" cy="145229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F3D5F19-1791-B26E-E10A-DD012987DD7E}"/>
                </a:ext>
              </a:extLst>
            </p:cNvPr>
            <p:cNvSpPr/>
            <p:nvPr/>
          </p:nvSpPr>
          <p:spPr>
            <a:xfrm>
              <a:off x="2093681" y="2809397"/>
              <a:ext cx="144725" cy="145229"/>
            </a:xfrm>
            <a:prstGeom prst="ellipse">
              <a:avLst/>
            </a:prstGeom>
            <a:solidFill>
              <a:srgbClr val="FF0000">
                <a:alpha val="32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6C43E3A-92C0-5DAA-68AE-8A834FF49178}"/>
                </a:ext>
              </a:extLst>
            </p:cNvPr>
            <p:cNvSpPr/>
            <p:nvPr/>
          </p:nvSpPr>
          <p:spPr>
            <a:xfrm>
              <a:off x="2373125" y="2976948"/>
              <a:ext cx="144725" cy="145229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06DFFA1-0204-3480-E3CB-5FBCBC64373D}"/>
                </a:ext>
              </a:extLst>
            </p:cNvPr>
            <p:cNvSpPr/>
            <p:nvPr/>
          </p:nvSpPr>
          <p:spPr>
            <a:xfrm>
              <a:off x="2717490" y="2882903"/>
              <a:ext cx="144725" cy="145229"/>
            </a:xfrm>
            <a:prstGeom prst="ellipse">
              <a:avLst/>
            </a:prstGeom>
            <a:solidFill>
              <a:srgbClr val="FF0000">
                <a:alpha val="85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3DFE934-FA66-516D-0B5F-44C6B714914A}"/>
                </a:ext>
              </a:extLst>
            </p:cNvPr>
            <p:cNvSpPr/>
            <p:nvPr/>
          </p:nvSpPr>
          <p:spPr>
            <a:xfrm>
              <a:off x="2625674" y="2547454"/>
              <a:ext cx="144725" cy="145229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59873A5-04BE-87E5-1FD9-704A6B49E1DF}"/>
                </a:ext>
              </a:extLst>
            </p:cNvPr>
            <p:cNvSpPr/>
            <p:nvPr/>
          </p:nvSpPr>
          <p:spPr>
            <a:xfrm>
              <a:off x="2304726" y="2592194"/>
              <a:ext cx="144725" cy="14522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25400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413713-3128-9C16-D9D2-C57E5EFB3DB6}"/>
              </a:ext>
            </a:extLst>
          </p:cNvPr>
          <p:cNvGrpSpPr>
            <a:grpSpLocks noChangeAspect="1"/>
          </p:cNvGrpSpPr>
          <p:nvPr/>
        </p:nvGrpSpPr>
        <p:grpSpPr>
          <a:xfrm>
            <a:off x="7084652" y="2296484"/>
            <a:ext cx="441538" cy="330190"/>
            <a:chOff x="2093681" y="2547454"/>
            <a:chExt cx="768534" cy="57472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B86ED42-A38F-FF7B-4DE8-51F9F2D1B88A}"/>
                </a:ext>
              </a:extLst>
            </p:cNvPr>
            <p:cNvSpPr/>
            <p:nvPr/>
          </p:nvSpPr>
          <p:spPr>
            <a:xfrm>
              <a:off x="2449451" y="2773625"/>
              <a:ext cx="144725" cy="145229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15A9403-F0E1-AB0B-5CB9-FA282B16396C}"/>
                </a:ext>
              </a:extLst>
            </p:cNvPr>
            <p:cNvSpPr/>
            <p:nvPr/>
          </p:nvSpPr>
          <p:spPr>
            <a:xfrm>
              <a:off x="2093681" y="2809397"/>
              <a:ext cx="144725" cy="145229"/>
            </a:xfrm>
            <a:prstGeom prst="ellipse">
              <a:avLst/>
            </a:prstGeom>
            <a:solidFill>
              <a:srgbClr val="FF0000">
                <a:alpha val="32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DE632B7-1B32-18A4-EFA5-6CB839CB24D8}"/>
                </a:ext>
              </a:extLst>
            </p:cNvPr>
            <p:cNvSpPr/>
            <p:nvPr/>
          </p:nvSpPr>
          <p:spPr>
            <a:xfrm>
              <a:off x="2373125" y="2976948"/>
              <a:ext cx="144725" cy="145229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027FF92-8240-BBC9-F2CB-F87EF2D2F7DE}"/>
                </a:ext>
              </a:extLst>
            </p:cNvPr>
            <p:cNvSpPr/>
            <p:nvPr/>
          </p:nvSpPr>
          <p:spPr>
            <a:xfrm>
              <a:off x="2717490" y="2882903"/>
              <a:ext cx="144725" cy="145229"/>
            </a:xfrm>
            <a:prstGeom prst="ellipse">
              <a:avLst/>
            </a:prstGeom>
            <a:solidFill>
              <a:srgbClr val="FF0000">
                <a:alpha val="85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4642844-F925-28C7-8C09-F091245BF80F}"/>
                </a:ext>
              </a:extLst>
            </p:cNvPr>
            <p:cNvSpPr/>
            <p:nvPr/>
          </p:nvSpPr>
          <p:spPr>
            <a:xfrm>
              <a:off x="2625674" y="2547454"/>
              <a:ext cx="144725" cy="145229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1BA1861-810A-AD58-B648-1C2C761C609F}"/>
                </a:ext>
              </a:extLst>
            </p:cNvPr>
            <p:cNvSpPr/>
            <p:nvPr/>
          </p:nvSpPr>
          <p:spPr>
            <a:xfrm>
              <a:off x="2304726" y="2592194"/>
              <a:ext cx="144725" cy="145229"/>
            </a:xfrm>
            <a:prstGeom prst="ellipse">
              <a:avLst/>
            </a:prstGeom>
            <a:solidFill>
              <a:srgbClr val="FF0000">
                <a:alpha val="60000"/>
              </a:srgbClr>
            </a:solidFill>
            <a:ln w="2540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F768D7B-FB43-EB7B-0241-4D87743F0463}"/>
              </a:ext>
            </a:extLst>
          </p:cNvPr>
          <p:cNvSpPr txBox="1"/>
          <p:nvPr/>
        </p:nvSpPr>
        <p:spPr>
          <a:xfrm>
            <a:off x="1514869" y="2704298"/>
            <a:ext cx="11021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 Targets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32A0CB-163C-F43C-F72A-11805B6D99E7}"/>
              </a:ext>
            </a:extLst>
          </p:cNvPr>
          <p:cNvSpPr txBox="1"/>
          <p:nvPr/>
        </p:nvSpPr>
        <p:spPr>
          <a:xfrm>
            <a:off x="2788185" y="2703977"/>
            <a:ext cx="11021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 Targets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127151-3166-3E00-E2B4-B35699D45978}"/>
              </a:ext>
            </a:extLst>
          </p:cNvPr>
          <p:cNvSpPr txBox="1"/>
          <p:nvPr/>
        </p:nvSpPr>
        <p:spPr>
          <a:xfrm>
            <a:off x="4271597" y="2724520"/>
            <a:ext cx="11021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 Targets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D4AFE7-04D2-BE00-2322-8A0DAC3E6CF2}"/>
              </a:ext>
            </a:extLst>
          </p:cNvPr>
          <p:cNvSpPr txBox="1"/>
          <p:nvPr/>
        </p:nvSpPr>
        <p:spPr>
          <a:xfrm>
            <a:off x="5492255" y="2724672"/>
            <a:ext cx="12806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8CDF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 Targets, sham stimuli (power = 0)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6B20EF-ED82-D457-91EF-3DEF7582236B}"/>
              </a:ext>
            </a:extLst>
          </p:cNvPr>
          <p:cNvSpPr txBox="1"/>
          <p:nvPr/>
        </p:nvSpPr>
        <p:spPr>
          <a:xfrm>
            <a:off x="6855357" y="2738489"/>
            <a:ext cx="11021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 Targets</a:t>
            </a:r>
          </a:p>
        </p:txBody>
      </p:sp>
    </p:spTree>
    <p:extLst>
      <p:ext uri="{BB962C8B-B14F-4D97-AF65-F5344CB8AC3E}">
        <p14:creationId xmlns:p14="http://schemas.microsoft.com/office/powerpoint/2010/main" val="63604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6DCD-412B-9606-ADA9-59773BA0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Bruker -&gt; MATLAB Data Flows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52FB6EF-1BA7-3AB9-BF5C-A59E8AD607C2}"/>
              </a:ext>
            </a:extLst>
          </p:cNvPr>
          <p:cNvGrpSpPr/>
          <p:nvPr/>
        </p:nvGrpSpPr>
        <p:grpSpPr>
          <a:xfrm>
            <a:off x="997769" y="1325563"/>
            <a:ext cx="11163676" cy="1884122"/>
            <a:chOff x="997769" y="1325563"/>
            <a:chExt cx="11163676" cy="18841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B140154-4CA1-2B75-20CD-BEE444C2EE16}"/>
                </a:ext>
              </a:extLst>
            </p:cNvPr>
            <p:cNvGrpSpPr/>
            <p:nvPr/>
          </p:nvGrpSpPr>
          <p:grpSpPr>
            <a:xfrm>
              <a:off x="997769" y="1325563"/>
              <a:ext cx="6691614" cy="954239"/>
              <a:chOff x="451504" y="3781306"/>
              <a:chExt cx="6691614" cy="95423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76EB7F5-43E0-679C-8F94-87AC2F52FF34}"/>
                  </a:ext>
                </a:extLst>
              </p:cNvPr>
              <p:cNvGrpSpPr/>
              <p:nvPr/>
            </p:nvGrpSpPr>
            <p:grpSpPr>
              <a:xfrm>
                <a:off x="451504" y="3781306"/>
                <a:ext cx="3963812" cy="954239"/>
                <a:chOff x="451504" y="3781306"/>
                <a:chExt cx="3963812" cy="954239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521538-695F-0CB1-E5ED-32C76DE70B6C}"/>
                    </a:ext>
                  </a:extLst>
                </p:cNvPr>
                <p:cNvSpPr txBox="1"/>
                <p:nvPr/>
              </p:nvSpPr>
              <p:spPr>
                <a:xfrm>
                  <a:off x="2005618" y="3933208"/>
                  <a:ext cx="115065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 flow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0447B68-8617-0532-8864-F85EF55871E2}"/>
                    </a:ext>
                  </a:extLst>
                </p:cNvPr>
                <p:cNvGrpSpPr/>
                <p:nvPr/>
              </p:nvGrpSpPr>
              <p:grpSpPr>
                <a:xfrm>
                  <a:off x="451504" y="3944083"/>
                  <a:ext cx="3963812" cy="791462"/>
                  <a:chOff x="937057" y="1544882"/>
                  <a:chExt cx="3963812" cy="791462"/>
                </a:xfrm>
              </p:grpSpPr>
              <p:pic>
                <p:nvPicPr>
                  <p:cNvPr id="24" name="Picture 2" descr="Bruker (@bruker) / X">
                    <a:extLst>
                      <a:ext uri="{FF2B5EF4-FFF2-40B4-BE49-F238E27FC236}">
                        <a16:creationId xmlns:a16="http://schemas.microsoft.com/office/drawing/2014/main" id="{06C53F72-C316-8281-D0B1-14D5F9E21A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37057" y="1544882"/>
                    <a:ext cx="788790" cy="78879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5" name="Picture 4" descr="MATLAB - Wikipedia">
                    <a:extLst>
                      <a:ext uri="{FF2B5EF4-FFF2-40B4-BE49-F238E27FC236}">
                        <a16:creationId xmlns:a16="http://schemas.microsoft.com/office/drawing/2014/main" id="{F9D79462-50C0-AE18-1DC7-C1A794943CB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025377" y="1553205"/>
                    <a:ext cx="875492" cy="7831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6002826B-86A4-DE7F-36F6-B2A718D8589B}"/>
                    </a:ext>
                  </a:extLst>
                </p:cNvPr>
                <p:cNvGrpSpPr/>
                <p:nvPr/>
              </p:nvGrpSpPr>
              <p:grpSpPr>
                <a:xfrm>
                  <a:off x="1337225" y="4210207"/>
                  <a:ext cx="2189866" cy="246221"/>
                  <a:chOff x="1337225" y="4210207"/>
                  <a:chExt cx="2189866" cy="246221"/>
                </a:xfrm>
              </p:grpSpPr>
              <p:sp>
                <p:nvSpPr>
                  <p:cNvPr id="19" name="Arrow: Right 18">
                    <a:extLst>
                      <a:ext uri="{FF2B5EF4-FFF2-40B4-BE49-F238E27FC236}">
                        <a16:creationId xmlns:a16="http://schemas.microsoft.com/office/drawing/2014/main" id="{46961656-D59C-9664-53EF-0D534F32172E}"/>
                      </a:ext>
                    </a:extLst>
                  </p:cNvPr>
                  <p:cNvSpPr/>
                  <p:nvPr/>
                </p:nvSpPr>
                <p:spPr>
                  <a:xfrm>
                    <a:off x="1337225" y="4210207"/>
                    <a:ext cx="337169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Arrow: Right 19">
                    <a:extLst>
                      <a:ext uri="{FF2B5EF4-FFF2-40B4-BE49-F238E27FC236}">
                        <a16:creationId xmlns:a16="http://schemas.microsoft.com/office/drawing/2014/main" id="{8DF47706-38D8-146B-36F7-AFDB68538205}"/>
                      </a:ext>
                    </a:extLst>
                  </p:cNvPr>
                  <p:cNvSpPr/>
                  <p:nvPr/>
                </p:nvSpPr>
                <p:spPr>
                  <a:xfrm>
                    <a:off x="1676814" y="4210207"/>
                    <a:ext cx="421701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Arrow: Right 20">
                    <a:extLst>
                      <a:ext uri="{FF2B5EF4-FFF2-40B4-BE49-F238E27FC236}">
                        <a16:creationId xmlns:a16="http://schemas.microsoft.com/office/drawing/2014/main" id="{7EE123A8-CAB3-3203-FE68-0007FD9C18B7}"/>
                      </a:ext>
                    </a:extLst>
                  </p:cNvPr>
                  <p:cNvSpPr/>
                  <p:nvPr/>
                </p:nvSpPr>
                <p:spPr>
                  <a:xfrm>
                    <a:off x="2091175" y="4210207"/>
                    <a:ext cx="555511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Arrow: Right 21">
                    <a:extLst>
                      <a:ext uri="{FF2B5EF4-FFF2-40B4-BE49-F238E27FC236}">
                        <a16:creationId xmlns:a16="http://schemas.microsoft.com/office/drawing/2014/main" id="{C3D86AD3-C3AA-5591-418C-0F0CA991678B}"/>
                      </a:ext>
                    </a:extLst>
                  </p:cNvPr>
                  <p:cNvSpPr/>
                  <p:nvPr/>
                </p:nvSpPr>
                <p:spPr>
                  <a:xfrm>
                    <a:off x="2640548" y="4210207"/>
                    <a:ext cx="337170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Arrow: Right 22">
                    <a:extLst>
                      <a:ext uri="{FF2B5EF4-FFF2-40B4-BE49-F238E27FC236}">
                        <a16:creationId xmlns:a16="http://schemas.microsoft.com/office/drawing/2014/main" id="{6889B1BF-3CFB-0A01-D058-FA7B49C0E34B}"/>
                      </a:ext>
                    </a:extLst>
                  </p:cNvPr>
                  <p:cNvSpPr/>
                  <p:nvPr/>
                </p:nvSpPr>
                <p:spPr>
                  <a:xfrm>
                    <a:off x="2970029" y="4210207"/>
                    <a:ext cx="557062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0F370CD-D33A-FC7F-6CEC-32C3B2A73281}"/>
                    </a:ext>
                  </a:extLst>
                </p:cNvPr>
                <p:cNvSpPr txBox="1"/>
                <p:nvPr/>
              </p:nvSpPr>
              <p:spPr>
                <a:xfrm>
                  <a:off x="1559241" y="3781306"/>
                  <a:ext cx="2043406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Continuous imaging sequence </a:t>
                  </a:r>
                </a:p>
              </p:txBody>
            </p:sp>
          </p:grpSp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34564183-E7C1-7301-A06D-3178047FE6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598" y="4138713"/>
                <a:ext cx="731520" cy="528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8389EFD-9BB6-4726-35B5-AF2B49912294}"/>
                </a:ext>
              </a:extLst>
            </p:cNvPr>
            <p:cNvGrpSpPr/>
            <p:nvPr/>
          </p:nvGrpSpPr>
          <p:grpSpPr>
            <a:xfrm>
              <a:off x="5157462" y="1767612"/>
              <a:ext cx="1669549" cy="246221"/>
              <a:chOff x="5557997" y="1765121"/>
              <a:chExt cx="1669549" cy="246221"/>
            </a:xfrm>
          </p:grpSpPr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6F8599C3-8E91-DACA-1DC1-1EB8F01A3E7B}"/>
                  </a:ext>
                </a:extLst>
              </p:cNvPr>
              <p:cNvSpPr/>
              <p:nvPr/>
            </p:nvSpPr>
            <p:spPr>
              <a:xfrm>
                <a:off x="555799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8CD01148-272C-65C0-C597-2FB284342CC3}"/>
                  </a:ext>
                </a:extLst>
              </p:cNvPr>
              <p:cNvSpPr/>
              <p:nvPr/>
            </p:nvSpPr>
            <p:spPr>
              <a:xfrm>
                <a:off x="5895166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F815A276-D182-D706-C645-5C971A4DDCB6}"/>
                  </a:ext>
                </a:extLst>
              </p:cNvPr>
              <p:cNvSpPr/>
              <p:nvPr/>
            </p:nvSpPr>
            <p:spPr>
              <a:xfrm>
                <a:off x="622418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DF6C6ED5-0FCA-BF43-F1EC-BAAD6D79421E}"/>
                  </a:ext>
                </a:extLst>
              </p:cNvPr>
              <p:cNvSpPr/>
              <p:nvPr/>
            </p:nvSpPr>
            <p:spPr>
              <a:xfrm>
                <a:off x="6553208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60BF6E99-C25E-F777-9B27-FA95F68AB900}"/>
                  </a:ext>
                </a:extLst>
              </p:cNvPr>
              <p:cNvSpPr/>
              <p:nvPr/>
            </p:nvSpPr>
            <p:spPr>
              <a:xfrm>
                <a:off x="689037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D69463-1016-9125-CECD-7B1DC8E2054E}"/>
                </a:ext>
              </a:extLst>
            </p:cNvPr>
            <p:cNvSpPr txBox="1"/>
            <p:nvPr/>
          </p:nvSpPr>
          <p:spPr>
            <a:xfrm>
              <a:off x="5073686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76B7EC-E7C4-9824-F1B1-6125565537EB}"/>
                </a:ext>
              </a:extLst>
            </p:cNvPr>
            <p:cNvSpPr txBox="1"/>
            <p:nvPr/>
          </p:nvSpPr>
          <p:spPr>
            <a:xfrm>
              <a:off x="5429538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CF8A899-7B0E-98E8-08D5-AE0B6854B165}"/>
                </a:ext>
              </a:extLst>
            </p:cNvPr>
            <p:cNvSpPr txBox="1"/>
            <p:nvPr/>
          </p:nvSpPr>
          <p:spPr>
            <a:xfrm>
              <a:off x="5760563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A91A653-ABCA-D453-3BD1-747A570D48B1}"/>
                </a:ext>
              </a:extLst>
            </p:cNvPr>
            <p:cNvSpPr txBox="1"/>
            <p:nvPr/>
          </p:nvSpPr>
          <p:spPr>
            <a:xfrm>
              <a:off x="6089584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B3AA9F-AEE5-98A9-1440-051438F09C27}"/>
                </a:ext>
              </a:extLst>
            </p:cNvPr>
            <p:cNvSpPr txBox="1"/>
            <p:nvPr/>
          </p:nvSpPr>
          <p:spPr>
            <a:xfrm>
              <a:off x="6418605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0B09EE-D6EA-B7A9-CB7C-252D278C386F}"/>
                </a:ext>
              </a:extLst>
            </p:cNvPr>
            <p:cNvSpPr txBox="1"/>
            <p:nvPr/>
          </p:nvSpPr>
          <p:spPr>
            <a:xfrm>
              <a:off x="8251087" y="1577814"/>
              <a:ext cx="978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pc="-5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No SLM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9E13AF-40BB-0FCF-11D2-4F07B2A7D5A7}"/>
                </a:ext>
              </a:extLst>
            </p:cNvPr>
            <p:cNvSpPr txBox="1"/>
            <p:nvPr/>
          </p:nvSpPr>
          <p:spPr>
            <a:xfrm>
              <a:off x="8251087" y="1888232"/>
              <a:ext cx="391035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original from Lloyd Russell 2017</a:t>
              </a:r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23DB484C-EE74-C5AB-A025-DCF0ADD16A69}"/>
                </a:ext>
              </a:extLst>
            </p:cNvPr>
            <p:cNvSpPr/>
            <p:nvPr/>
          </p:nvSpPr>
          <p:spPr>
            <a:xfrm>
              <a:off x="3516294" y="2653528"/>
              <a:ext cx="337170" cy="246221"/>
            </a:xfrm>
            <a:prstGeom prst="rightArrow">
              <a:avLst/>
            </a:prstGeom>
            <a:gradFill>
              <a:gsLst>
                <a:gs pos="0">
                  <a:srgbClr val="336CBE"/>
                </a:gs>
                <a:gs pos="100000">
                  <a:srgbClr val="80201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332A509-26D4-3AD7-C6FF-89E1D36C7215}"/>
                </a:ext>
              </a:extLst>
            </p:cNvPr>
            <p:cNvSpPr txBox="1"/>
            <p:nvPr/>
          </p:nvSpPr>
          <p:spPr>
            <a:xfrm>
              <a:off x="3902528" y="2563354"/>
              <a:ext cx="70821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Noted that, it is possible that during one specific iteration (</a:t>
              </a:r>
              <a:r>
                <a:rPr lang="en-US" sz="1200" b="0" i="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occurs randomly</a:t>
              </a:r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) from Bruker-&gt;MATLAB data reading, the sample size is 0, even during continuous recording;  But it </a:t>
              </a:r>
              <a:r>
                <a:rPr lang="en-US" sz="1200" b="0" i="0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is very rare that such case occurs continuously twice</a:t>
              </a:r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 (when I say “rare” means I never saw that).</a:t>
              </a:r>
              <a:endParaRPr 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F785350-0280-A898-1A23-DC77A69DEC16}"/>
                </a:ext>
              </a:extLst>
            </p:cNvPr>
            <p:cNvSpPr txBox="1"/>
            <p:nvPr/>
          </p:nvSpPr>
          <p:spPr>
            <a:xfrm>
              <a:off x="1806735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42C855-D68E-04E9-3555-14FDCDFC18C5}"/>
                </a:ext>
              </a:extLst>
            </p:cNvPr>
            <p:cNvSpPr txBox="1"/>
            <p:nvPr/>
          </p:nvSpPr>
          <p:spPr>
            <a:xfrm>
              <a:off x="217247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0C7E849-C0B3-C2BD-D48C-C521081F3D16}"/>
                </a:ext>
              </a:extLst>
            </p:cNvPr>
            <p:cNvSpPr txBox="1"/>
            <p:nvPr/>
          </p:nvSpPr>
          <p:spPr>
            <a:xfrm>
              <a:off x="2659132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C87821F-E7A4-8237-45CC-922BBB9657BD}"/>
                </a:ext>
              </a:extLst>
            </p:cNvPr>
            <p:cNvSpPr txBox="1"/>
            <p:nvPr/>
          </p:nvSpPr>
          <p:spPr>
            <a:xfrm>
              <a:off x="3140121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D520BC2-E599-86E2-C7BD-89596AA0F1D7}"/>
                </a:ext>
              </a:extLst>
            </p:cNvPr>
            <p:cNvSpPr txBox="1"/>
            <p:nvPr/>
          </p:nvSpPr>
          <p:spPr>
            <a:xfrm>
              <a:off x="353922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5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82C9E0-1759-75AD-F64B-01352AEE6DEF}"/>
                </a:ext>
              </a:extLst>
            </p:cNvPr>
            <p:cNvSpPr txBox="1"/>
            <p:nvPr/>
          </p:nvSpPr>
          <p:spPr>
            <a:xfrm>
              <a:off x="196000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44745E1-EDD2-0616-A061-768BC9493EAC}"/>
                </a:ext>
              </a:extLst>
            </p:cNvPr>
            <p:cNvSpPr txBox="1"/>
            <p:nvPr/>
          </p:nvSpPr>
          <p:spPr>
            <a:xfrm>
              <a:off x="2299206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9B3D07F-0ACB-1103-C8EC-11184A5E76AF}"/>
                </a:ext>
              </a:extLst>
            </p:cNvPr>
            <p:cNvSpPr txBox="1"/>
            <p:nvPr/>
          </p:nvSpPr>
          <p:spPr>
            <a:xfrm>
              <a:off x="2638404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D002554-B986-CAF0-00A9-17A0B2CB112B}"/>
                </a:ext>
              </a:extLst>
            </p:cNvPr>
            <p:cNvSpPr txBox="1"/>
            <p:nvPr/>
          </p:nvSpPr>
          <p:spPr>
            <a:xfrm>
              <a:off x="2977601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BCE5EAF-AFEE-7F97-3E7A-CF1A2BD97473}"/>
                </a:ext>
              </a:extLst>
            </p:cNvPr>
            <p:cNvSpPr txBox="1"/>
            <p:nvPr/>
          </p:nvSpPr>
          <p:spPr>
            <a:xfrm>
              <a:off x="331679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5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A5B6105-6655-8D31-AC75-D23930B5DB90}"/>
                </a:ext>
              </a:extLst>
            </p:cNvPr>
            <p:cNvCxnSpPr>
              <a:cxnSpLocks/>
            </p:cNvCxnSpPr>
            <p:nvPr/>
          </p:nvCxnSpPr>
          <p:spPr>
            <a:xfrm>
              <a:off x="2194275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15D5089-30D9-7046-D318-350584F94A92}"/>
                </a:ext>
              </a:extLst>
            </p:cNvPr>
            <p:cNvCxnSpPr>
              <a:cxnSpLocks/>
            </p:cNvCxnSpPr>
            <p:nvPr/>
          </p:nvCxnSpPr>
          <p:spPr>
            <a:xfrm>
              <a:off x="2532883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EF5FE37-A006-29D3-3168-FDDB1CF3E0B0}"/>
                </a:ext>
              </a:extLst>
            </p:cNvPr>
            <p:cNvCxnSpPr>
              <a:cxnSpLocks/>
            </p:cNvCxnSpPr>
            <p:nvPr/>
          </p:nvCxnSpPr>
          <p:spPr>
            <a:xfrm>
              <a:off x="2871491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750E873-36BD-9BA4-EFB5-6CB31886F724}"/>
                </a:ext>
              </a:extLst>
            </p:cNvPr>
            <p:cNvCxnSpPr>
              <a:cxnSpLocks/>
            </p:cNvCxnSpPr>
            <p:nvPr/>
          </p:nvCxnSpPr>
          <p:spPr>
            <a:xfrm>
              <a:off x="3210099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37FEF6A-AF28-634D-FD08-C8942F867BBB}"/>
                </a:ext>
              </a:extLst>
            </p:cNvPr>
            <p:cNvCxnSpPr>
              <a:cxnSpLocks/>
            </p:cNvCxnSpPr>
            <p:nvPr/>
          </p:nvCxnSpPr>
          <p:spPr>
            <a:xfrm>
              <a:off x="3548708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4B53BBC-EE49-7B13-904E-233A5CFB55F7}"/>
              </a:ext>
            </a:extLst>
          </p:cNvPr>
          <p:cNvGrpSpPr/>
          <p:nvPr/>
        </p:nvGrpSpPr>
        <p:grpSpPr>
          <a:xfrm>
            <a:off x="997769" y="3505415"/>
            <a:ext cx="8579367" cy="1768852"/>
            <a:chOff x="997769" y="1325563"/>
            <a:chExt cx="8579367" cy="176885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8E4D5E-CE72-4645-047A-334810E7462A}"/>
                </a:ext>
              </a:extLst>
            </p:cNvPr>
            <p:cNvGrpSpPr/>
            <p:nvPr/>
          </p:nvGrpSpPr>
          <p:grpSpPr>
            <a:xfrm>
              <a:off x="997769" y="1325563"/>
              <a:ext cx="6691614" cy="954239"/>
              <a:chOff x="451504" y="3781306"/>
              <a:chExt cx="6691614" cy="954239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E2CF9499-E160-8BE8-62F9-AFBCA29068BC}"/>
                  </a:ext>
                </a:extLst>
              </p:cNvPr>
              <p:cNvGrpSpPr/>
              <p:nvPr/>
            </p:nvGrpSpPr>
            <p:grpSpPr>
              <a:xfrm>
                <a:off x="451504" y="3781306"/>
                <a:ext cx="3963812" cy="954239"/>
                <a:chOff x="451504" y="3781306"/>
                <a:chExt cx="3963812" cy="954239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F0CF5F05-2223-19BC-4E5C-338DA90CC050}"/>
                    </a:ext>
                  </a:extLst>
                </p:cNvPr>
                <p:cNvSpPr txBox="1"/>
                <p:nvPr/>
              </p:nvSpPr>
              <p:spPr>
                <a:xfrm>
                  <a:off x="2005618" y="3933208"/>
                  <a:ext cx="1150652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 flow</a:t>
                  </a:r>
                </a:p>
              </p:txBody>
            </p: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4404C90A-EF09-69AA-B035-BA4DFF39B0C5}"/>
                    </a:ext>
                  </a:extLst>
                </p:cNvPr>
                <p:cNvGrpSpPr/>
                <p:nvPr/>
              </p:nvGrpSpPr>
              <p:grpSpPr>
                <a:xfrm>
                  <a:off x="451504" y="3944083"/>
                  <a:ext cx="3963812" cy="791462"/>
                  <a:chOff x="937057" y="1544882"/>
                  <a:chExt cx="3963812" cy="791462"/>
                </a:xfrm>
              </p:grpSpPr>
              <p:pic>
                <p:nvPicPr>
                  <p:cNvPr id="109" name="Picture 2" descr="Bruker (@bruker) / X">
                    <a:extLst>
                      <a:ext uri="{FF2B5EF4-FFF2-40B4-BE49-F238E27FC236}">
                        <a16:creationId xmlns:a16="http://schemas.microsoft.com/office/drawing/2014/main" id="{1E251633-7DA5-700A-1761-548B0E622F9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37057" y="1544882"/>
                    <a:ext cx="788790" cy="78879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10" name="Picture 4" descr="MATLAB - Wikipedia">
                    <a:extLst>
                      <a:ext uri="{FF2B5EF4-FFF2-40B4-BE49-F238E27FC236}">
                        <a16:creationId xmlns:a16="http://schemas.microsoft.com/office/drawing/2014/main" id="{BE8EC11E-2166-40E1-7B26-DB93E0B763D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025377" y="1553205"/>
                    <a:ext cx="875492" cy="78313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F948DDDA-E133-B557-4D1D-0AC60026634A}"/>
                    </a:ext>
                  </a:extLst>
                </p:cNvPr>
                <p:cNvGrpSpPr/>
                <p:nvPr/>
              </p:nvGrpSpPr>
              <p:grpSpPr>
                <a:xfrm>
                  <a:off x="1337225" y="4210207"/>
                  <a:ext cx="2189866" cy="246221"/>
                  <a:chOff x="1337225" y="4210207"/>
                  <a:chExt cx="2189866" cy="246221"/>
                </a:xfrm>
              </p:grpSpPr>
              <p:sp>
                <p:nvSpPr>
                  <p:cNvPr id="104" name="Arrow: Right 103">
                    <a:extLst>
                      <a:ext uri="{FF2B5EF4-FFF2-40B4-BE49-F238E27FC236}">
                        <a16:creationId xmlns:a16="http://schemas.microsoft.com/office/drawing/2014/main" id="{B009C80A-E1DF-9970-79E6-759F09EE5F96}"/>
                      </a:ext>
                    </a:extLst>
                  </p:cNvPr>
                  <p:cNvSpPr/>
                  <p:nvPr/>
                </p:nvSpPr>
                <p:spPr>
                  <a:xfrm>
                    <a:off x="1337225" y="4210207"/>
                    <a:ext cx="337169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" name="Arrow: Right 104">
                    <a:extLst>
                      <a:ext uri="{FF2B5EF4-FFF2-40B4-BE49-F238E27FC236}">
                        <a16:creationId xmlns:a16="http://schemas.microsoft.com/office/drawing/2014/main" id="{CA382ED1-9E22-F91F-EBCB-1F27D5931499}"/>
                      </a:ext>
                    </a:extLst>
                  </p:cNvPr>
                  <p:cNvSpPr/>
                  <p:nvPr/>
                </p:nvSpPr>
                <p:spPr>
                  <a:xfrm>
                    <a:off x="1676814" y="4210207"/>
                    <a:ext cx="532901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" name="Arrow: Right 106">
                    <a:extLst>
                      <a:ext uri="{FF2B5EF4-FFF2-40B4-BE49-F238E27FC236}">
                        <a16:creationId xmlns:a16="http://schemas.microsoft.com/office/drawing/2014/main" id="{73EFBD58-E8B9-F30D-18A2-060A4631D168}"/>
                      </a:ext>
                    </a:extLst>
                  </p:cNvPr>
                  <p:cNvSpPr/>
                  <p:nvPr/>
                </p:nvSpPr>
                <p:spPr>
                  <a:xfrm>
                    <a:off x="2640548" y="4210207"/>
                    <a:ext cx="337170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" name="Arrow: Right 107">
                    <a:extLst>
                      <a:ext uri="{FF2B5EF4-FFF2-40B4-BE49-F238E27FC236}">
                        <a16:creationId xmlns:a16="http://schemas.microsoft.com/office/drawing/2014/main" id="{02CCDC11-CAFE-140A-E62A-368226750FC4}"/>
                      </a:ext>
                    </a:extLst>
                  </p:cNvPr>
                  <p:cNvSpPr/>
                  <p:nvPr/>
                </p:nvSpPr>
                <p:spPr>
                  <a:xfrm>
                    <a:off x="2970029" y="4210207"/>
                    <a:ext cx="557062" cy="246221"/>
                  </a:xfrm>
                  <a:prstGeom prst="rightArrow">
                    <a:avLst/>
                  </a:prstGeom>
                  <a:gradFill>
                    <a:gsLst>
                      <a:gs pos="0">
                        <a:srgbClr val="336CBE"/>
                      </a:gs>
                      <a:gs pos="100000">
                        <a:srgbClr val="802010"/>
                      </a:gs>
                    </a:gsLst>
                    <a:lin ang="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D3644A36-AB54-AB4D-2FFE-4EF53A01A692}"/>
                    </a:ext>
                  </a:extLst>
                </p:cNvPr>
                <p:cNvSpPr txBox="1"/>
                <p:nvPr/>
              </p:nvSpPr>
              <p:spPr>
                <a:xfrm>
                  <a:off x="1559241" y="3781306"/>
                  <a:ext cx="2043406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000" dirty="0">
                      <a:solidFill>
                        <a:srgbClr val="0070C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Pause for SLM</a:t>
                  </a:r>
                </a:p>
              </p:txBody>
            </p:sp>
          </p:grpSp>
          <p:pic>
            <p:nvPicPr>
              <p:cNvPr id="99" name="Picture 2">
                <a:extLst>
                  <a:ext uri="{FF2B5EF4-FFF2-40B4-BE49-F238E27FC236}">
                    <a16:creationId xmlns:a16="http://schemas.microsoft.com/office/drawing/2014/main" id="{D30B0B3E-66BB-DC45-5A99-4C39490375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11598" y="4138713"/>
                <a:ext cx="731520" cy="5283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26A2DCA-C141-FDA9-E068-306B64152C7B}"/>
                </a:ext>
              </a:extLst>
            </p:cNvPr>
            <p:cNvGrpSpPr/>
            <p:nvPr/>
          </p:nvGrpSpPr>
          <p:grpSpPr>
            <a:xfrm>
              <a:off x="5157462" y="1767612"/>
              <a:ext cx="1669549" cy="246221"/>
              <a:chOff x="5557997" y="1765121"/>
              <a:chExt cx="1669549" cy="246221"/>
            </a:xfrm>
          </p:grpSpPr>
          <p:sp>
            <p:nvSpPr>
              <p:cNvPr id="93" name="Arrow: Right 92">
                <a:extLst>
                  <a:ext uri="{FF2B5EF4-FFF2-40B4-BE49-F238E27FC236}">
                    <a16:creationId xmlns:a16="http://schemas.microsoft.com/office/drawing/2014/main" id="{ECE1510D-AE7C-0EB4-388B-D81030ACD6FD}"/>
                  </a:ext>
                </a:extLst>
              </p:cNvPr>
              <p:cNvSpPr/>
              <p:nvPr/>
            </p:nvSpPr>
            <p:spPr>
              <a:xfrm>
                <a:off x="555799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Arrow: Right 93">
                <a:extLst>
                  <a:ext uri="{FF2B5EF4-FFF2-40B4-BE49-F238E27FC236}">
                    <a16:creationId xmlns:a16="http://schemas.microsoft.com/office/drawing/2014/main" id="{5E1239E2-A5E8-ACE2-CF87-1733927A80CA}"/>
                  </a:ext>
                </a:extLst>
              </p:cNvPr>
              <p:cNvSpPr/>
              <p:nvPr/>
            </p:nvSpPr>
            <p:spPr>
              <a:xfrm>
                <a:off x="5895166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Arrow: Right 94">
                <a:extLst>
                  <a:ext uri="{FF2B5EF4-FFF2-40B4-BE49-F238E27FC236}">
                    <a16:creationId xmlns:a16="http://schemas.microsoft.com/office/drawing/2014/main" id="{FDDD806E-263C-4F10-1D00-C650E22DEF0D}"/>
                  </a:ext>
                </a:extLst>
              </p:cNvPr>
              <p:cNvSpPr/>
              <p:nvPr/>
            </p:nvSpPr>
            <p:spPr>
              <a:xfrm>
                <a:off x="622418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Arrow: Right 95">
                <a:extLst>
                  <a:ext uri="{FF2B5EF4-FFF2-40B4-BE49-F238E27FC236}">
                    <a16:creationId xmlns:a16="http://schemas.microsoft.com/office/drawing/2014/main" id="{70304EE6-C046-0D90-BC54-B4366E9DBBB2}"/>
                  </a:ext>
                </a:extLst>
              </p:cNvPr>
              <p:cNvSpPr/>
              <p:nvPr/>
            </p:nvSpPr>
            <p:spPr>
              <a:xfrm>
                <a:off x="6553208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Arrow: Right 96">
                <a:extLst>
                  <a:ext uri="{FF2B5EF4-FFF2-40B4-BE49-F238E27FC236}">
                    <a16:creationId xmlns:a16="http://schemas.microsoft.com/office/drawing/2014/main" id="{83A9DD08-4B05-0825-492F-5B35A9CA65C9}"/>
                  </a:ext>
                </a:extLst>
              </p:cNvPr>
              <p:cNvSpPr/>
              <p:nvPr/>
            </p:nvSpPr>
            <p:spPr>
              <a:xfrm>
                <a:off x="6890377" y="1765121"/>
                <a:ext cx="337169" cy="246221"/>
              </a:xfrm>
              <a:prstGeom prst="rightArrow">
                <a:avLst/>
              </a:prstGeom>
              <a:gradFill>
                <a:gsLst>
                  <a:gs pos="0">
                    <a:srgbClr val="802010"/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50B08C0-DDFF-99A7-E064-7DC700210E21}"/>
                </a:ext>
              </a:extLst>
            </p:cNvPr>
            <p:cNvSpPr txBox="1"/>
            <p:nvPr/>
          </p:nvSpPr>
          <p:spPr>
            <a:xfrm>
              <a:off x="5073686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46B9F08-7B86-4C29-346C-FFA6D5EDAF6B}"/>
                </a:ext>
              </a:extLst>
            </p:cNvPr>
            <p:cNvSpPr txBox="1"/>
            <p:nvPr/>
          </p:nvSpPr>
          <p:spPr>
            <a:xfrm>
              <a:off x="5429538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D9A777E-D432-3028-2228-3885AF9BC47D}"/>
                </a:ext>
              </a:extLst>
            </p:cNvPr>
            <p:cNvSpPr txBox="1"/>
            <p:nvPr/>
          </p:nvSpPr>
          <p:spPr>
            <a:xfrm>
              <a:off x="5760563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7DFDC4E-E4D8-5A57-F463-9B1B2BD8FAA2}"/>
                </a:ext>
              </a:extLst>
            </p:cNvPr>
            <p:cNvSpPr txBox="1"/>
            <p:nvPr/>
          </p:nvSpPr>
          <p:spPr>
            <a:xfrm>
              <a:off x="6089584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C9E2E39-4DB2-1D98-1F34-143660803F05}"/>
                </a:ext>
              </a:extLst>
            </p:cNvPr>
            <p:cNvSpPr txBox="1"/>
            <p:nvPr/>
          </p:nvSpPr>
          <p:spPr>
            <a:xfrm>
              <a:off x="6418605" y="2013833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5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7835D0F-7AD7-20A8-0355-99A993DB62E4}"/>
                </a:ext>
              </a:extLst>
            </p:cNvPr>
            <p:cNvSpPr txBox="1"/>
            <p:nvPr/>
          </p:nvSpPr>
          <p:spPr>
            <a:xfrm>
              <a:off x="8251087" y="1577814"/>
              <a:ext cx="9784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pc="-5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SLM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014D52B-B410-7AD3-5849-7563E53E29A4}"/>
                </a:ext>
              </a:extLst>
            </p:cNvPr>
            <p:cNvSpPr txBox="1"/>
            <p:nvPr/>
          </p:nvSpPr>
          <p:spPr>
            <a:xfrm>
              <a:off x="3902527" y="2632750"/>
              <a:ext cx="56746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Redundant data detected, clean the buffer; Pause the data processing till new data coming.  </a:t>
              </a:r>
              <a:endParaRPr lang="en-US" sz="12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9CFB1AE-BC6A-CEC4-0B0C-A94EAB7B9A2E}"/>
                </a:ext>
              </a:extLst>
            </p:cNvPr>
            <p:cNvSpPr txBox="1"/>
            <p:nvPr/>
          </p:nvSpPr>
          <p:spPr>
            <a:xfrm>
              <a:off x="1806735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1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7E037D6-D65C-A393-6535-3F9061E1891E}"/>
                </a:ext>
              </a:extLst>
            </p:cNvPr>
            <p:cNvSpPr txBox="1"/>
            <p:nvPr/>
          </p:nvSpPr>
          <p:spPr>
            <a:xfrm>
              <a:off x="217247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2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6BD5BF0-66E7-E638-6486-D7DFDCA22D7C}"/>
                </a:ext>
              </a:extLst>
            </p:cNvPr>
            <p:cNvSpPr txBox="1"/>
            <p:nvPr/>
          </p:nvSpPr>
          <p:spPr>
            <a:xfrm>
              <a:off x="3140121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3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06522CE-4F5D-1113-FFD2-74EA389732BE}"/>
                </a:ext>
              </a:extLst>
            </p:cNvPr>
            <p:cNvSpPr txBox="1"/>
            <p:nvPr/>
          </p:nvSpPr>
          <p:spPr>
            <a:xfrm>
              <a:off x="3539229" y="1975236"/>
              <a:ext cx="50983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 5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AAD5EF-2B53-E7EE-D3BD-E454FE787A8E}"/>
                </a:ext>
              </a:extLst>
            </p:cNvPr>
            <p:cNvSpPr txBox="1"/>
            <p:nvPr/>
          </p:nvSpPr>
          <p:spPr>
            <a:xfrm>
              <a:off x="196000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4F69140-D9F2-57FC-8F29-96A73B812078}"/>
                </a:ext>
              </a:extLst>
            </p:cNvPr>
            <p:cNvSpPr txBox="1"/>
            <p:nvPr/>
          </p:nvSpPr>
          <p:spPr>
            <a:xfrm>
              <a:off x="2299206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2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C5E8E97-CA20-F6CE-31C4-8EE18D3F17D5}"/>
                </a:ext>
              </a:extLst>
            </p:cNvPr>
            <p:cNvSpPr txBox="1"/>
            <p:nvPr/>
          </p:nvSpPr>
          <p:spPr>
            <a:xfrm>
              <a:off x="2977601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28829954-34F5-9A03-8E7B-34378BB362AD}"/>
                </a:ext>
              </a:extLst>
            </p:cNvPr>
            <p:cNvSpPr txBox="1"/>
            <p:nvPr/>
          </p:nvSpPr>
          <p:spPr>
            <a:xfrm>
              <a:off x="3316799" y="2212415"/>
              <a:ext cx="450001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4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8D4F45D-1468-001B-C4E5-FC99DF8904BD}"/>
                </a:ext>
              </a:extLst>
            </p:cNvPr>
            <p:cNvCxnSpPr>
              <a:cxnSpLocks/>
            </p:cNvCxnSpPr>
            <p:nvPr/>
          </p:nvCxnSpPr>
          <p:spPr>
            <a:xfrm>
              <a:off x="2194275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2699E84-A014-834B-9EF9-419D5A549A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4206" y="1655871"/>
              <a:ext cx="8677" cy="1335981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4FAD31E-B0D5-8CAA-1ECA-384C71DD634D}"/>
                </a:ext>
              </a:extLst>
            </p:cNvPr>
            <p:cNvCxnSpPr>
              <a:cxnSpLocks/>
            </p:cNvCxnSpPr>
            <p:nvPr/>
          </p:nvCxnSpPr>
          <p:spPr>
            <a:xfrm>
              <a:off x="3186347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85871B3-DF9E-F9E5-B1F3-973A90BB70E0}"/>
                </a:ext>
              </a:extLst>
            </p:cNvPr>
            <p:cNvCxnSpPr>
              <a:cxnSpLocks/>
            </p:cNvCxnSpPr>
            <p:nvPr/>
          </p:nvCxnSpPr>
          <p:spPr>
            <a:xfrm>
              <a:off x="3519018" y="1655871"/>
              <a:ext cx="0" cy="595358"/>
            </a:xfrm>
            <a:prstGeom prst="line">
              <a:avLst/>
            </a:prstGeom>
            <a:ln w="190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298C224-6AEC-78C0-40EC-3BC51B72118B}"/>
              </a:ext>
            </a:extLst>
          </p:cNvPr>
          <p:cNvCxnSpPr>
            <a:cxnSpLocks/>
          </p:cNvCxnSpPr>
          <p:nvPr/>
        </p:nvCxnSpPr>
        <p:spPr>
          <a:xfrm>
            <a:off x="2749207" y="3850946"/>
            <a:ext cx="6773" cy="1320758"/>
          </a:xfrm>
          <a:prstGeom prst="line">
            <a:avLst/>
          </a:prstGeom>
          <a:ln w="19050">
            <a:solidFill>
              <a:srgbClr val="D41C9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510328C-5D7F-D06E-02EB-22D76F066E04}"/>
              </a:ext>
            </a:extLst>
          </p:cNvPr>
          <p:cNvCxnSpPr>
            <a:cxnSpLocks/>
          </p:cNvCxnSpPr>
          <p:nvPr/>
        </p:nvCxnSpPr>
        <p:spPr>
          <a:xfrm>
            <a:off x="2526008" y="4937672"/>
            <a:ext cx="244000" cy="0"/>
          </a:xfrm>
          <a:prstGeom prst="straightConnector1">
            <a:avLst/>
          </a:prstGeom>
          <a:ln>
            <a:solidFill>
              <a:srgbClr val="D41C9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A57780C-0572-FF2D-5D50-0C2CE52114AD}"/>
              </a:ext>
            </a:extLst>
          </p:cNvPr>
          <p:cNvCxnSpPr>
            <a:cxnSpLocks/>
          </p:cNvCxnSpPr>
          <p:nvPr/>
        </p:nvCxnSpPr>
        <p:spPr>
          <a:xfrm>
            <a:off x="3523983" y="4933230"/>
            <a:ext cx="244000" cy="0"/>
          </a:xfrm>
          <a:prstGeom prst="straightConnector1">
            <a:avLst/>
          </a:prstGeom>
          <a:ln>
            <a:solidFill>
              <a:srgbClr val="D41C9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748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857</Words>
  <Application>Microsoft Office PowerPoint</Application>
  <PresentationFormat>Widescreen</PresentationFormat>
  <Paragraphs>162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Holographic Imaging and Photo-Stimulation </vt:lpstr>
      <vt:lpstr>Holographic Imaging and Photo-Stimulation </vt:lpstr>
      <vt:lpstr>Bruker TSeries Recording</vt:lpstr>
      <vt:lpstr>Bruker TSeries Recording, 1 SLM Trial/File</vt:lpstr>
      <vt:lpstr>Bruker TSeries Recording, 1 SLM Trial/File</vt:lpstr>
      <vt:lpstr>Bruker TSeries Recording, 1 SLM Trial/File</vt:lpstr>
      <vt:lpstr>Bruker -&gt; MATLAB Data 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Zhang, Lu (NIH/NIMH) [C]</dc:creator>
  <cp:lastModifiedBy>Zhang, Lu (NIH/NIMH) [C]</cp:lastModifiedBy>
  <cp:revision>1</cp:revision>
  <dcterms:created xsi:type="dcterms:W3CDTF">2024-11-18T20:31:21Z</dcterms:created>
  <dcterms:modified xsi:type="dcterms:W3CDTF">2024-11-19T20:37:53Z</dcterms:modified>
</cp:coreProperties>
</file>