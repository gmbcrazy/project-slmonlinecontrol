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9C299D"/>
    <a:srgbClr val="40C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9799C-5BDD-4DD8-B078-2F578794B11C}" v="6" dt="2024-04-26T19:52:13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44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Lu (NIH/NIMH) [C]" userId="318da2a3-2b0e-4aa4-a279-c1e685263bc7" providerId="ADAL" clId="{6F49799C-5BDD-4DD8-B078-2F578794B11C}"/>
    <pc:docChg chg="custSel modSld">
      <pc:chgData name="Zhang, Lu (NIH/NIMH) [C]" userId="318da2a3-2b0e-4aa4-a279-c1e685263bc7" providerId="ADAL" clId="{6F49799C-5BDD-4DD8-B078-2F578794B11C}" dt="2024-04-26T19:52:21.789" v="47" actId="1076"/>
      <pc:docMkLst>
        <pc:docMk/>
      </pc:docMkLst>
      <pc:sldChg chg="addSp delSp modSp mod">
        <pc:chgData name="Zhang, Lu (NIH/NIMH) [C]" userId="318da2a3-2b0e-4aa4-a279-c1e685263bc7" providerId="ADAL" clId="{6F49799C-5BDD-4DD8-B078-2F578794B11C}" dt="2024-04-26T19:52:21.789" v="47" actId="1076"/>
        <pc:sldMkLst>
          <pc:docMk/>
          <pc:sldMk cId="2706843423" sldId="260"/>
        </pc:sldMkLst>
        <pc:spChg chg="del mod">
          <ac:chgData name="Zhang, Lu (NIH/NIMH) [C]" userId="318da2a3-2b0e-4aa4-a279-c1e685263bc7" providerId="ADAL" clId="{6F49799C-5BDD-4DD8-B078-2F578794B11C}" dt="2024-04-26T19:50:27.675" v="16" actId="478"/>
          <ac:spMkLst>
            <pc:docMk/>
            <pc:sldMk cId="2706843423" sldId="260"/>
            <ac:spMk id="3" creationId="{763A9492-E304-6D86-CB0B-171FBDA02B3C}"/>
          </ac:spMkLst>
        </pc:spChg>
        <pc:spChg chg="add mod">
          <ac:chgData name="Zhang, Lu (NIH/NIMH) [C]" userId="318da2a3-2b0e-4aa4-a279-c1e685263bc7" providerId="ADAL" clId="{6F49799C-5BDD-4DD8-B078-2F578794B11C}" dt="2024-04-26T19:50:33.374" v="18" actId="14100"/>
          <ac:spMkLst>
            <pc:docMk/>
            <pc:sldMk cId="2706843423" sldId="260"/>
            <ac:spMk id="11" creationId="{D8037E08-0F4F-3462-822A-9C8FA30A15F1}"/>
          </ac:spMkLst>
        </pc:spChg>
        <pc:picChg chg="add del mod">
          <ac:chgData name="Zhang, Lu (NIH/NIMH) [C]" userId="318da2a3-2b0e-4aa4-a279-c1e685263bc7" providerId="ADAL" clId="{6F49799C-5BDD-4DD8-B078-2F578794B11C}" dt="2024-04-26T19:50:44.635" v="24" actId="478"/>
          <ac:picMkLst>
            <pc:docMk/>
            <pc:sldMk cId="2706843423" sldId="260"/>
            <ac:picMk id="8" creationId="{CC3A1EE4-89C6-CC71-9FD9-10BBD3F5BA9E}"/>
          </ac:picMkLst>
        </pc:picChg>
        <pc:picChg chg="add mod">
          <ac:chgData name="Zhang, Lu (NIH/NIMH) [C]" userId="318da2a3-2b0e-4aa4-a279-c1e685263bc7" providerId="ADAL" clId="{6F49799C-5BDD-4DD8-B078-2F578794B11C}" dt="2024-04-26T19:52:04.599" v="42" actId="14100"/>
          <ac:picMkLst>
            <pc:docMk/>
            <pc:sldMk cId="2706843423" sldId="260"/>
            <ac:picMk id="14" creationId="{F8138958-8AB4-FA90-14C9-2FD8715D3E67}"/>
          </ac:picMkLst>
        </pc:picChg>
        <pc:picChg chg="add del mod">
          <ac:chgData name="Zhang, Lu (NIH/NIMH) [C]" userId="318da2a3-2b0e-4aa4-a279-c1e685263bc7" providerId="ADAL" clId="{6F49799C-5BDD-4DD8-B078-2F578794B11C}" dt="2024-04-26T19:51:02.138" v="27" actId="478"/>
          <ac:picMkLst>
            <pc:docMk/>
            <pc:sldMk cId="2706843423" sldId="260"/>
            <ac:picMk id="17" creationId="{E66B587D-EB2E-5EE1-5408-FCB614CE1494}"/>
          </ac:picMkLst>
        </pc:picChg>
        <pc:picChg chg="add del mod">
          <ac:chgData name="Zhang, Lu (NIH/NIMH) [C]" userId="318da2a3-2b0e-4aa4-a279-c1e685263bc7" providerId="ADAL" clId="{6F49799C-5BDD-4DD8-B078-2F578794B11C}" dt="2024-04-26T19:51:36.121" v="35" actId="478"/>
          <ac:picMkLst>
            <pc:docMk/>
            <pc:sldMk cId="2706843423" sldId="260"/>
            <ac:picMk id="19" creationId="{F06E369F-D692-51D2-5D10-40CFB0FE589D}"/>
          </ac:picMkLst>
        </pc:picChg>
        <pc:picChg chg="add del mod">
          <ac:chgData name="Zhang, Lu (NIH/NIMH) [C]" userId="318da2a3-2b0e-4aa4-a279-c1e685263bc7" providerId="ADAL" clId="{6F49799C-5BDD-4DD8-B078-2F578794B11C}" dt="2024-04-26T19:51:35.386" v="34" actId="478"/>
          <ac:picMkLst>
            <pc:docMk/>
            <pc:sldMk cId="2706843423" sldId="260"/>
            <ac:picMk id="21" creationId="{804D9050-3AE9-7D6D-CE1A-580F3EE58892}"/>
          </ac:picMkLst>
        </pc:picChg>
        <pc:picChg chg="add mod">
          <ac:chgData name="Zhang, Lu (NIH/NIMH) [C]" userId="318da2a3-2b0e-4aa4-a279-c1e685263bc7" providerId="ADAL" clId="{6F49799C-5BDD-4DD8-B078-2F578794B11C}" dt="2024-04-26T19:52:21.789" v="47" actId="1076"/>
          <ac:picMkLst>
            <pc:docMk/>
            <pc:sldMk cId="2706843423" sldId="260"/>
            <ac:picMk id="29" creationId="{131BA869-43A3-6AC2-D4FB-DB4CF36EAC52}"/>
          </ac:picMkLst>
        </pc:picChg>
        <pc:picChg chg="add del mod">
          <ac:chgData name="Zhang, Lu (NIH/NIMH) [C]" userId="318da2a3-2b0e-4aa4-a279-c1e685263bc7" providerId="ADAL" clId="{6F49799C-5BDD-4DD8-B078-2F578794B11C}" dt="2024-04-26T19:52:16.969" v="46" actId="478"/>
          <ac:picMkLst>
            <pc:docMk/>
            <pc:sldMk cId="2706843423" sldId="260"/>
            <ac:picMk id="1038" creationId="{A885B2A1-C5E1-114C-72AB-164F584F39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C95B-C47C-070C-F937-9A3D43CFB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B15D2-134C-98F4-F82D-5988ACF0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C0EB-1CE6-E158-8BFA-CD301BC2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1F13A-75A8-A42C-851D-80D55EA8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E888F-E5F1-03E4-45F1-7A3CC516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0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F53F-29C5-E7CE-A4D9-57D5F14C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D655-9D11-0037-D524-11395E4A5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F7E7F-4DD2-197F-C01C-B51C70A0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41DD0-3A2F-271A-B957-BEAC1E87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25A80-E21E-E005-9F77-8663F0DB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4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B760-5C2B-8239-DD3D-A6449341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1A2EB-7568-025A-582C-71958CEFF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248F-8F8D-5D52-630A-A1614BD3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C8CEC-566A-B5EB-93FA-A23602E6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134D-B0EA-180D-CF96-BA277D79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5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351A-39FE-009E-37E9-8C48AB80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180B-ED64-4CEC-273D-BCBA2827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FEEF-4D4C-4274-D877-15F13ADC0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9E53B-DE82-C1DC-4531-ABD9BA35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DFA0E-7460-E90E-561C-7610ED63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14C0B-0179-7392-B371-11683F57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0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F29C-3D76-6021-9ECD-A58388C1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43913-7A33-7394-4AD4-7F8471F73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0BD45-D0B6-8149-D371-F29D931F8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22109-19FF-4C37-8ACB-0201B291A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40F98-73DE-56D4-80EC-1D0DE938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8FC2A-1EF9-983F-8DC4-091DE947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26C6-E377-4521-AD35-586F2EAA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CBC4A-903A-E467-C9D0-CE5454F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0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30AD-EEB8-8E55-85E5-021FAC44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95BA9-C9A5-EEBD-899C-9C61EBA6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5EFDF-4DB4-8339-3A3B-86507265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BC65A-0F69-54FB-EF61-D33CA8F5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1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A87A7-D42C-D35F-E4FD-730B77CA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67CA6-5F28-A05C-5986-CFD00D2F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89849-E678-56E2-EEC2-CBE6C602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3858-CC70-02DC-E80F-AD3E0651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E4D5E-E033-E9B8-0062-3EDD006D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72F27-21CE-FCBE-5D63-31CCC86CC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7A901-46AD-1385-77A5-86928249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355E7-1F75-593D-2822-A826F3CA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A82B5-927C-9F09-119D-6720C008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1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6BE-BC55-66C4-B2C8-C5797569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3BC76-CCB5-32DF-68AD-D24CC6E74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27E35-E868-4AB2-5972-A072FEB1B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AB41-3E07-B20C-B6D3-B18966B3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E0FBE-068D-9C19-E900-DE240E62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97B4F-23A5-6AB2-3375-5953727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4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4BE3-3860-B98F-3FBC-30E741C8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8B1C9-EF0C-46AB-4359-57E6BCEDD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8C3D5-D4FC-DAEF-170D-3F720B9A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76F5C-1634-3C3C-DB1F-EB3404C6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8537C-47D7-1792-5DDF-92ACC12A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7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FF37A-5EEA-F22C-97CC-554198F45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227B0-4056-DDB9-88CB-43AEA9791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6A56-6DAD-E071-6708-33F4A897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2612-B208-5EBA-08C1-D65DF003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F53A7-47D9-B8CF-6782-8B09F5B0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E118C-A6DE-9255-1D93-784C8564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F8E54-6928-69B7-F20D-CE8C44692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2498E-6A94-953B-3DB0-2A593C22C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9BCA5-1340-434E-9632-C7E03A1253E0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CB7FD-499E-C0F6-AAAD-CE67A7121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68A5-F69E-5FB2-9373-A08BA753D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C2187-BDEF-4E8D-9DAD-7F8A3061B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6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435502A-F29E-298D-8B6B-F25E0599A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2387477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2404250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2401791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0" name="Arrow: Curved Right 1039">
            <a:extLst>
              <a:ext uri="{FF2B5EF4-FFF2-40B4-BE49-F238E27FC236}">
                <a16:creationId xmlns:a16="http://schemas.microsoft.com/office/drawing/2014/main" id="{3AA154F1-78C7-9405-CAC9-F33C6C453B3B}"/>
              </a:ext>
            </a:extLst>
          </p:cNvPr>
          <p:cNvSpPr/>
          <p:nvPr/>
        </p:nvSpPr>
        <p:spPr>
          <a:xfrm rot="16200000">
            <a:off x="3604854" y="1216956"/>
            <a:ext cx="835358" cy="3388230"/>
          </a:xfrm>
          <a:prstGeom prst="curvedRightArrow">
            <a:avLst>
              <a:gd name="adj1" fmla="val 25000"/>
              <a:gd name="adj2" fmla="val 50000"/>
              <a:gd name="adj3" fmla="val 28069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1763702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04" y="15277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Semi-Automatic </a:t>
            </a:r>
            <a:r>
              <a:rPr lang="en-US" spc="-50" dirty="0">
                <a:solidFill>
                  <a:srgbClr val="01204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1721335"/>
            <a:ext cx="87492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1535141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1997024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2243568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Bruker_PrairieLink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1734197"/>
            <a:ext cx="752768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1734197"/>
            <a:ext cx="1310309" cy="749940"/>
          </a:xfrm>
          <a:prstGeom prst="roundRect">
            <a:avLst/>
          </a:prstGeom>
          <a:noFill/>
          <a:ln w="2540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152685" y="2248968"/>
            <a:ext cx="162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1529234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307051E-F871-CFAE-C5D5-42E360A82415}"/>
              </a:ext>
            </a:extLst>
          </p:cNvPr>
          <p:cNvSpPr/>
          <p:nvPr/>
        </p:nvSpPr>
        <p:spPr>
          <a:xfrm>
            <a:off x="1139107" y="3138420"/>
            <a:ext cx="2378622" cy="38066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Identify ROI of each cell, and their behavioral dependency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197688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152748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156325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173080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163676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130131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134605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477638" y="776719"/>
            <a:ext cx="1299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 ensure each cell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1721335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776992" y="2240693"/>
            <a:ext cx="1755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1970712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1734573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179115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</p:spTree>
    <p:extLst>
      <p:ext uri="{BB962C8B-B14F-4D97-AF65-F5344CB8AC3E}">
        <p14:creationId xmlns:p14="http://schemas.microsoft.com/office/powerpoint/2010/main" val="352068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435502A-F29E-298D-8B6B-F25E0599A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2387477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2404250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2401791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0" name="Arrow: Curved Right 1039">
            <a:extLst>
              <a:ext uri="{FF2B5EF4-FFF2-40B4-BE49-F238E27FC236}">
                <a16:creationId xmlns:a16="http://schemas.microsoft.com/office/drawing/2014/main" id="{3AA154F1-78C7-9405-CAC9-F33C6C453B3B}"/>
              </a:ext>
            </a:extLst>
          </p:cNvPr>
          <p:cNvSpPr/>
          <p:nvPr/>
        </p:nvSpPr>
        <p:spPr>
          <a:xfrm rot="16200000">
            <a:off x="3604854" y="1216956"/>
            <a:ext cx="835358" cy="3388230"/>
          </a:xfrm>
          <a:prstGeom prst="curvedRightArrow">
            <a:avLst>
              <a:gd name="adj1" fmla="val 25000"/>
              <a:gd name="adj2" fmla="val 50000"/>
              <a:gd name="adj3" fmla="val 28069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1763702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04" y="15277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Semi-Automatic </a:t>
            </a:r>
            <a:r>
              <a:rPr lang="en-US" spc="-50" dirty="0">
                <a:solidFill>
                  <a:srgbClr val="01204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1721335"/>
            <a:ext cx="874929" cy="749940"/>
          </a:xfrm>
          <a:prstGeom prst="roundRect">
            <a:avLst/>
          </a:prstGeom>
          <a:solidFill>
            <a:srgbClr val="C00000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1535141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1997024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2243568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Bruker_PrairieLink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1734197"/>
            <a:ext cx="752768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1734197"/>
            <a:ext cx="1310309" cy="749940"/>
          </a:xfrm>
          <a:prstGeom prst="roundRect">
            <a:avLst/>
          </a:prstGeom>
          <a:noFill/>
          <a:ln w="2540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152685" y="2248968"/>
            <a:ext cx="162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1529234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307051E-F871-CFAE-C5D5-42E360A82415}"/>
              </a:ext>
            </a:extLst>
          </p:cNvPr>
          <p:cNvSpPr/>
          <p:nvPr/>
        </p:nvSpPr>
        <p:spPr>
          <a:xfrm>
            <a:off x="1139107" y="3138420"/>
            <a:ext cx="2378622" cy="38066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Identify ROI of each cell, and their behavioral dependency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197688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152748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156325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173080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163676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130131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134605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477638" y="776719"/>
            <a:ext cx="1299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 ensure each cell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1721335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776992" y="2240693"/>
            <a:ext cx="1755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1970712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1734573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179115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3B68261A-9F67-26BC-829C-AAE9146F0D5C}"/>
              </a:ext>
            </a:extLst>
          </p:cNvPr>
          <p:cNvSpPr/>
          <p:nvPr/>
        </p:nvSpPr>
        <p:spPr>
          <a:xfrm>
            <a:off x="1479251" y="4101669"/>
            <a:ext cx="10115409" cy="2381693"/>
          </a:xfrm>
          <a:prstGeom prst="borderCallout2">
            <a:avLst>
              <a:gd name="adj1" fmla="val 36607"/>
              <a:gd name="adj2" fmla="val -1679"/>
              <a:gd name="adj3" fmla="val 20536"/>
              <a:gd name="adj4" fmla="val -7162"/>
              <a:gd name="adj5" fmla="val -66071"/>
              <a:gd name="adj6" fmla="val -8238"/>
            </a:avLst>
          </a:prstGeom>
          <a:solidFill>
            <a:srgbClr val="C00000">
              <a:alpha val="2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effectLst/>
              </a:rPr>
              <a:t>Imaging for 15 min -spontaneous movement + sensory stim (60 stim, 1 file)</a:t>
            </a:r>
          </a:p>
          <a:p>
            <a:endParaRPr lang="en-US" sz="1800" b="1" dirty="0">
              <a:solidFill>
                <a:schemeClr val="tx1"/>
              </a:solidFill>
              <a:effectLst/>
            </a:endParaRPr>
          </a:p>
          <a:p>
            <a:r>
              <a:rPr lang="en-US" sz="1800" dirty="0">
                <a:solidFill>
                  <a:schemeClr val="tx1"/>
                </a:solidFill>
                <a:effectLst/>
              </a:rPr>
              <a:t>Imaging: 3-4 planes (&gt;50 um apart) spanning from130 up to 300um (7-10Hz)/ 512x512 pixel/ ~600x600um/ under these imaging conditions, almost no imaging (&lt;50mW) artifact for ChroME2f  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</a:rPr>
              <a:t>During the recording, 0-Power SLM stimuli is applied randomly to make sure animal get used to the sound of shutter on-off switch. And provide supplementary data to prove cells do not just respond to the sound.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48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435502A-F29E-298D-8B6B-F25E0599A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2387477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2404250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2401791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0" name="Arrow: Curved Right 1039">
            <a:extLst>
              <a:ext uri="{FF2B5EF4-FFF2-40B4-BE49-F238E27FC236}">
                <a16:creationId xmlns:a16="http://schemas.microsoft.com/office/drawing/2014/main" id="{3AA154F1-78C7-9405-CAC9-F33C6C453B3B}"/>
              </a:ext>
            </a:extLst>
          </p:cNvPr>
          <p:cNvSpPr/>
          <p:nvPr/>
        </p:nvSpPr>
        <p:spPr>
          <a:xfrm rot="16200000">
            <a:off x="3604854" y="1216956"/>
            <a:ext cx="835358" cy="3388230"/>
          </a:xfrm>
          <a:prstGeom prst="curvedRightArrow">
            <a:avLst>
              <a:gd name="adj1" fmla="val 25000"/>
              <a:gd name="adj2" fmla="val 50000"/>
              <a:gd name="adj3" fmla="val 28069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1763702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04" y="15277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Semi-Automatic </a:t>
            </a:r>
            <a:r>
              <a:rPr lang="en-US" spc="-50" dirty="0">
                <a:solidFill>
                  <a:srgbClr val="01204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1721335"/>
            <a:ext cx="87492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1535141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1997024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2243568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Bruker_PrairieLink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1734197"/>
            <a:ext cx="752768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1734197"/>
            <a:ext cx="1310309" cy="749940"/>
          </a:xfrm>
          <a:prstGeom prst="round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152685" y="2248968"/>
            <a:ext cx="162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1529234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307051E-F871-CFAE-C5D5-42E360A82415}"/>
              </a:ext>
            </a:extLst>
          </p:cNvPr>
          <p:cNvSpPr/>
          <p:nvPr/>
        </p:nvSpPr>
        <p:spPr>
          <a:xfrm>
            <a:off x="1139107" y="3138420"/>
            <a:ext cx="2378622" cy="38066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Identify ROI of each cell, and their behavioral dependency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197688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152748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156325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173080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163676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130131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134605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477638" y="776719"/>
            <a:ext cx="1299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 ensure each cell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1721335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776992" y="2240693"/>
            <a:ext cx="1755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1970712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1734573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179115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37E08-0F4F-3462-822A-9C8FA30A15F1}"/>
              </a:ext>
            </a:extLst>
          </p:cNvPr>
          <p:cNvSpPr txBox="1"/>
          <p:nvPr/>
        </p:nvSpPr>
        <p:spPr>
          <a:xfrm>
            <a:off x="515424" y="3992769"/>
            <a:ext cx="66118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Automatic-generate 30 </a:t>
            </a:r>
            <a:r>
              <a:rPr lang="en-US" sz="1800" dirty="0">
                <a:solidFill>
                  <a:srgbClr val="9C299D"/>
                </a:solidFill>
              </a:rPr>
              <a:t>Non-cell targets</a:t>
            </a:r>
            <a:r>
              <a:rPr lang="en-US" sz="1800" dirty="0">
                <a:solidFill>
                  <a:schemeClr val="tx1"/>
                </a:solidFill>
              </a:rPr>
              <a:t> mostly locate at blood vessel regions (Noted that in right figure, blood vessel region is avoided, need to being updated.), loaded them in PV, and manually delete some of non-cell targets. Use the rest of non-cells and randomly generate 5 groups (9 non-cell targets) as Round 1, Round 2, … Round 5 trials for future </a:t>
            </a:r>
            <a:r>
              <a:rPr lang="en-US" sz="1800" dirty="0">
                <a:solidFill>
                  <a:srgbClr val="40C742"/>
                </a:solidFill>
              </a:rPr>
              <a:t>1 cell </a:t>
            </a:r>
            <a:r>
              <a:rPr lang="en-US" sz="1800" dirty="0">
                <a:solidFill>
                  <a:schemeClr val="tx1"/>
                </a:solidFill>
              </a:rPr>
              <a:t>+ </a:t>
            </a:r>
            <a:r>
              <a:rPr lang="en-US" sz="1800" dirty="0">
                <a:solidFill>
                  <a:srgbClr val="9C299D"/>
                </a:solidFill>
              </a:rPr>
              <a:t>9 non-cell </a:t>
            </a:r>
            <a:r>
              <a:rPr lang="en-US" sz="1800" dirty="0">
                <a:solidFill>
                  <a:schemeClr val="tx1"/>
                </a:solidFill>
              </a:rPr>
              <a:t>targeting. </a:t>
            </a:r>
          </a:p>
        </p:txBody>
      </p:sp>
      <p:pic>
        <p:nvPicPr>
          <p:cNvPr id="14" name="Picture 13" descr="A picture containing text, tree, plant&#10;&#10;Description automatically generated">
            <a:extLst>
              <a:ext uri="{FF2B5EF4-FFF2-40B4-BE49-F238E27FC236}">
                <a16:creationId xmlns:a16="http://schemas.microsoft.com/office/drawing/2014/main" id="{F8138958-8AB4-FA90-14C9-2FD8715D3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524" y="2911067"/>
            <a:ext cx="1373263" cy="4118125"/>
          </a:xfrm>
          <a:prstGeom prst="rect">
            <a:avLst/>
          </a:prstGeom>
        </p:spPr>
      </p:pic>
      <p:pic>
        <p:nvPicPr>
          <p:cNvPr id="29" name="Picture 28" descr="A picture containing text, tree, plant&#10;&#10;Description automatically generated">
            <a:extLst>
              <a:ext uri="{FF2B5EF4-FFF2-40B4-BE49-F238E27FC236}">
                <a16:creationId xmlns:a16="http://schemas.microsoft.com/office/drawing/2014/main" id="{131BA869-43A3-6AC2-D4FB-DB4CF36EA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465" y="2911068"/>
            <a:ext cx="1373263" cy="4118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844DD1-921A-7CEC-CCEC-28F468947188}"/>
              </a:ext>
            </a:extLst>
          </p:cNvPr>
          <p:cNvSpPr txBox="1"/>
          <p:nvPr/>
        </p:nvSpPr>
        <p:spPr>
          <a:xfrm>
            <a:off x="8197703" y="2870737"/>
            <a:ext cx="7081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Round 1            Round 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23833-3225-4E11-5F0D-46E8EBFF126A}"/>
              </a:ext>
            </a:extLst>
          </p:cNvPr>
          <p:cNvSpPr txBox="1"/>
          <p:nvPr/>
        </p:nvSpPr>
        <p:spPr>
          <a:xfrm>
            <a:off x="10699454" y="3538968"/>
            <a:ext cx="10388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Plane</a:t>
            </a:r>
            <a:r>
              <a:rPr lang="en-US" sz="1800" dirty="0">
                <a:solidFill>
                  <a:schemeClr val="tx1"/>
                </a:solidFill>
              </a:rPr>
              <a:t> 1</a:t>
            </a:r>
          </a:p>
          <a:p>
            <a:endParaRPr lang="en-US" dirty="0"/>
          </a:p>
          <a:p>
            <a:endParaRPr lang="en-US" dirty="0"/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dirty="0"/>
              <a:t>Plane</a:t>
            </a:r>
            <a:r>
              <a:rPr lang="en-US" sz="1800" dirty="0">
                <a:solidFill>
                  <a:schemeClr val="tx1"/>
                </a:solidFill>
              </a:rPr>
              <a:t> 2</a:t>
            </a:r>
          </a:p>
          <a:p>
            <a:endParaRPr lang="en-US" dirty="0"/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dirty="0"/>
              <a:t>Plane 3</a:t>
            </a:r>
          </a:p>
        </p:txBody>
      </p:sp>
    </p:spTree>
    <p:extLst>
      <p:ext uri="{BB962C8B-B14F-4D97-AF65-F5344CB8AC3E}">
        <p14:creationId xmlns:p14="http://schemas.microsoft.com/office/powerpoint/2010/main" val="270684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401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Semi-Automatic Workflow</vt:lpstr>
      <vt:lpstr>Semi-Automatic Workflow</vt:lpstr>
      <vt:lpstr>Semi-Automatic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Lu (NIH/NIMH) [C]</dc:creator>
  <cp:lastModifiedBy>Zhang, Lu (NIH/NIMH) [C]</cp:lastModifiedBy>
  <cp:revision>3</cp:revision>
  <dcterms:created xsi:type="dcterms:W3CDTF">2024-04-26T19:42:07Z</dcterms:created>
  <dcterms:modified xsi:type="dcterms:W3CDTF">2024-05-07T21:22:46Z</dcterms:modified>
</cp:coreProperties>
</file>