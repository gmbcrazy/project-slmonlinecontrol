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33" r:id="rId3"/>
    <p:sldId id="334" r:id="rId4"/>
    <p:sldId id="337" r:id="rId5"/>
    <p:sldId id="338" r:id="rId6"/>
    <p:sldId id="342" r:id="rId7"/>
    <p:sldId id="335" r:id="rId8"/>
    <p:sldId id="340" r:id="rId9"/>
    <p:sldId id="343" r:id="rId10"/>
    <p:sldId id="346" r:id="rId11"/>
    <p:sldId id="344" r:id="rId12"/>
    <p:sldId id="345" r:id="rId13"/>
    <p:sldId id="347" r:id="rId14"/>
    <p:sldId id="348" r:id="rId15"/>
    <p:sldId id="349" r:id="rId16"/>
    <p:sldId id="350" r:id="rId17"/>
    <p:sldId id="35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BFD9FF"/>
    <a:srgbClr val="0066FF"/>
    <a:srgbClr val="5B5BEC"/>
    <a:srgbClr val="802010"/>
    <a:srgbClr val="336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9" autoAdjust="0"/>
    <p:restoredTop sz="94658"/>
  </p:normalViewPr>
  <p:slideViewPr>
    <p:cSldViewPr snapToGrid="0">
      <p:cViewPr varScale="1">
        <p:scale>
          <a:sx n="108" d="100"/>
          <a:sy n="108" d="100"/>
        </p:scale>
        <p:origin x="24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134" y="10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C3351F-E024-C4AA-1446-B0538EB3B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F02D81-11E5-9446-4489-538F5D639C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3466B-F24C-4C3B-BA66-32BC8266E9CE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E8AFB-D22B-0887-2E3C-C380403D33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BE1F8-188F-0987-3DE2-7D96C6FD03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42B14-D05B-4000-B290-7AE501306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773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55D5C-10D5-4ED1-8816-072E89CFE96E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AF9B9-FB97-4EE4-87DF-885D1F80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6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E4E9-8030-E9B7-D52D-0C40308FD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D97A0-000C-F0C1-5221-4486B15F1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73A56-DE6E-8BA3-93B7-778A4784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5D3C-9185-46D8-BC22-06C67179D0C8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54D36-13BF-1FA8-C38B-FF65E36F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E6DA4-D74D-29E5-9663-B8C7FD57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23A2-77D0-448B-B135-6CE8111A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71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3AF3-7C2F-4A97-C852-EF95AB3B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E179E-5634-352C-450C-333A7B08C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1E59-ED28-5130-6664-CC963B70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785D3C-9185-46D8-BC22-06C67179D0C8}" type="datetimeFigureOut">
              <a:rPr lang="en-US" smtClean="0"/>
              <a:pPr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2F35A-BFAE-E57B-FF90-E2C609D1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09817-B69E-F171-1E65-639582CD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923A2-77D0-448B-B135-6CE8111AA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5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0C5E-1109-9F60-2801-5079FDFC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C70AE-8F72-11A0-E5DA-7C5B9FF30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043B-2B73-B67F-F767-46E380C1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785D3C-9185-46D8-BC22-06C67179D0C8}" type="datetimeFigureOut">
              <a:rPr lang="en-US" smtClean="0"/>
              <a:pPr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E172A-1D83-1CFB-40FF-7453355A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6A760-1BD4-5EE2-1C4C-F739BAFF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923A2-77D0-448B-B135-6CE8111AA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5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0825-03B9-9FDC-7F8B-F768A4BC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11A46-6489-F5F8-18D9-A6199CCA8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B09F3-1B09-8678-31A7-B03069431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BF006-E0E1-FD0E-0DB5-B9A335EF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785D3C-9185-46D8-BC22-06C67179D0C8}" type="datetimeFigureOut">
              <a:rPr lang="en-US" smtClean="0"/>
              <a:pPr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F0671-3061-C6C8-F0C6-2433DE08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3AF53-35EA-BD03-5192-A5A3CBC8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923A2-77D0-448B-B135-6CE8111AA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6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2857-69A4-3D38-BEBC-743C4271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33FBE-F67A-5A56-7C5E-9DC6A7A83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98243-4017-D49B-6BEE-84A7B3F8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5E6BD-3B1D-F951-940B-64489C1F2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A257B-0FF5-7F2B-9D75-6377E6C7E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09D51-07A0-B732-AA11-74E4DAA6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785D3C-9185-46D8-BC22-06C67179D0C8}" type="datetimeFigureOut">
              <a:rPr lang="en-US" smtClean="0"/>
              <a:pPr/>
              <a:t>8/8/24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F4CE0-7AAC-1B8B-B1A4-7977BDD2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07BD8-A4F3-300A-3EDB-8AB308A4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923A2-77D0-448B-B135-6CE8111AA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7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CA49-0663-4811-1B79-FE3978B5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03E18-97BC-99B4-80DD-E5953087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5D3C-9185-46D8-BC22-06C67179D0C8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5A747-A696-E980-0295-325A6259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34959-619C-96CE-77EF-F7A79571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23A2-77D0-448B-B135-6CE8111A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4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869E5-F8BA-52AC-1B84-DE61811B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5D3C-9185-46D8-BC22-06C67179D0C8}" type="datetimeFigureOut">
              <a:rPr lang="en-US" smtClean="0"/>
              <a:t>8/8/24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F9026-F053-9C53-2E69-DC0F5487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56705-D76D-24F0-E04A-3F9BDE77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23A2-77D0-448B-B135-6CE8111A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2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022A-37AB-47A3-B29F-8B889FE0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4F168-5E62-7F1F-3322-E92C66359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5B52F-D7DB-3D1A-2217-13B97D343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15CA5-D27A-728D-6733-23ED6D5F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785D3C-9185-46D8-BC22-06C67179D0C8}" type="datetimeFigureOut">
              <a:rPr lang="en-US" smtClean="0"/>
              <a:pPr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3625F-3901-F103-CC4A-1AD9E34B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C9283-6ED5-7669-9C7C-91D01C2A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923A2-77D0-448B-B135-6CE8111AA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0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ED90-24BD-1D90-AFF1-F61622CF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8AEC-00A3-C27A-F0FE-6807C3CE4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5CD4F-7C69-BB6A-2B38-AC0C0F012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CA30E-3907-DEEB-9840-46B87433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5D3C-9185-46D8-BC22-06C67179D0C8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05077-C220-46A5-34C8-CBFE77A8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B149E-55E4-0006-DDBE-5EF0970C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23A2-77D0-448B-B135-6CE8111A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8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A415-D611-10F2-B888-B5B36C2A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BA162-9782-B441-BC2A-295AED965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44AA-62FE-FFB6-224E-914D0C9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5D3C-9185-46D8-BC22-06C67179D0C8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8BC36-02DA-DD1B-D784-9BDA9BBC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61AF-D473-0B25-4C63-A0D1E88B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23A2-77D0-448B-B135-6CE8111A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4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91B11-3954-2166-1104-C158113D9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021FA-482B-C0D1-FCE8-D78195434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07854-4012-40CB-1125-0EA74762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5D3C-9185-46D8-BC22-06C67179D0C8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A9482-1EF1-AA97-2C15-CCC301C8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0EAF0-AC7B-7C80-7A14-7567BB9C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23A2-77D0-448B-B135-6CE8111A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0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74DAA-195A-FE56-3369-1083CDB4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FF65C-0542-E393-31AD-26832BFA0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77FB2-85D5-630F-44D4-B8CE24FD6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785D3C-9185-46D8-BC22-06C67179D0C8}" type="datetimeFigureOut">
              <a:rPr lang="en-US" smtClean="0"/>
              <a:pPr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1DAA7-FE4A-EC70-E359-0B538D540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D7C57-E0CF-4E68-4CDA-4D2CC5F6C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923A2-77D0-448B-B135-6CE8111AA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9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7554/eLife.3267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72EA-C2CE-AF47-BEE3-78AEB733C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SLM-Project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B1CF7-DEC5-8FC1-5010-CC752B02E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193" y="442043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Lu Zhang</a:t>
            </a:r>
          </a:p>
          <a:p>
            <a:r>
              <a:rPr lang="en-US" dirty="0"/>
              <a:t>8/12/2024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meeting</a:t>
            </a:r>
          </a:p>
        </p:txBody>
      </p:sp>
    </p:spTree>
    <p:extLst>
      <p:ext uri="{BB962C8B-B14F-4D97-AF65-F5344CB8AC3E}">
        <p14:creationId xmlns:p14="http://schemas.microsoft.com/office/powerpoint/2010/main" val="41414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42" y="411109"/>
            <a:ext cx="1123977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Holographic Imaging and Photo-Stimulation</a:t>
            </a:r>
            <a:b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A1155B9-217C-C546-48FC-3F8B5C50C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72710" r="57399"/>
          <a:stretch/>
        </p:blipFill>
        <p:spPr bwMode="auto">
          <a:xfrm>
            <a:off x="2724444" y="2086815"/>
            <a:ext cx="5802154" cy="34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77C2EE-4A0C-8A99-668B-6CD08B65B8BA}"/>
              </a:ext>
            </a:extLst>
          </p:cNvPr>
          <p:cNvSpPr txBox="1"/>
          <p:nvPr/>
        </p:nvSpPr>
        <p:spPr>
          <a:xfrm>
            <a:off x="2879154" y="5718956"/>
            <a:ext cx="6433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57575"/>
                </a:solidFill>
                <a:effectLst/>
                <a:latin typeface="Noto Sans" panose="020B0502040504020204" pitchFamily="34" charset="0"/>
              </a:rPr>
              <a:t> Source: </a:t>
            </a:r>
            <a:r>
              <a:rPr lang="en-US" b="0" i="0" u="none" strike="noStrike" dirty="0">
                <a:solidFill>
                  <a:srgbClr val="757575"/>
                </a:solidFill>
                <a:effectLst/>
                <a:latin typeface="Noto Sans" panose="020B0502040504020204" pitchFamily="34" charset="0"/>
                <a:hlinkClick r:id="rId3"/>
              </a:rPr>
              <a:t>https://doi.org/10.7554/eLife.32671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C9CFF-6C72-CAF8-A265-F871BC9094F4}"/>
              </a:ext>
            </a:extLst>
          </p:cNvPr>
          <p:cNvSpPr txBox="1"/>
          <p:nvPr/>
        </p:nvSpPr>
        <p:spPr>
          <a:xfrm>
            <a:off x="8092751" y="1099038"/>
            <a:ext cx="36638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Spatial Light Modulation (SLM)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398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482" y="268040"/>
            <a:ext cx="735301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Two Parts of SLM</a:t>
            </a:r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A1155B9-217C-C546-48FC-3F8B5C50C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77645" r="63517"/>
          <a:stretch/>
        </p:blipFill>
        <p:spPr bwMode="auto">
          <a:xfrm>
            <a:off x="619349" y="3683913"/>
            <a:ext cx="1742301" cy="100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8C9CFF-6C72-CAF8-A265-F871BC9094F4}"/>
              </a:ext>
            </a:extLst>
          </p:cNvPr>
          <p:cNvSpPr txBox="1"/>
          <p:nvPr/>
        </p:nvSpPr>
        <p:spPr>
          <a:xfrm>
            <a:off x="62863" y="2594034"/>
            <a:ext cx="32141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Spatial Light Modulation (SLM)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8280F-B494-AD60-21B8-9339DFD2D35F}"/>
              </a:ext>
            </a:extLst>
          </p:cNvPr>
          <p:cNvSpPr/>
          <p:nvPr/>
        </p:nvSpPr>
        <p:spPr>
          <a:xfrm>
            <a:off x="2922675" y="3273058"/>
            <a:ext cx="282872" cy="281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8C7703-7517-44FD-8CA0-D8D0C3285F1D}"/>
              </a:ext>
            </a:extLst>
          </p:cNvPr>
          <p:cNvSpPr/>
          <p:nvPr/>
        </p:nvSpPr>
        <p:spPr>
          <a:xfrm>
            <a:off x="3991881" y="2266771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2070F5-0284-9AC5-D59B-3655EE272E64}"/>
              </a:ext>
            </a:extLst>
          </p:cNvPr>
          <p:cNvSpPr/>
          <p:nvPr/>
        </p:nvSpPr>
        <p:spPr>
          <a:xfrm>
            <a:off x="3991881" y="4599802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BE65AE3-9128-9150-B51E-AEEBB967C73D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3205547" y="3413765"/>
            <a:ext cx="786334" cy="1326744"/>
          </a:xfrm>
          <a:prstGeom prst="curvedConnector3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CF1AD6ED-E7DB-282A-1F01-1614E6819237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3205547" y="2407478"/>
            <a:ext cx="786334" cy="1006287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BAE0DD-E998-0F78-BC3B-8C1CD0D4A865}"/>
              </a:ext>
            </a:extLst>
          </p:cNvPr>
          <p:cNvSpPr txBox="1"/>
          <p:nvPr/>
        </p:nvSpPr>
        <p:spPr>
          <a:xfrm>
            <a:off x="4588685" y="2165418"/>
            <a:ext cx="3663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Engineering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45F33D-7C38-DEBB-A92F-4916C26DD3AB}"/>
              </a:ext>
            </a:extLst>
          </p:cNvPr>
          <p:cNvSpPr txBox="1"/>
          <p:nvPr/>
        </p:nvSpPr>
        <p:spPr>
          <a:xfrm>
            <a:off x="4588685" y="4509676"/>
            <a:ext cx="3663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Biology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12A010-C638-B79D-C8AB-0E256653275A}"/>
              </a:ext>
            </a:extLst>
          </p:cNvPr>
          <p:cNvSpPr/>
          <p:nvPr/>
        </p:nvSpPr>
        <p:spPr>
          <a:xfrm>
            <a:off x="6348230" y="1731102"/>
            <a:ext cx="4802699" cy="161171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Bruker 2PPlus, establish a workflow to image and stimulate functionally distinct neuronal assemblies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(functional, or network properties)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532413-52AD-6398-2D9D-B80A47D78884}"/>
              </a:ext>
            </a:extLst>
          </p:cNvPr>
          <p:cNvSpPr/>
          <p:nvPr/>
        </p:nvSpPr>
        <p:spPr>
          <a:xfrm>
            <a:off x="6348231" y="4419718"/>
            <a:ext cx="4802700" cy="161171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most suitable optogenetic strategy (cell type interested, transgenic mice, viral strategy, et al)</a:t>
            </a:r>
          </a:p>
        </p:txBody>
      </p:sp>
      <p:pic>
        <p:nvPicPr>
          <p:cNvPr id="1028" name="Picture 4" descr="Stick figure man and a hole on the floor. Vector illustrations of a person  fall into, climbing out, look into, go inside, jump over, and cover a hole  Stock Vector Image &amp;">
            <a:extLst>
              <a:ext uri="{FF2B5EF4-FFF2-40B4-BE49-F238E27FC236}">
                <a16:creationId xmlns:a16="http://schemas.microsoft.com/office/drawing/2014/main" id="{CFD948AD-D9A2-46D3-9E98-963460AEB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2" t="32267" r="2496" b="40969"/>
          <a:stretch/>
        </p:blipFill>
        <p:spPr bwMode="auto">
          <a:xfrm>
            <a:off x="9162590" y="949350"/>
            <a:ext cx="1090928" cy="74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Stick figure man and a hole on the floor. Vector illustrations of a person  fall into, climbing out, look into, go inside, jump over, and cover a hole  Stock Vector Image &amp;">
            <a:extLst>
              <a:ext uri="{FF2B5EF4-FFF2-40B4-BE49-F238E27FC236}">
                <a16:creationId xmlns:a16="http://schemas.microsoft.com/office/drawing/2014/main" id="{A85573A8-A6D7-865C-E887-C859E6DBC5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4" t="10865" r="2922" b="71581"/>
          <a:stretch/>
        </p:blipFill>
        <p:spPr bwMode="auto">
          <a:xfrm>
            <a:off x="9343434" y="3832888"/>
            <a:ext cx="729240" cy="48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66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3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4B4B50DE-5887-55C5-6003-ABF78D283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2071687" y="2948295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CFE45BCF-9433-1993-D98A-65944B144354}"/>
              </a:ext>
            </a:extLst>
          </p:cNvPr>
          <p:cNvGrpSpPr/>
          <p:nvPr/>
        </p:nvGrpSpPr>
        <p:grpSpPr>
          <a:xfrm>
            <a:off x="8539191" y="3578166"/>
            <a:ext cx="734030" cy="535781"/>
            <a:chOff x="1131027" y="1573386"/>
            <a:chExt cx="734030" cy="535781"/>
          </a:xfrm>
        </p:grpSpPr>
        <p:pic>
          <p:nvPicPr>
            <p:cNvPr id="1050" name="Picture 2" descr="Bruker (@bruker) / X">
              <a:extLst>
                <a:ext uri="{FF2B5EF4-FFF2-40B4-BE49-F238E27FC236}">
                  <a16:creationId xmlns:a16="http://schemas.microsoft.com/office/drawing/2014/main" id="{51B15896-B073-3E3A-5F85-F387747D8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4" descr="MATLAB - Wikipedia">
              <a:extLst>
                <a:ext uri="{FF2B5EF4-FFF2-40B4-BE49-F238E27FC236}">
                  <a16:creationId xmlns:a16="http://schemas.microsoft.com/office/drawing/2014/main" id="{F4DE1D2B-6ECB-D8B3-FC91-4F2BCE17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D76CD5B-0769-A41F-13C2-D0F301D24035}"/>
              </a:ext>
            </a:extLst>
          </p:cNvPr>
          <p:cNvGrpSpPr/>
          <p:nvPr/>
        </p:nvGrpSpPr>
        <p:grpSpPr>
          <a:xfrm>
            <a:off x="3950894" y="3594939"/>
            <a:ext cx="734030" cy="535781"/>
            <a:chOff x="1131027" y="1573386"/>
            <a:chExt cx="734030" cy="535781"/>
          </a:xfrm>
        </p:grpSpPr>
        <p:pic>
          <p:nvPicPr>
            <p:cNvPr id="1047" name="Picture 2" descr="Bruker (@bruker) / X">
              <a:extLst>
                <a:ext uri="{FF2B5EF4-FFF2-40B4-BE49-F238E27FC236}">
                  <a16:creationId xmlns:a16="http://schemas.microsoft.com/office/drawing/2014/main" id="{596AAF78-4312-540E-4DD0-B7DCA0F2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4" descr="MATLAB - Wikipedia">
              <a:extLst>
                <a:ext uri="{FF2B5EF4-FFF2-40B4-BE49-F238E27FC236}">
                  <a16:creationId xmlns:a16="http://schemas.microsoft.com/office/drawing/2014/main" id="{700858B2-CDE8-DFCA-85C7-8F428868D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2F5578B-5738-45E5-FC4E-5219A7E9CAAB}"/>
              </a:ext>
            </a:extLst>
          </p:cNvPr>
          <p:cNvGrpSpPr/>
          <p:nvPr/>
        </p:nvGrpSpPr>
        <p:grpSpPr>
          <a:xfrm>
            <a:off x="1131103" y="3592480"/>
            <a:ext cx="734030" cy="535781"/>
            <a:chOff x="1131027" y="1573386"/>
            <a:chExt cx="734030" cy="535781"/>
          </a:xfrm>
        </p:grpSpPr>
        <p:pic>
          <p:nvPicPr>
            <p:cNvPr id="1026" name="Picture 2" descr="Bruker (@bruker) / X">
              <a:extLst>
                <a:ext uri="{FF2B5EF4-FFF2-40B4-BE49-F238E27FC236}">
                  <a16:creationId xmlns:a16="http://schemas.microsoft.com/office/drawing/2014/main" id="{92F3E2CC-6362-E7F8-5603-4B2DE485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TLAB - Wikipedia">
              <a:extLst>
                <a:ext uri="{FF2B5EF4-FFF2-40B4-BE49-F238E27FC236}">
                  <a16:creationId xmlns:a16="http://schemas.microsoft.com/office/drawing/2014/main" id="{1939E4DF-87B1-12BD-1E78-FD636F030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719AD04-516F-7AD9-456C-BE115D316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6372615" y="2948295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tologic | Suite2P">
            <a:extLst>
              <a:ext uri="{FF2B5EF4-FFF2-40B4-BE49-F238E27FC236}">
                <a16:creationId xmlns:a16="http://schemas.microsoft.com/office/drawing/2014/main" id="{BBE1D8F0-7DD9-9643-91D3-99E7B2C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4" y="2954391"/>
            <a:ext cx="25717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06" y="165373"/>
            <a:ext cx="11239774" cy="6000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spc="-50" dirty="0">
                <a:solidFill>
                  <a:srgbClr val="BFD9FF"/>
                </a:solidFill>
                <a:effectLst/>
                <a:ea typeface="Times New Roman" panose="02020603050405020304" pitchFamily="18" charset="0"/>
              </a:rPr>
              <a:t>Update</a:t>
            </a:r>
            <a:r>
              <a:rPr lang="en-US" sz="44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 in Engineering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2696E2-CAB8-D194-831C-F31D6249E461}"/>
              </a:ext>
            </a:extLst>
          </p:cNvPr>
          <p:cNvSpPr/>
          <p:nvPr/>
        </p:nvSpPr>
        <p:spPr>
          <a:xfrm>
            <a:off x="182550" y="2912024"/>
            <a:ext cx="874929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 Imaging ~20 min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56EED0-A2D4-63F2-0268-794AA83AF2A2}"/>
              </a:ext>
            </a:extLst>
          </p:cNvPr>
          <p:cNvSpPr/>
          <p:nvPr/>
        </p:nvSpPr>
        <p:spPr>
          <a:xfrm rot="19858606">
            <a:off x="992941" y="2725830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01152D-8077-8411-024C-C56A705D57BB}"/>
              </a:ext>
            </a:extLst>
          </p:cNvPr>
          <p:cNvSpPr/>
          <p:nvPr/>
        </p:nvSpPr>
        <p:spPr>
          <a:xfrm>
            <a:off x="1057478" y="3187713"/>
            <a:ext cx="828836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1593C-6161-4408-D447-8BE412351D25}"/>
              </a:ext>
            </a:extLst>
          </p:cNvPr>
          <p:cNvSpPr txBox="1"/>
          <p:nvPr/>
        </p:nvSpPr>
        <p:spPr>
          <a:xfrm>
            <a:off x="687441" y="3434257"/>
            <a:ext cx="1261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Bruker_PrairieLink</a:t>
            </a:r>
            <a:endParaRPr lang="en-US" sz="1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F87842-9E23-88FE-25EF-3842ACF44AFE}"/>
              </a:ext>
            </a:extLst>
          </p:cNvPr>
          <p:cNvSpPr/>
          <p:nvPr/>
        </p:nvSpPr>
        <p:spPr>
          <a:xfrm>
            <a:off x="1318195" y="218203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for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C827F-C022-1A4D-A562-B3AE19CA0E04}"/>
              </a:ext>
            </a:extLst>
          </p:cNvPr>
          <p:cNvSpPr/>
          <p:nvPr/>
        </p:nvSpPr>
        <p:spPr>
          <a:xfrm>
            <a:off x="1887779" y="2924886"/>
            <a:ext cx="752768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analysis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4161A8-777E-666C-5545-21C056B54470}"/>
              </a:ext>
            </a:extLst>
          </p:cNvPr>
          <p:cNvSpPr/>
          <p:nvPr/>
        </p:nvSpPr>
        <p:spPr>
          <a:xfrm>
            <a:off x="2642012" y="3179895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7B3B6A-5E67-391C-0C50-5663D65EC1A5}"/>
              </a:ext>
            </a:extLst>
          </p:cNvPr>
          <p:cNvSpPr/>
          <p:nvPr/>
        </p:nvSpPr>
        <p:spPr>
          <a:xfrm>
            <a:off x="3267724" y="2924886"/>
            <a:ext cx="1310309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 Imaging + Single cell stimulation ~20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2298C-62B9-48CE-84BB-1C262FC791ED}"/>
              </a:ext>
            </a:extLst>
          </p:cNvPr>
          <p:cNvSpPr txBox="1"/>
          <p:nvPr/>
        </p:nvSpPr>
        <p:spPr>
          <a:xfrm>
            <a:off x="3009673" y="3492640"/>
            <a:ext cx="1860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Bruker_PVLinkExcuteFolder</a:t>
            </a:r>
            <a:endParaRPr lang="en-US" sz="1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E9AD522-B209-1483-D3C4-5D72CB59E2AD}"/>
              </a:ext>
            </a:extLst>
          </p:cNvPr>
          <p:cNvSpPr/>
          <p:nvPr/>
        </p:nvSpPr>
        <p:spPr>
          <a:xfrm rot="19858606">
            <a:off x="4443286" y="2719923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4A3AFE-39FE-6B8F-783F-6BBD065F3719}"/>
              </a:ext>
            </a:extLst>
          </p:cNvPr>
          <p:cNvSpPr/>
          <p:nvPr/>
        </p:nvSpPr>
        <p:spPr>
          <a:xfrm>
            <a:off x="4577840" y="3179895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B4F368-37DF-E328-D7CA-077123E5C91A}"/>
              </a:ext>
            </a:extLst>
          </p:cNvPr>
          <p:cNvSpPr/>
          <p:nvPr/>
        </p:nvSpPr>
        <p:spPr>
          <a:xfrm>
            <a:off x="4716097" y="218203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for analysis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F0B6337-920F-94B5-0CEB-DADBBDC6C373}"/>
              </a:ext>
            </a:extLst>
          </p:cNvPr>
          <p:cNvSpPr/>
          <p:nvPr/>
        </p:nvSpPr>
        <p:spPr>
          <a:xfrm>
            <a:off x="6760107" y="3167570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61106001-F165-0A8F-EF02-0B019F600C41}"/>
              </a:ext>
            </a:extLst>
          </p:cNvPr>
          <p:cNvSpPr/>
          <p:nvPr/>
        </p:nvSpPr>
        <p:spPr>
          <a:xfrm>
            <a:off x="6982590" y="2718174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DB65FA0B-EE9B-9E23-81CA-E2033CA81CE3}"/>
              </a:ext>
            </a:extLst>
          </p:cNvPr>
          <p:cNvSpPr/>
          <p:nvPr/>
        </p:nvSpPr>
        <p:spPr>
          <a:xfrm>
            <a:off x="6626820" y="2753946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2C873E9-0162-40F2-37F0-0664709CD75D}"/>
              </a:ext>
            </a:extLst>
          </p:cNvPr>
          <p:cNvSpPr/>
          <p:nvPr/>
        </p:nvSpPr>
        <p:spPr>
          <a:xfrm>
            <a:off x="6906264" y="2921497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3319D7F-301C-0C2A-3519-B616C7CAE047}"/>
              </a:ext>
            </a:extLst>
          </p:cNvPr>
          <p:cNvSpPr/>
          <p:nvPr/>
        </p:nvSpPr>
        <p:spPr>
          <a:xfrm>
            <a:off x="7250629" y="2827452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E7C2FF49-4B15-AB48-05A4-0660A75506C0}"/>
              </a:ext>
            </a:extLst>
          </p:cNvPr>
          <p:cNvSpPr/>
          <p:nvPr/>
        </p:nvSpPr>
        <p:spPr>
          <a:xfrm>
            <a:off x="7158813" y="2492003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E0A09836-41BF-F848-04A1-008F49946919}"/>
              </a:ext>
            </a:extLst>
          </p:cNvPr>
          <p:cNvSpPr/>
          <p:nvPr/>
        </p:nvSpPr>
        <p:spPr>
          <a:xfrm>
            <a:off x="6837865" y="2536743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5A9A727-6265-BFB6-7D52-D8F70023E678}"/>
              </a:ext>
            </a:extLst>
          </p:cNvPr>
          <p:cNvSpPr txBox="1"/>
          <p:nvPr/>
        </p:nvSpPr>
        <p:spPr>
          <a:xfrm>
            <a:off x="6273628" y="2001372"/>
            <a:ext cx="22886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ensure each cell (~10 cells/group) has comparable response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71FD20EA-45F8-707B-0E91-138BD03F12AA}"/>
              </a:ext>
            </a:extLst>
          </p:cNvPr>
          <p:cNvSpPr/>
          <p:nvPr/>
        </p:nvSpPr>
        <p:spPr>
          <a:xfrm>
            <a:off x="7666542" y="2912024"/>
            <a:ext cx="1651087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 imaging + Holographic photo-stimulation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1735DC6-B6B6-7871-25F5-24E5A1B0786F}"/>
              </a:ext>
            </a:extLst>
          </p:cNvPr>
          <p:cNvSpPr txBox="1"/>
          <p:nvPr/>
        </p:nvSpPr>
        <p:spPr>
          <a:xfrm>
            <a:off x="7619267" y="3456743"/>
            <a:ext cx="1922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Bruker_PVLinkExcuteFolder</a:t>
            </a:r>
            <a:endParaRPr lang="en-US" sz="1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95660E4B-B474-2FF6-0BA8-EEA85905056D}"/>
              </a:ext>
            </a:extLst>
          </p:cNvPr>
          <p:cNvSpPr/>
          <p:nvPr/>
        </p:nvSpPr>
        <p:spPr>
          <a:xfrm>
            <a:off x="9317629" y="3161401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601E92B5-8F3B-E7BC-36E4-218E4E8560FC}"/>
              </a:ext>
            </a:extLst>
          </p:cNvPr>
          <p:cNvSpPr/>
          <p:nvPr/>
        </p:nvSpPr>
        <p:spPr>
          <a:xfrm>
            <a:off x="5211405" y="2925262"/>
            <a:ext cx="1548701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analysis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SLM parameters for each single cell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6A55969-6B03-CDA0-C835-9C2595A91B75}"/>
              </a:ext>
            </a:extLst>
          </p:cNvPr>
          <p:cNvSpPr/>
          <p:nvPr/>
        </p:nvSpPr>
        <p:spPr>
          <a:xfrm>
            <a:off x="10224064" y="2981848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for future offline analysis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4E747DD-E267-3509-3511-1854A1E664A0}"/>
              </a:ext>
            </a:extLst>
          </p:cNvPr>
          <p:cNvSpPr/>
          <p:nvPr/>
        </p:nvSpPr>
        <p:spPr>
          <a:xfrm>
            <a:off x="5197194" y="4701427"/>
            <a:ext cx="4938695" cy="1369733"/>
          </a:xfrm>
          <a:prstGeom prst="wedgeRoundRectCallout">
            <a:avLst>
              <a:gd name="adj1" fmla="val -59592"/>
              <a:gd name="adj2" fmla="val -98209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future single target as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target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non-targets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950662B3-28A4-8186-DC23-0631BBB74C44}"/>
              </a:ext>
            </a:extLst>
          </p:cNvPr>
          <p:cNvGrpSpPr/>
          <p:nvPr/>
        </p:nvGrpSpPr>
        <p:grpSpPr>
          <a:xfrm>
            <a:off x="8190962" y="5498162"/>
            <a:ext cx="998310" cy="378055"/>
            <a:chOff x="9247256" y="1122431"/>
            <a:chExt cx="2129658" cy="796820"/>
          </a:xfrm>
        </p:grpSpPr>
        <p:grpSp>
          <p:nvGrpSpPr>
            <p:cNvPr id="2057" name="Group 2056">
              <a:extLst>
                <a:ext uri="{FF2B5EF4-FFF2-40B4-BE49-F238E27FC236}">
                  <a16:creationId xmlns:a16="http://schemas.microsoft.com/office/drawing/2014/main" id="{8AD6236F-1409-1CAB-E790-FB2347F61072}"/>
                </a:ext>
              </a:extLst>
            </p:cNvPr>
            <p:cNvGrpSpPr/>
            <p:nvPr/>
          </p:nvGrpSpPr>
          <p:grpSpPr>
            <a:xfrm>
              <a:off x="9247256" y="1122431"/>
              <a:ext cx="2129658" cy="796820"/>
              <a:chOff x="9247256" y="1122431"/>
              <a:chExt cx="2129658" cy="796820"/>
            </a:xfrm>
          </p:grpSpPr>
          <p:sp>
            <p:nvSpPr>
              <p:cNvPr id="2059" name="Isosceles Triangle 2058">
                <a:extLst>
                  <a:ext uri="{FF2B5EF4-FFF2-40B4-BE49-F238E27FC236}">
                    <a16:creationId xmlns:a16="http://schemas.microsoft.com/office/drawing/2014/main" id="{5FC435F1-AEAA-DA42-123B-BCB59B133EBA}"/>
                  </a:ext>
                </a:extLst>
              </p:cNvPr>
              <p:cNvSpPr/>
              <p:nvPr/>
            </p:nvSpPr>
            <p:spPr>
              <a:xfrm>
                <a:off x="9925120" y="1424330"/>
                <a:ext cx="305843" cy="302607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60" name="Isosceles Triangle 2059">
                <a:extLst>
                  <a:ext uri="{FF2B5EF4-FFF2-40B4-BE49-F238E27FC236}">
                    <a16:creationId xmlns:a16="http://schemas.microsoft.com/office/drawing/2014/main" id="{29088479-0D94-D169-07D6-BE447BF67D05}"/>
                  </a:ext>
                </a:extLst>
              </p:cNvPr>
              <p:cNvSpPr/>
              <p:nvPr/>
            </p:nvSpPr>
            <p:spPr>
              <a:xfrm>
                <a:off x="9247256" y="1616644"/>
                <a:ext cx="305843" cy="302607"/>
              </a:xfrm>
              <a:prstGeom prst="triangle">
                <a:avLst/>
              </a:prstGeom>
              <a:solidFill>
                <a:srgbClr val="FF0000">
                  <a:alpha val="45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61" name="Isosceles Triangle 2060">
                <a:extLst>
                  <a:ext uri="{FF2B5EF4-FFF2-40B4-BE49-F238E27FC236}">
                    <a16:creationId xmlns:a16="http://schemas.microsoft.com/office/drawing/2014/main" id="{885D8E91-54A4-1F86-CB67-3B024C862778}"/>
                  </a:ext>
                </a:extLst>
              </p:cNvPr>
              <p:cNvSpPr/>
              <p:nvPr/>
            </p:nvSpPr>
            <p:spPr>
              <a:xfrm>
                <a:off x="11071071" y="1273380"/>
                <a:ext cx="305843" cy="302607"/>
              </a:xfrm>
              <a:prstGeom prst="triangle">
                <a:avLst/>
              </a:prstGeom>
              <a:solidFill>
                <a:srgbClr val="0066FF">
                  <a:alpha val="6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62" name="Oval 2061">
                <a:extLst>
                  <a:ext uri="{FF2B5EF4-FFF2-40B4-BE49-F238E27FC236}">
                    <a16:creationId xmlns:a16="http://schemas.microsoft.com/office/drawing/2014/main" id="{8A934C2D-6382-0A20-7C7C-094E2B11A850}"/>
                  </a:ext>
                </a:extLst>
              </p:cNvPr>
              <p:cNvSpPr/>
              <p:nvPr/>
            </p:nvSpPr>
            <p:spPr>
              <a:xfrm>
                <a:off x="10474628" y="1122431"/>
                <a:ext cx="305843" cy="30189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063" name="Straight Arrow Connector 2062">
                <a:extLst>
                  <a:ext uri="{FF2B5EF4-FFF2-40B4-BE49-F238E27FC236}">
                    <a16:creationId xmlns:a16="http://schemas.microsoft.com/office/drawing/2014/main" id="{BBBAAAAE-F632-73D3-4082-C5C8A1987080}"/>
                  </a:ext>
                </a:extLst>
              </p:cNvPr>
              <p:cNvCxnSpPr>
                <a:cxnSpLocks/>
                <a:stCxn id="2059" idx="2"/>
                <a:endCxn id="2060" idx="5"/>
              </p:cNvCxnSpPr>
              <p:nvPr/>
            </p:nvCxnSpPr>
            <p:spPr>
              <a:xfrm flipH="1">
                <a:off x="9476638" y="1726937"/>
                <a:ext cx="448482" cy="4101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4" name="Straight Arrow Connector 2063">
                <a:extLst>
                  <a:ext uri="{FF2B5EF4-FFF2-40B4-BE49-F238E27FC236}">
                    <a16:creationId xmlns:a16="http://schemas.microsoft.com/office/drawing/2014/main" id="{BBD2D8F5-D59C-F786-D817-5D80388AC726}"/>
                  </a:ext>
                </a:extLst>
              </p:cNvPr>
              <p:cNvCxnSpPr>
                <a:cxnSpLocks/>
                <a:stCxn id="2059" idx="5"/>
                <a:endCxn id="2062" idx="3"/>
              </p:cNvCxnSpPr>
              <p:nvPr/>
            </p:nvCxnSpPr>
            <p:spPr>
              <a:xfrm flipV="1">
                <a:off x="10154502" y="1380118"/>
                <a:ext cx="364916" cy="19551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5" name="Straight Arrow Connector 2064">
                <a:extLst>
                  <a:ext uri="{FF2B5EF4-FFF2-40B4-BE49-F238E27FC236}">
                    <a16:creationId xmlns:a16="http://schemas.microsoft.com/office/drawing/2014/main" id="{9F045EB2-1ED0-E5AA-2498-10E138D8D91B}"/>
                  </a:ext>
                </a:extLst>
              </p:cNvPr>
              <p:cNvCxnSpPr>
                <a:cxnSpLocks/>
                <a:stCxn id="2062" idx="6"/>
                <a:endCxn id="2061" idx="1"/>
              </p:cNvCxnSpPr>
              <p:nvPr/>
            </p:nvCxnSpPr>
            <p:spPr>
              <a:xfrm>
                <a:off x="10780471" y="1273381"/>
                <a:ext cx="367061" cy="151303"/>
              </a:xfrm>
              <a:prstGeom prst="straightConnector1">
                <a:avLst/>
              </a:prstGeom>
              <a:ln>
                <a:solidFill>
                  <a:srgbClr val="5B5BEC"/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66" name="Oval 2065">
                <a:extLst>
                  <a:ext uri="{FF2B5EF4-FFF2-40B4-BE49-F238E27FC236}">
                    <a16:creationId xmlns:a16="http://schemas.microsoft.com/office/drawing/2014/main" id="{49F89F9F-8F74-8FC3-4E27-4760A927AF71}"/>
                  </a:ext>
                </a:extLst>
              </p:cNvPr>
              <p:cNvSpPr/>
              <p:nvPr/>
            </p:nvSpPr>
            <p:spPr>
              <a:xfrm>
                <a:off x="9789759" y="1372831"/>
                <a:ext cx="529630" cy="516072"/>
              </a:xfrm>
              <a:prstGeom prst="ellipse">
                <a:avLst/>
              </a:prstGeom>
              <a:noFill/>
              <a:ln w="50800"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058" name="Straight Arrow Connector 2057">
              <a:extLst>
                <a:ext uri="{FF2B5EF4-FFF2-40B4-BE49-F238E27FC236}">
                  <a16:creationId xmlns:a16="http://schemas.microsoft.com/office/drawing/2014/main" id="{D0C89B5C-263D-8C12-4D78-957716814EBC}"/>
                </a:ext>
              </a:extLst>
            </p:cNvPr>
            <p:cNvCxnSpPr>
              <a:cxnSpLocks/>
              <a:stCxn id="2059" idx="4"/>
              <a:endCxn id="2061" idx="2"/>
            </p:cNvCxnSpPr>
            <p:nvPr/>
          </p:nvCxnSpPr>
          <p:spPr>
            <a:xfrm flipV="1">
              <a:off x="10230963" y="1575987"/>
              <a:ext cx="840108" cy="15095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7" name="Oval 2066">
            <a:extLst>
              <a:ext uri="{FF2B5EF4-FFF2-40B4-BE49-F238E27FC236}">
                <a16:creationId xmlns:a16="http://schemas.microsoft.com/office/drawing/2014/main" id="{C54246FC-2B6B-EAA9-3E9C-F0B5DBEC7879}"/>
              </a:ext>
            </a:extLst>
          </p:cNvPr>
          <p:cNvSpPr/>
          <p:nvPr/>
        </p:nvSpPr>
        <p:spPr>
          <a:xfrm>
            <a:off x="9074972" y="5279325"/>
            <a:ext cx="248272" cy="244853"/>
          </a:xfrm>
          <a:prstGeom prst="ellipse">
            <a:avLst/>
          </a:prstGeom>
          <a:noFill/>
          <a:ln w="508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12C089F3-60A5-ED1C-D4A5-5CBA845D3A2B}"/>
              </a:ext>
            </a:extLst>
          </p:cNvPr>
          <p:cNvSpPr/>
          <p:nvPr/>
        </p:nvSpPr>
        <p:spPr>
          <a:xfrm>
            <a:off x="9262068" y="5708381"/>
            <a:ext cx="248272" cy="244853"/>
          </a:xfrm>
          <a:prstGeom prst="ellipse">
            <a:avLst/>
          </a:prstGeom>
          <a:noFill/>
          <a:ln w="508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0" name="Oval 2069">
            <a:extLst>
              <a:ext uri="{FF2B5EF4-FFF2-40B4-BE49-F238E27FC236}">
                <a16:creationId xmlns:a16="http://schemas.microsoft.com/office/drawing/2014/main" id="{B2E3CE48-9DFE-8E3E-4B7C-39A922AC63DC}"/>
              </a:ext>
            </a:extLst>
          </p:cNvPr>
          <p:cNvSpPr/>
          <p:nvPr/>
        </p:nvSpPr>
        <p:spPr>
          <a:xfrm>
            <a:off x="466806" y="4152766"/>
            <a:ext cx="3159829" cy="3806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ROI of each cell, and their </a:t>
            </a:r>
            <a:r>
              <a:rPr lang="en-US" sz="10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dependency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FB423A1-8AE9-AB1F-1560-32D1BECA7A90}"/>
              </a:ext>
            </a:extLst>
          </p:cNvPr>
          <p:cNvSpPr/>
          <p:nvPr/>
        </p:nvSpPr>
        <p:spPr>
          <a:xfrm>
            <a:off x="2847359" y="1292202"/>
            <a:ext cx="1834830" cy="925316"/>
          </a:xfrm>
          <a:prstGeom prst="wedgeRoundRectCallout">
            <a:avLst>
              <a:gd name="adj1" fmla="val -66950"/>
              <a:gd name="adj2" fmla="val 12968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10-15 mins, Suite2p processing + simple manual correction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2D943-12F2-5D7A-E77F-DF90554D22A5}"/>
              </a:ext>
            </a:extLst>
          </p:cNvPr>
          <p:cNvSpPr/>
          <p:nvPr/>
        </p:nvSpPr>
        <p:spPr>
          <a:xfrm>
            <a:off x="3267725" y="4032963"/>
            <a:ext cx="3492382" cy="45719"/>
          </a:xfrm>
          <a:prstGeom prst="rect">
            <a:avLst/>
          </a:prstGeom>
          <a:solidFill>
            <a:srgbClr val="BFD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F01393-1EAD-0BD4-32FE-96B502580CDC}"/>
              </a:ext>
            </a:extLst>
          </p:cNvPr>
          <p:cNvSpPr txBox="1"/>
          <p:nvPr/>
        </p:nvSpPr>
        <p:spPr>
          <a:xfrm>
            <a:off x="5143511" y="6151297"/>
            <a:ext cx="5080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Non-targets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Randomly chosen from regions with blood vessels across 3 recording planes, 30 µm away from all detected cells, 50 µm away between each non-targets.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5598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482" y="268040"/>
            <a:ext cx="735301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Two Parts of SLM</a:t>
            </a:r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A1155B9-217C-C546-48FC-3F8B5C50C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77645" r="63517"/>
          <a:stretch/>
        </p:blipFill>
        <p:spPr bwMode="auto">
          <a:xfrm>
            <a:off x="619349" y="3683913"/>
            <a:ext cx="1742301" cy="100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8C9CFF-6C72-CAF8-A265-F871BC9094F4}"/>
              </a:ext>
            </a:extLst>
          </p:cNvPr>
          <p:cNvSpPr txBox="1"/>
          <p:nvPr/>
        </p:nvSpPr>
        <p:spPr>
          <a:xfrm>
            <a:off x="62863" y="2594034"/>
            <a:ext cx="32141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Spatial Light Modulation (SLM)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8280F-B494-AD60-21B8-9339DFD2D35F}"/>
              </a:ext>
            </a:extLst>
          </p:cNvPr>
          <p:cNvSpPr/>
          <p:nvPr/>
        </p:nvSpPr>
        <p:spPr>
          <a:xfrm>
            <a:off x="2922675" y="3273058"/>
            <a:ext cx="282872" cy="281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8C7703-7517-44FD-8CA0-D8D0C3285F1D}"/>
              </a:ext>
            </a:extLst>
          </p:cNvPr>
          <p:cNvSpPr/>
          <p:nvPr/>
        </p:nvSpPr>
        <p:spPr>
          <a:xfrm>
            <a:off x="3991881" y="2266771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2070F5-0284-9AC5-D59B-3655EE272E64}"/>
              </a:ext>
            </a:extLst>
          </p:cNvPr>
          <p:cNvSpPr/>
          <p:nvPr/>
        </p:nvSpPr>
        <p:spPr>
          <a:xfrm>
            <a:off x="3991881" y="4599802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BE65AE3-9128-9150-B51E-AEEBB967C73D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3205547" y="3413765"/>
            <a:ext cx="786334" cy="1326744"/>
          </a:xfrm>
          <a:prstGeom prst="curvedConnector3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CF1AD6ED-E7DB-282A-1F01-1614E6819237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3205547" y="2407478"/>
            <a:ext cx="786334" cy="1006287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BAE0DD-E998-0F78-BC3B-8C1CD0D4A865}"/>
              </a:ext>
            </a:extLst>
          </p:cNvPr>
          <p:cNvSpPr txBox="1"/>
          <p:nvPr/>
        </p:nvSpPr>
        <p:spPr>
          <a:xfrm>
            <a:off x="4588685" y="2165418"/>
            <a:ext cx="3663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Engineering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45F33D-7C38-DEBB-A92F-4916C26DD3AB}"/>
              </a:ext>
            </a:extLst>
          </p:cNvPr>
          <p:cNvSpPr txBox="1"/>
          <p:nvPr/>
        </p:nvSpPr>
        <p:spPr>
          <a:xfrm>
            <a:off x="4588685" y="4509676"/>
            <a:ext cx="3663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0" dirty="0"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Biology</a:t>
            </a:r>
            <a:endParaRPr lang="en-US" sz="2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12A010-C638-B79D-C8AB-0E256653275A}"/>
              </a:ext>
            </a:extLst>
          </p:cNvPr>
          <p:cNvSpPr/>
          <p:nvPr/>
        </p:nvSpPr>
        <p:spPr>
          <a:xfrm>
            <a:off x="6348230" y="1731102"/>
            <a:ext cx="4427215" cy="161171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2PPlus from Bruker, establish a workflow to stimulate cells assemblies with specific characteristics (functional, or network properties)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532413-52AD-6398-2D9D-B80A47D78884}"/>
              </a:ext>
            </a:extLst>
          </p:cNvPr>
          <p:cNvSpPr/>
          <p:nvPr/>
        </p:nvSpPr>
        <p:spPr>
          <a:xfrm>
            <a:off x="6348231" y="4419718"/>
            <a:ext cx="4427216" cy="161171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666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most suitable opto-genetics strategy (cell type interested, animal model, virus, et al)</a:t>
            </a:r>
          </a:p>
        </p:txBody>
      </p:sp>
      <p:pic>
        <p:nvPicPr>
          <p:cNvPr id="1028" name="Picture 4" descr="Stick figure man and a hole on the floor. Vector illustrations of a person  fall into, climbing out, look into, go inside, jump over, and cover a hole  Stock Vector Image &amp;">
            <a:extLst>
              <a:ext uri="{FF2B5EF4-FFF2-40B4-BE49-F238E27FC236}">
                <a16:creationId xmlns:a16="http://schemas.microsoft.com/office/drawing/2014/main" id="{CFD948AD-D9A2-46D3-9E98-963460AEB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2" t="32267" r="2496" b="40969"/>
          <a:stretch/>
        </p:blipFill>
        <p:spPr bwMode="auto">
          <a:xfrm>
            <a:off x="9162590" y="949350"/>
            <a:ext cx="1090928" cy="74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Stick figure man and a hole on the floor. Vector illustrations of a person  fall into, climbing out, look into, go inside, jump over, and cover a hole  Stock Vector Image &amp;">
            <a:extLst>
              <a:ext uri="{FF2B5EF4-FFF2-40B4-BE49-F238E27FC236}">
                <a16:creationId xmlns:a16="http://schemas.microsoft.com/office/drawing/2014/main" id="{A85573A8-A6D7-865C-E887-C859E6DBC5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4" t="10865" r="2922" b="71581"/>
          <a:stretch/>
        </p:blipFill>
        <p:spPr bwMode="auto">
          <a:xfrm>
            <a:off x="9343434" y="3832888"/>
            <a:ext cx="729240" cy="48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01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544" y="264205"/>
            <a:ext cx="7353014" cy="6000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Aims </a:t>
            </a:r>
            <a:r>
              <a:rPr lang="en-US" sz="44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in</a:t>
            </a:r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Biology Part of SLM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CB5E70-7C99-C313-D709-029D9B3F0FF5}"/>
              </a:ext>
            </a:extLst>
          </p:cNvPr>
          <p:cNvSpPr/>
          <p:nvPr/>
        </p:nvSpPr>
        <p:spPr>
          <a:xfrm>
            <a:off x="2561076" y="1770484"/>
            <a:ext cx="7644062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 Targets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Excitatory Cells in Primary Somatosensory Cortex (L2/3)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A19ED2-4116-0780-8262-510C038803E5}"/>
              </a:ext>
            </a:extLst>
          </p:cNvPr>
          <p:cNvSpPr/>
          <p:nvPr/>
        </p:nvSpPr>
        <p:spPr>
          <a:xfrm>
            <a:off x="1350434" y="3042814"/>
            <a:ext cx="282872" cy="281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3C377E-1BA2-9499-CCE5-BB8D21D49A3E}"/>
              </a:ext>
            </a:extLst>
          </p:cNvPr>
          <p:cNvSpPr/>
          <p:nvPr/>
        </p:nvSpPr>
        <p:spPr>
          <a:xfrm>
            <a:off x="2419640" y="2036527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CCDF2-AA96-7A8B-2597-25391B1119F6}"/>
              </a:ext>
            </a:extLst>
          </p:cNvPr>
          <p:cNvSpPr/>
          <p:nvPr/>
        </p:nvSpPr>
        <p:spPr>
          <a:xfrm>
            <a:off x="2419640" y="4369558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07C2F52-84AF-AD6F-28C4-CE5CEEDAF360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1633306" y="3183521"/>
            <a:ext cx="786334" cy="1326744"/>
          </a:xfrm>
          <a:prstGeom prst="curvedConnector3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AE6ABED-4FD7-086B-4650-0C040A0E4B64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1633306" y="2177234"/>
            <a:ext cx="786334" cy="1006287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9A7E80-4A3A-910E-F8CA-19EA8A07FFE5}"/>
              </a:ext>
            </a:extLst>
          </p:cNvPr>
          <p:cNvSpPr/>
          <p:nvPr/>
        </p:nvSpPr>
        <p:spPr>
          <a:xfrm>
            <a:off x="2561076" y="4087723"/>
            <a:ext cx="1119561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BC6E3A-363E-674E-30B2-1A725347F280}"/>
              </a:ext>
            </a:extLst>
          </p:cNvPr>
          <p:cNvSpPr/>
          <p:nvPr/>
        </p:nvSpPr>
        <p:spPr>
          <a:xfrm>
            <a:off x="4532408" y="3310726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1755DB-6C2C-E3F6-0810-B5E89FB42734}"/>
              </a:ext>
            </a:extLst>
          </p:cNvPr>
          <p:cNvSpPr/>
          <p:nvPr/>
        </p:nvSpPr>
        <p:spPr>
          <a:xfrm>
            <a:off x="4532408" y="5222907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1065C2-38B5-C2F8-CA15-AAB48F419580}"/>
              </a:ext>
            </a:extLst>
          </p:cNvPr>
          <p:cNvSpPr/>
          <p:nvPr/>
        </p:nvSpPr>
        <p:spPr>
          <a:xfrm>
            <a:off x="4532408" y="4578362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F0F06D-4CC4-61BA-23B8-805D0B1C357B}"/>
              </a:ext>
            </a:extLst>
          </p:cNvPr>
          <p:cNvSpPr/>
          <p:nvPr/>
        </p:nvSpPr>
        <p:spPr>
          <a:xfrm>
            <a:off x="4532408" y="3959398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230E9C9-ABD5-033A-2188-EC6C0490449D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3680637" y="3451433"/>
            <a:ext cx="851771" cy="988725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7BE574-1449-701A-61F7-5C5D9500F1B0}"/>
              </a:ext>
            </a:extLst>
          </p:cNvPr>
          <p:cNvSpPr/>
          <p:nvPr/>
        </p:nvSpPr>
        <p:spPr>
          <a:xfrm>
            <a:off x="4815280" y="3203229"/>
            <a:ext cx="4532651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signal quality (Calcium signals)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F5184D4-B4A2-B3C5-CE3F-3B47CA44272D}"/>
              </a:ext>
            </a:extLst>
          </p:cNvPr>
          <p:cNvSpPr/>
          <p:nvPr/>
        </p:nvSpPr>
        <p:spPr>
          <a:xfrm>
            <a:off x="4815280" y="3874334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population of cells (Calcium signals) 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9BF8F5-65B4-C8E8-F823-030197C1C9F3}"/>
              </a:ext>
            </a:extLst>
          </p:cNvPr>
          <p:cNvSpPr/>
          <p:nvPr/>
        </p:nvSpPr>
        <p:spPr>
          <a:xfrm>
            <a:off x="4815280" y="4510265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Considerable population of SLM target cells (Optogenetics)  </a:t>
            </a:r>
          </a:p>
        </p:txBody>
      </p:sp>
      <p:sp>
        <p:nvSpPr>
          <p:cNvPr id="6144" name="Rectangle: Rounded Corners 6143">
            <a:extLst>
              <a:ext uri="{FF2B5EF4-FFF2-40B4-BE49-F238E27FC236}">
                <a16:creationId xmlns:a16="http://schemas.microsoft.com/office/drawing/2014/main" id="{90D0A88A-924F-E570-3CEA-4110AA3B3D13}"/>
              </a:ext>
            </a:extLst>
          </p:cNvPr>
          <p:cNvSpPr/>
          <p:nvPr/>
        </p:nvSpPr>
        <p:spPr>
          <a:xfrm>
            <a:off x="4815280" y="5144702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and controllable ‘cross-talk’ issue.</a:t>
            </a:r>
          </a:p>
        </p:txBody>
      </p:sp>
      <p:cxnSp>
        <p:nvCxnSpPr>
          <p:cNvPr id="6145" name="Connector: Curved 6144">
            <a:extLst>
              <a:ext uri="{FF2B5EF4-FFF2-40B4-BE49-F238E27FC236}">
                <a16:creationId xmlns:a16="http://schemas.microsoft.com/office/drawing/2014/main" id="{C734F82F-220A-C68E-DC21-639A3DE808F6}"/>
              </a:ext>
            </a:extLst>
          </p:cNvPr>
          <p:cNvCxnSpPr>
            <a:cxnSpLocks/>
            <a:stCxn id="16" idx="3"/>
            <a:endCxn id="24" idx="2"/>
          </p:cNvCxnSpPr>
          <p:nvPr/>
        </p:nvCxnSpPr>
        <p:spPr>
          <a:xfrm flipV="1">
            <a:off x="3680637" y="4100105"/>
            <a:ext cx="851771" cy="340053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Rectangle: Rounded Corners 6148">
            <a:extLst>
              <a:ext uri="{FF2B5EF4-FFF2-40B4-BE49-F238E27FC236}">
                <a16:creationId xmlns:a16="http://schemas.microsoft.com/office/drawing/2014/main" id="{90973480-D1BF-0584-91FA-6C167699202A}"/>
              </a:ext>
            </a:extLst>
          </p:cNvPr>
          <p:cNvSpPr/>
          <p:nvPr/>
        </p:nvSpPr>
        <p:spPr>
          <a:xfrm>
            <a:off x="4815280" y="5724856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(Animal, surgery, delay-time)</a:t>
            </a:r>
          </a:p>
        </p:txBody>
      </p:sp>
      <p:sp>
        <p:nvSpPr>
          <p:cNvPr id="6150" name="Oval 6149">
            <a:extLst>
              <a:ext uri="{FF2B5EF4-FFF2-40B4-BE49-F238E27FC236}">
                <a16:creationId xmlns:a16="http://schemas.microsoft.com/office/drawing/2014/main" id="{4532782F-57CF-DDE8-5E78-D9AEEF785043}"/>
              </a:ext>
            </a:extLst>
          </p:cNvPr>
          <p:cNvSpPr/>
          <p:nvPr/>
        </p:nvSpPr>
        <p:spPr>
          <a:xfrm>
            <a:off x="4532408" y="5809919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51" name="Connector: Curved 6150">
            <a:extLst>
              <a:ext uri="{FF2B5EF4-FFF2-40B4-BE49-F238E27FC236}">
                <a16:creationId xmlns:a16="http://schemas.microsoft.com/office/drawing/2014/main" id="{DE7C56B9-7B1F-296D-4AEC-669ECCDFE34F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>
            <a:off x="3680637" y="4440158"/>
            <a:ext cx="851771" cy="278911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4" name="Connector: Curved 6153">
            <a:extLst>
              <a:ext uri="{FF2B5EF4-FFF2-40B4-BE49-F238E27FC236}">
                <a16:creationId xmlns:a16="http://schemas.microsoft.com/office/drawing/2014/main" id="{014EDBEF-D5C0-8D9C-B451-B8A2DB7AF483}"/>
              </a:ext>
            </a:extLst>
          </p:cNvPr>
          <p:cNvCxnSpPr>
            <a:cxnSpLocks/>
            <a:stCxn id="16" idx="3"/>
            <a:endCxn id="22" idx="2"/>
          </p:cNvCxnSpPr>
          <p:nvPr/>
        </p:nvCxnSpPr>
        <p:spPr>
          <a:xfrm>
            <a:off x="3680637" y="4440158"/>
            <a:ext cx="851771" cy="923456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8" name="Connector: Curved 6157">
            <a:extLst>
              <a:ext uri="{FF2B5EF4-FFF2-40B4-BE49-F238E27FC236}">
                <a16:creationId xmlns:a16="http://schemas.microsoft.com/office/drawing/2014/main" id="{E19232AB-3953-9432-562A-CA98FEF18D91}"/>
              </a:ext>
            </a:extLst>
          </p:cNvPr>
          <p:cNvCxnSpPr>
            <a:cxnSpLocks/>
            <a:stCxn id="16" idx="3"/>
            <a:endCxn id="6150" idx="2"/>
          </p:cNvCxnSpPr>
          <p:nvPr/>
        </p:nvCxnSpPr>
        <p:spPr>
          <a:xfrm>
            <a:off x="3680637" y="4440158"/>
            <a:ext cx="851771" cy="1510468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25EE79-BD75-447E-3AB9-0A00C93C3EF1}"/>
              </a:ext>
            </a:extLst>
          </p:cNvPr>
          <p:cNvSpPr txBox="1"/>
          <p:nvPr/>
        </p:nvSpPr>
        <p:spPr>
          <a:xfrm>
            <a:off x="705536" y="2998855"/>
            <a:ext cx="786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5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SLM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663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82" name="Table 6181">
            <a:extLst>
              <a:ext uri="{FF2B5EF4-FFF2-40B4-BE49-F238E27FC236}">
                <a16:creationId xmlns:a16="http://schemas.microsoft.com/office/drawing/2014/main" id="{A89609DE-1502-099A-6834-F8EF79CA0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765063"/>
              </p:ext>
            </p:extLst>
          </p:nvPr>
        </p:nvGraphicFramePr>
        <p:xfrm>
          <a:off x="2261544" y="1876761"/>
          <a:ext cx="8648396" cy="3411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594">
                  <a:extLst>
                    <a:ext uri="{9D8B030D-6E8A-4147-A177-3AD203B41FA5}">
                      <a16:colId xmlns:a16="http://schemas.microsoft.com/office/drawing/2014/main" val="3719688331"/>
                    </a:ext>
                  </a:extLst>
                </a:gridCol>
                <a:gridCol w="2292646">
                  <a:extLst>
                    <a:ext uri="{9D8B030D-6E8A-4147-A177-3AD203B41FA5}">
                      <a16:colId xmlns:a16="http://schemas.microsoft.com/office/drawing/2014/main" val="1907406057"/>
                    </a:ext>
                  </a:extLst>
                </a:gridCol>
                <a:gridCol w="2114938">
                  <a:extLst>
                    <a:ext uri="{9D8B030D-6E8A-4147-A177-3AD203B41FA5}">
                      <a16:colId xmlns:a16="http://schemas.microsoft.com/office/drawing/2014/main" val="3803807165"/>
                    </a:ext>
                  </a:extLst>
                </a:gridCol>
                <a:gridCol w="2338218">
                  <a:extLst>
                    <a:ext uri="{9D8B030D-6E8A-4147-A177-3AD203B41FA5}">
                      <a16:colId xmlns:a16="http://schemas.microsoft.com/office/drawing/2014/main" val="329330623"/>
                    </a:ext>
                  </a:extLst>
                </a:gridCol>
              </a:tblGrid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vGluT1-Ai203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GCamp6s-CamkII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Emx1.Cre-Ai96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43727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419133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9148680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52114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8997234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059845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948" y="329284"/>
            <a:ext cx="9829587" cy="600069"/>
          </a:xfrm>
        </p:spPr>
        <p:txBody>
          <a:bodyPr>
            <a:normAutofit fontScale="90000"/>
          </a:bodyPr>
          <a:lstStyle/>
          <a:p>
            <a:pPr algn="ctr"/>
            <a:r>
              <a:rPr lang="en-US" spc="-50" dirty="0">
                <a:solidFill>
                  <a:srgbClr val="01204E"/>
                </a:solidFill>
              </a:rPr>
              <a:t>Evaluation of Three Animal Strategies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CCDF2-AA96-7A8B-2597-25391B1119F6}"/>
              </a:ext>
            </a:extLst>
          </p:cNvPr>
          <p:cNvSpPr/>
          <p:nvPr/>
        </p:nvSpPr>
        <p:spPr>
          <a:xfrm>
            <a:off x="77723" y="3484395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9A7E80-4A3A-910E-F8CA-19EA8A07FFE5}"/>
              </a:ext>
            </a:extLst>
          </p:cNvPr>
          <p:cNvSpPr/>
          <p:nvPr/>
        </p:nvSpPr>
        <p:spPr>
          <a:xfrm>
            <a:off x="254390" y="3269744"/>
            <a:ext cx="778154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BC6E3A-363E-674E-30B2-1A725347F280}"/>
              </a:ext>
            </a:extLst>
          </p:cNvPr>
          <p:cNvSpPr/>
          <p:nvPr/>
        </p:nvSpPr>
        <p:spPr>
          <a:xfrm>
            <a:off x="2315481" y="2567474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1755DB-6C2C-E3F6-0810-B5E89FB42734}"/>
              </a:ext>
            </a:extLst>
          </p:cNvPr>
          <p:cNvSpPr/>
          <p:nvPr/>
        </p:nvSpPr>
        <p:spPr>
          <a:xfrm>
            <a:off x="2315481" y="4298774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1065C2-38B5-C2F8-CA15-AAB48F419580}"/>
              </a:ext>
            </a:extLst>
          </p:cNvPr>
          <p:cNvSpPr/>
          <p:nvPr/>
        </p:nvSpPr>
        <p:spPr>
          <a:xfrm>
            <a:off x="2315481" y="3690276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F0F06D-4CC4-61BA-23B8-805D0B1C357B}"/>
              </a:ext>
            </a:extLst>
          </p:cNvPr>
          <p:cNvSpPr/>
          <p:nvPr/>
        </p:nvSpPr>
        <p:spPr>
          <a:xfrm>
            <a:off x="2315481" y="3135752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230E9C9-ABD5-033A-2188-EC6C0490449D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1032544" y="2708181"/>
            <a:ext cx="1282937" cy="913998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7BE574-1449-701A-61F7-5C5D9500F1B0}"/>
              </a:ext>
            </a:extLst>
          </p:cNvPr>
          <p:cNvSpPr/>
          <p:nvPr/>
        </p:nvSpPr>
        <p:spPr>
          <a:xfrm>
            <a:off x="2598353" y="2456229"/>
            <a:ext cx="4532651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quality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F5184D4-B4A2-B3C5-CE3F-3B47CA44272D}"/>
              </a:ext>
            </a:extLst>
          </p:cNvPr>
          <p:cNvSpPr/>
          <p:nvPr/>
        </p:nvSpPr>
        <p:spPr>
          <a:xfrm>
            <a:off x="2598353" y="3050688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Imaging population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9BF8F5-65B4-C8E8-F823-030197C1C9F3}"/>
              </a:ext>
            </a:extLst>
          </p:cNvPr>
          <p:cNvSpPr/>
          <p:nvPr/>
        </p:nvSpPr>
        <p:spPr>
          <a:xfrm>
            <a:off x="2598353" y="3622179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SLM populations</a:t>
            </a:r>
          </a:p>
        </p:txBody>
      </p:sp>
      <p:sp>
        <p:nvSpPr>
          <p:cNvPr id="6144" name="Rectangle: Rounded Corners 6143">
            <a:extLst>
              <a:ext uri="{FF2B5EF4-FFF2-40B4-BE49-F238E27FC236}">
                <a16:creationId xmlns:a16="http://schemas.microsoft.com/office/drawing/2014/main" id="{90D0A88A-924F-E570-3CEA-4110AA3B3D13}"/>
              </a:ext>
            </a:extLst>
          </p:cNvPr>
          <p:cNvSpPr/>
          <p:nvPr/>
        </p:nvSpPr>
        <p:spPr>
          <a:xfrm>
            <a:off x="2598353" y="4201990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‘Cross-talk’</a:t>
            </a:r>
          </a:p>
        </p:txBody>
      </p:sp>
      <p:cxnSp>
        <p:nvCxnSpPr>
          <p:cNvPr id="6145" name="Connector: Curved 6144">
            <a:extLst>
              <a:ext uri="{FF2B5EF4-FFF2-40B4-BE49-F238E27FC236}">
                <a16:creationId xmlns:a16="http://schemas.microsoft.com/office/drawing/2014/main" id="{C734F82F-220A-C68E-DC21-639A3DE808F6}"/>
              </a:ext>
            </a:extLst>
          </p:cNvPr>
          <p:cNvCxnSpPr>
            <a:cxnSpLocks/>
            <a:stCxn id="16" idx="3"/>
            <a:endCxn id="24" idx="2"/>
          </p:cNvCxnSpPr>
          <p:nvPr/>
        </p:nvCxnSpPr>
        <p:spPr>
          <a:xfrm flipV="1">
            <a:off x="1032544" y="3276459"/>
            <a:ext cx="1282937" cy="345720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Rectangle: Rounded Corners 6148">
            <a:extLst>
              <a:ext uri="{FF2B5EF4-FFF2-40B4-BE49-F238E27FC236}">
                <a16:creationId xmlns:a16="http://schemas.microsoft.com/office/drawing/2014/main" id="{90973480-D1BF-0584-91FA-6C167699202A}"/>
              </a:ext>
            </a:extLst>
          </p:cNvPr>
          <p:cNvSpPr/>
          <p:nvPr/>
        </p:nvSpPr>
        <p:spPr>
          <a:xfrm>
            <a:off x="2598353" y="4795083"/>
            <a:ext cx="2980145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</a:t>
            </a:r>
          </a:p>
        </p:txBody>
      </p:sp>
      <p:sp>
        <p:nvSpPr>
          <p:cNvPr id="6150" name="Oval 6149">
            <a:extLst>
              <a:ext uri="{FF2B5EF4-FFF2-40B4-BE49-F238E27FC236}">
                <a16:creationId xmlns:a16="http://schemas.microsoft.com/office/drawing/2014/main" id="{4532782F-57CF-DDE8-5E78-D9AEEF785043}"/>
              </a:ext>
            </a:extLst>
          </p:cNvPr>
          <p:cNvSpPr/>
          <p:nvPr/>
        </p:nvSpPr>
        <p:spPr>
          <a:xfrm>
            <a:off x="2315481" y="4895633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51" name="Connector: Curved 6150">
            <a:extLst>
              <a:ext uri="{FF2B5EF4-FFF2-40B4-BE49-F238E27FC236}">
                <a16:creationId xmlns:a16="http://schemas.microsoft.com/office/drawing/2014/main" id="{DE7C56B9-7B1F-296D-4AEC-669ECCDFE34F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>
            <a:off x="1032544" y="3622179"/>
            <a:ext cx="1282937" cy="208804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4" name="Connector: Curved 6153">
            <a:extLst>
              <a:ext uri="{FF2B5EF4-FFF2-40B4-BE49-F238E27FC236}">
                <a16:creationId xmlns:a16="http://schemas.microsoft.com/office/drawing/2014/main" id="{014EDBEF-D5C0-8D9C-B451-B8A2DB7AF483}"/>
              </a:ext>
            </a:extLst>
          </p:cNvPr>
          <p:cNvCxnSpPr>
            <a:cxnSpLocks/>
            <a:stCxn id="16" idx="3"/>
            <a:endCxn id="22" idx="2"/>
          </p:cNvCxnSpPr>
          <p:nvPr/>
        </p:nvCxnSpPr>
        <p:spPr>
          <a:xfrm>
            <a:off x="1032544" y="3622179"/>
            <a:ext cx="1282937" cy="817302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8" name="Connector: Curved 6157">
            <a:extLst>
              <a:ext uri="{FF2B5EF4-FFF2-40B4-BE49-F238E27FC236}">
                <a16:creationId xmlns:a16="http://schemas.microsoft.com/office/drawing/2014/main" id="{E19232AB-3953-9432-562A-CA98FEF18D91}"/>
              </a:ext>
            </a:extLst>
          </p:cNvPr>
          <p:cNvCxnSpPr>
            <a:cxnSpLocks/>
            <a:stCxn id="16" idx="3"/>
            <a:endCxn id="6150" idx="2"/>
          </p:cNvCxnSpPr>
          <p:nvPr/>
        </p:nvCxnSpPr>
        <p:spPr>
          <a:xfrm>
            <a:off x="1032544" y="3622179"/>
            <a:ext cx="1282937" cy="1414161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92" name="Group 6191">
            <a:extLst>
              <a:ext uri="{FF2B5EF4-FFF2-40B4-BE49-F238E27FC236}">
                <a16:creationId xmlns:a16="http://schemas.microsoft.com/office/drawing/2014/main" id="{13849045-D302-30AA-6D0F-AD1510365668}"/>
              </a:ext>
            </a:extLst>
          </p:cNvPr>
          <p:cNvGrpSpPr/>
          <p:nvPr/>
        </p:nvGrpSpPr>
        <p:grpSpPr>
          <a:xfrm>
            <a:off x="4701197" y="2681999"/>
            <a:ext cx="1110341" cy="143070"/>
            <a:chOff x="4727510" y="5859624"/>
            <a:chExt cx="1110341" cy="143070"/>
          </a:xfrm>
        </p:grpSpPr>
        <p:sp>
          <p:nvSpPr>
            <p:cNvPr id="6188" name="Rectangle: Rounded Corners 6187">
              <a:extLst>
                <a:ext uri="{FF2B5EF4-FFF2-40B4-BE49-F238E27FC236}">
                  <a16:creationId xmlns:a16="http://schemas.microsoft.com/office/drawing/2014/main" id="{59A40905-EF0C-0F25-7877-302F8114D363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9" name="Rectangle: Rounded Corners 6188">
              <a:extLst>
                <a:ext uri="{FF2B5EF4-FFF2-40B4-BE49-F238E27FC236}">
                  <a16:creationId xmlns:a16="http://schemas.microsoft.com/office/drawing/2014/main" id="{F057C8CE-4591-67C4-58C5-BEBC3964357D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0" name="Rectangle: Rounded Corners 6189">
              <a:extLst>
                <a:ext uri="{FF2B5EF4-FFF2-40B4-BE49-F238E27FC236}">
                  <a16:creationId xmlns:a16="http://schemas.microsoft.com/office/drawing/2014/main" id="{1B5426BA-57EB-1941-E2EA-9C19728628CC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1" name="Rectangle: Rounded Corners 6190">
              <a:extLst>
                <a:ext uri="{FF2B5EF4-FFF2-40B4-BE49-F238E27FC236}">
                  <a16:creationId xmlns:a16="http://schemas.microsoft.com/office/drawing/2014/main" id="{7DB34753-F892-FC2E-7ABB-F967C4E769AF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93" name="Group 6192">
            <a:extLst>
              <a:ext uri="{FF2B5EF4-FFF2-40B4-BE49-F238E27FC236}">
                <a16:creationId xmlns:a16="http://schemas.microsoft.com/office/drawing/2014/main" id="{53CAAEB6-B876-9DA8-AB28-B7724BD534E5}"/>
              </a:ext>
            </a:extLst>
          </p:cNvPr>
          <p:cNvGrpSpPr/>
          <p:nvPr/>
        </p:nvGrpSpPr>
        <p:grpSpPr>
          <a:xfrm>
            <a:off x="4690311" y="3269634"/>
            <a:ext cx="1110341" cy="143070"/>
            <a:chOff x="4727510" y="5859624"/>
            <a:chExt cx="1110341" cy="143070"/>
          </a:xfrm>
        </p:grpSpPr>
        <p:sp>
          <p:nvSpPr>
            <p:cNvPr id="6194" name="Rectangle: Rounded Corners 6193">
              <a:extLst>
                <a:ext uri="{FF2B5EF4-FFF2-40B4-BE49-F238E27FC236}">
                  <a16:creationId xmlns:a16="http://schemas.microsoft.com/office/drawing/2014/main" id="{D613A915-657A-1C1F-2E70-73115703E721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5" name="Rectangle: Rounded Corners 6194">
              <a:extLst>
                <a:ext uri="{FF2B5EF4-FFF2-40B4-BE49-F238E27FC236}">
                  <a16:creationId xmlns:a16="http://schemas.microsoft.com/office/drawing/2014/main" id="{6E5DA624-AE06-EBB6-48F3-425835D2CB51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6" name="Rectangle: Rounded Corners 6195">
              <a:extLst>
                <a:ext uri="{FF2B5EF4-FFF2-40B4-BE49-F238E27FC236}">
                  <a16:creationId xmlns:a16="http://schemas.microsoft.com/office/drawing/2014/main" id="{EF7185F9-D60B-76BE-B9EE-8C8D32B50B7E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7" name="Rectangle: Rounded Corners 6196">
              <a:extLst>
                <a:ext uri="{FF2B5EF4-FFF2-40B4-BE49-F238E27FC236}">
                  <a16:creationId xmlns:a16="http://schemas.microsoft.com/office/drawing/2014/main" id="{9D9F4360-C9B3-3148-5035-FE3D2B2BCADE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98" name="Group 6197">
            <a:extLst>
              <a:ext uri="{FF2B5EF4-FFF2-40B4-BE49-F238E27FC236}">
                <a16:creationId xmlns:a16="http://schemas.microsoft.com/office/drawing/2014/main" id="{D10081EA-0CE9-5EBA-3234-93AA24AA7288}"/>
              </a:ext>
            </a:extLst>
          </p:cNvPr>
          <p:cNvGrpSpPr/>
          <p:nvPr/>
        </p:nvGrpSpPr>
        <p:grpSpPr>
          <a:xfrm>
            <a:off x="4690311" y="3777187"/>
            <a:ext cx="1110341" cy="143070"/>
            <a:chOff x="4727510" y="5859624"/>
            <a:chExt cx="1110341" cy="143070"/>
          </a:xfrm>
        </p:grpSpPr>
        <p:sp>
          <p:nvSpPr>
            <p:cNvPr id="6199" name="Rectangle: Rounded Corners 6198">
              <a:extLst>
                <a:ext uri="{FF2B5EF4-FFF2-40B4-BE49-F238E27FC236}">
                  <a16:creationId xmlns:a16="http://schemas.microsoft.com/office/drawing/2014/main" id="{F14A261A-0C4D-2FCC-090C-840F66298E29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0" name="Rectangle: Rounded Corners 6199">
              <a:extLst>
                <a:ext uri="{FF2B5EF4-FFF2-40B4-BE49-F238E27FC236}">
                  <a16:creationId xmlns:a16="http://schemas.microsoft.com/office/drawing/2014/main" id="{D6EA03E1-320D-73FF-6156-182D2F9314D5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1" name="Rectangle: Rounded Corners 6200">
              <a:extLst>
                <a:ext uri="{FF2B5EF4-FFF2-40B4-BE49-F238E27FC236}">
                  <a16:creationId xmlns:a16="http://schemas.microsoft.com/office/drawing/2014/main" id="{1A0F89D9-543D-9C35-ACED-391A5E5B8022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2" name="Rectangle: Rounded Corners 6201">
              <a:extLst>
                <a:ext uri="{FF2B5EF4-FFF2-40B4-BE49-F238E27FC236}">
                  <a16:creationId xmlns:a16="http://schemas.microsoft.com/office/drawing/2014/main" id="{55235E6B-B43E-59B6-6AA2-EB0D79D8C8A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03" name="Group 6202">
            <a:extLst>
              <a:ext uri="{FF2B5EF4-FFF2-40B4-BE49-F238E27FC236}">
                <a16:creationId xmlns:a16="http://schemas.microsoft.com/office/drawing/2014/main" id="{22B9D183-0DD8-2100-7FB4-8C9698651B5E}"/>
              </a:ext>
            </a:extLst>
          </p:cNvPr>
          <p:cNvGrpSpPr/>
          <p:nvPr/>
        </p:nvGrpSpPr>
        <p:grpSpPr>
          <a:xfrm>
            <a:off x="4690311" y="4371646"/>
            <a:ext cx="1110341" cy="143070"/>
            <a:chOff x="4727510" y="5859624"/>
            <a:chExt cx="1110341" cy="143070"/>
          </a:xfrm>
        </p:grpSpPr>
        <p:sp>
          <p:nvSpPr>
            <p:cNvPr id="6204" name="Rectangle: Rounded Corners 6203">
              <a:extLst>
                <a:ext uri="{FF2B5EF4-FFF2-40B4-BE49-F238E27FC236}">
                  <a16:creationId xmlns:a16="http://schemas.microsoft.com/office/drawing/2014/main" id="{13861D87-8F0D-17B2-EFE7-57752B4BD915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5" name="Rectangle: Rounded Corners 6204">
              <a:extLst>
                <a:ext uri="{FF2B5EF4-FFF2-40B4-BE49-F238E27FC236}">
                  <a16:creationId xmlns:a16="http://schemas.microsoft.com/office/drawing/2014/main" id="{D167444E-4489-424A-1A86-48451B448FD4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6" name="Rectangle: Rounded Corners 6205">
              <a:extLst>
                <a:ext uri="{FF2B5EF4-FFF2-40B4-BE49-F238E27FC236}">
                  <a16:creationId xmlns:a16="http://schemas.microsoft.com/office/drawing/2014/main" id="{1C201848-0675-8E78-2200-F857F4130D33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7" name="Rectangle: Rounded Corners 6206">
              <a:extLst>
                <a:ext uri="{FF2B5EF4-FFF2-40B4-BE49-F238E27FC236}">
                  <a16:creationId xmlns:a16="http://schemas.microsoft.com/office/drawing/2014/main" id="{E94502F6-0F8B-CDAC-A3B2-07041B07139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08" name="Group 6207">
            <a:extLst>
              <a:ext uri="{FF2B5EF4-FFF2-40B4-BE49-F238E27FC236}">
                <a16:creationId xmlns:a16="http://schemas.microsoft.com/office/drawing/2014/main" id="{3D1E8354-065C-7477-A471-FE4EB46444FC}"/>
              </a:ext>
            </a:extLst>
          </p:cNvPr>
          <p:cNvGrpSpPr/>
          <p:nvPr/>
        </p:nvGrpSpPr>
        <p:grpSpPr>
          <a:xfrm>
            <a:off x="4690311" y="4932744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09" name="Rectangle: Rounded Corners 6208">
              <a:extLst>
                <a:ext uri="{FF2B5EF4-FFF2-40B4-BE49-F238E27FC236}">
                  <a16:creationId xmlns:a16="http://schemas.microsoft.com/office/drawing/2014/main" id="{30C3F730-7739-18EF-5F98-E0CD6816A075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0" name="Rectangle: Rounded Corners 6209">
              <a:extLst>
                <a:ext uri="{FF2B5EF4-FFF2-40B4-BE49-F238E27FC236}">
                  <a16:creationId xmlns:a16="http://schemas.microsoft.com/office/drawing/2014/main" id="{657FA0C2-1732-1A2A-74E8-3F32DBB501C3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1" name="Rectangle: Rounded Corners 6210">
              <a:extLst>
                <a:ext uri="{FF2B5EF4-FFF2-40B4-BE49-F238E27FC236}">
                  <a16:creationId xmlns:a16="http://schemas.microsoft.com/office/drawing/2014/main" id="{825E1AB0-717F-4919-16D4-A64378AEB084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2" name="Rectangle: Rounded Corners 6211">
              <a:extLst>
                <a:ext uri="{FF2B5EF4-FFF2-40B4-BE49-F238E27FC236}">
                  <a16:creationId xmlns:a16="http://schemas.microsoft.com/office/drawing/2014/main" id="{67B23D93-71CA-B9BB-D7B7-15D32708927A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13" name="Group 6212">
            <a:extLst>
              <a:ext uri="{FF2B5EF4-FFF2-40B4-BE49-F238E27FC236}">
                <a16:creationId xmlns:a16="http://schemas.microsoft.com/office/drawing/2014/main" id="{8DD1F3C8-0269-3D13-4F45-733709B091FE}"/>
              </a:ext>
            </a:extLst>
          </p:cNvPr>
          <p:cNvGrpSpPr/>
          <p:nvPr/>
        </p:nvGrpSpPr>
        <p:grpSpPr>
          <a:xfrm>
            <a:off x="6828266" y="2681999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14" name="Rectangle: Rounded Corners 6213">
              <a:extLst>
                <a:ext uri="{FF2B5EF4-FFF2-40B4-BE49-F238E27FC236}">
                  <a16:creationId xmlns:a16="http://schemas.microsoft.com/office/drawing/2014/main" id="{DA472510-E33B-55F9-BFA7-EEDF8554BE27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5" name="Rectangle: Rounded Corners 6214">
              <a:extLst>
                <a:ext uri="{FF2B5EF4-FFF2-40B4-BE49-F238E27FC236}">
                  <a16:creationId xmlns:a16="http://schemas.microsoft.com/office/drawing/2014/main" id="{C849564A-AC87-B39C-0BE8-D92371C48466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6" name="Rectangle: Rounded Corners 6215">
              <a:extLst>
                <a:ext uri="{FF2B5EF4-FFF2-40B4-BE49-F238E27FC236}">
                  <a16:creationId xmlns:a16="http://schemas.microsoft.com/office/drawing/2014/main" id="{42E64FC2-E275-72DD-3D1B-133220CA761C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7" name="Rectangle: Rounded Corners 6216">
              <a:extLst>
                <a:ext uri="{FF2B5EF4-FFF2-40B4-BE49-F238E27FC236}">
                  <a16:creationId xmlns:a16="http://schemas.microsoft.com/office/drawing/2014/main" id="{AFDF03D8-1867-3CF5-E3DB-20C605DC649F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18" name="Group 6217">
            <a:extLst>
              <a:ext uri="{FF2B5EF4-FFF2-40B4-BE49-F238E27FC236}">
                <a16:creationId xmlns:a16="http://schemas.microsoft.com/office/drawing/2014/main" id="{BD2D7D04-0AC0-BAC2-9DA6-AD92B477E87F}"/>
              </a:ext>
            </a:extLst>
          </p:cNvPr>
          <p:cNvGrpSpPr/>
          <p:nvPr/>
        </p:nvGrpSpPr>
        <p:grpSpPr>
          <a:xfrm>
            <a:off x="6817380" y="3269634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19" name="Rectangle: Rounded Corners 6218">
              <a:extLst>
                <a:ext uri="{FF2B5EF4-FFF2-40B4-BE49-F238E27FC236}">
                  <a16:creationId xmlns:a16="http://schemas.microsoft.com/office/drawing/2014/main" id="{EFC14EC6-EE90-4E3B-4F09-50BE2C65C144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0" name="Rectangle: Rounded Corners 6219">
              <a:extLst>
                <a:ext uri="{FF2B5EF4-FFF2-40B4-BE49-F238E27FC236}">
                  <a16:creationId xmlns:a16="http://schemas.microsoft.com/office/drawing/2014/main" id="{A89E7795-A12F-65B8-E639-4150665C3EE8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1" name="Rectangle: Rounded Corners 6220">
              <a:extLst>
                <a:ext uri="{FF2B5EF4-FFF2-40B4-BE49-F238E27FC236}">
                  <a16:creationId xmlns:a16="http://schemas.microsoft.com/office/drawing/2014/main" id="{C9BAF215-4F8F-2691-7A42-FF5EA401D1E3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2" name="Rectangle: Rounded Corners 6221">
              <a:extLst>
                <a:ext uri="{FF2B5EF4-FFF2-40B4-BE49-F238E27FC236}">
                  <a16:creationId xmlns:a16="http://schemas.microsoft.com/office/drawing/2014/main" id="{561D5E13-FD56-30EA-8550-D44AFFB7348F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23" name="Group 6222">
            <a:extLst>
              <a:ext uri="{FF2B5EF4-FFF2-40B4-BE49-F238E27FC236}">
                <a16:creationId xmlns:a16="http://schemas.microsoft.com/office/drawing/2014/main" id="{2F7BE642-5A8A-5D0A-8F49-B087EF7AAB2C}"/>
              </a:ext>
            </a:extLst>
          </p:cNvPr>
          <p:cNvGrpSpPr/>
          <p:nvPr/>
        </p:nvGrpSpPr>
        <p:grpSpPr>
          <a:xfrm>
            <a:off x="6817380" y="3777187"/>
            <a:ext cx="1110341" cy="143070"/>
            <a:chOff x="4727510" y="5859624"/>
            <a:chExt cx="1110341" cy="143070"/>
          </a:xfrm>
        </p:grpSpPr>
        <p:sp>
          <p:nvSpPr>
            <p:cNvPr id="6224" name="Rectangle: Rounded Corners 6223">
              <a:extLst>
                <a:ext uri="{FF2B5EF4-FFF2-40B4-BE49-F238E27FC236}">
                  <a16:creationId xmlns:a16="http://schemas.microsoft.com/office/drawing/2014/main" id="{CAEF311E-DDC5-D2B1-21BB-D942314A466C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5" name="Rectangle: Rounded Corners 6224">
              <a:extLst>
                <a:ext uri="{FF2B5EF4-FFF2-40B4-BE49-F238E27FC236}">
                  <a16:creationId xmlns:a16="http://schemas.microsoft.com/office/drawing/2014/main" id="{E361DE9E-FDFB-BAA3-AA59-4E27350E4A62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6" name="Rectangle: Rounded Corners 6225">
              <a:extLst>
                <a:ext uri="{FF2B5EF4-FFF2-40B4-BE49-F238E27FC236}">
                  <a16:creationId xmlns:a16="http://schemas.microsoft.com/office/drawing/2014/main" id="{E3EA1AEB-2A87-2020-E325-59764663EECB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7" name="Rectangle: Rounded Corners 6226">
              <a:extLst>
                <a:ext uri="{FF2B5EF4-FFF2-40B4-BE49-F238E27FC236}">
                  <a16:creationId xmlns:a16="http://schemas.microsoft.com/office/drawing/2014/main" id="{42FBC2F8-3B29-91D8-9652-DAECAFEDA996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28" name="Group 6227">
            <a:extLst>
              <a:ext uri="{FF2B5EF4-FFF2-40B4-BE49-F238E27FC236}">
                <a16:creationId xmlns:a16="http://schemas.microsoft.com/office/drawing/2014/main" id="{3ADC11DB-E807-305D-C46B-F0CF55D91A13}"/>
              </a:ext>
            </a:extLst>
          </p:cNvPr>
          <p:cNvGrpSpPr/>
          <p:nvPr/>
        </p:nvGrpSpPr>
        <p:grpSpPr>
          <a:xfrm>
            <a:off x="6817380" y="4371646"/>
            <a:ext cx="1110341" cy="143070"/>
            <a:chOff x="4727510" y="5859624"/>
            <a:chExt cx="1110341" cy="143070"/>
          </a:xfrm>
        </p:grpSpPr>
        <p:sp>
          <p:nvSpPr>
            <p:cNvPr id="6229" name="Rectangle: Rounded Corners 6228">
              <a:extLst>
                <a:ext uri="{FF2B5EF4-FFF2-40B4-BE49-F238E27FC236}">
                  <a16:creationId xmlns:a16="http://schemas.microsoft.com/office/drawing/2014/main" id="{53181981-E19B-0ED8-3B33-836731D85748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0" name="Rectangle: Rounded Corners 6229">
              <a:extLst>
                <a:ext uri="{FF2B5EF4-FFF2-40B4-BE49-F238E27FC236}">
                  <a16:creationId xmlns:a16="http://schemas.microsoft.com/office/drawing/2014/main" id="{BCF9068D-C3F8-41C4-546C-BBAE86011BB9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1" name="Rectangle: Rounded Corners 6230">
              <a:extLst>
                <a:ext uri="{FF2B5EF4-FFF2-40B4-BE49-F238E27FC236}">
                  <a16:creationId xmlns:a16="http://schemas.microsoft.com/office/drawing/2014/main" id="{B76366E0-D4DE-717A-64F1-EAEA69F98ED5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2" name="Rectangle: Rounded Corners 6231">
              <a:extLst>
                <a:ext uri="{FF2B5EF4-FFF2-40B4-BE49-F238E27FC236}">
                  <a16:creationId xmlns:a16="http://schemas.microsoft.com/office/drawing/2014/main" id="{DADA2EB9-C9F1-C4BE-B9DC-C510111EED65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33" name="Group 6232">
            <a:extLst>
              <a:ext uri="{FF2B5EF4-FFF2-40B4-BE49-F238E27FC236}">
                <a16:creationId xmlns:a16="http://schemas.microsoft.com/office/drawing/2014/main" id="{4E39DA4B-CD6A-3C92-321D-7130229A0930}"/>
              </a:ext>
            </a:extLst>
          </p:cNvPr>
          <p:cNvGrpSpPr/>
          <p:nvPr/>
        </p:nvGrpSpPr>
        <p:grpSpPr>
          <a:xfrm>
            <a:off x="6817380" y="4932744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34" name="Rectangle: Rounded Corners 6233">
              <a:extLst>
                <a:ext uri="{FF2B5EF4-FFF2-40B4-BE49-F238E27FC236}">
                  <a16:creationId xmlns:a16="http://schemas.microsoft.com/office/drawing/2014/main" id="{70C3A780-7ED5-E90D-E07A-E5BA55107B83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5" name="Rectangle: Rounded Corners 6234">
              <a:extLst>
                <a:ext uri="{FF2B5EF4-FFF2-40B4-BE49-F238E27FC236}">
                  <a16:creationId xmlns:a16="http://schemas.microsoft.com/office/drawing/2014/main" id="{6B7ABCC9-7A07-F1E6-1C2E-72495159CCCA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6" name="Rectangle: Rounded Corners 6235">
              <a:extLst>
                <a:ext uri="{FF2B5EF4-FFF2-40B4-BE49-F238E27FC236}">
                  <a16:creationId xmlns:a16="http://schemas.microsoft.com/office/drawing/2014/main" id="{68392BF7-703D-23C3-D02D-CEED1A169AFE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7" name="Rectangle: Rounded Corners 6236">
              <a:extLst>
                <a:ext uri="{FF2B5EF4-FFF2-40B4-BE49-F238E27FC236}">
                  <a16:creationId xmlns:a16="http://schemas.microsoft.com/office/drawing/2014/main" id="{B8488AB4-1AFA-08DD-80EA-EF4AF2AB6D8A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38" name="Rectangle 6237">
            <a:extLst>
              <a:ext uri="{FF2B5EF4-FFF2-40B4-BE49-F238E27FC236}">
                <a16:creationId xmlns:a16="http://schemas.microsoft.com/office/drawing/2014/main" id="{7F922EE3-737B-BCD1-58C9-E50C0F02DC9C}"/>
              </a:ext>
            </a:extLst>
          </p:cNvPr>
          <p:cNvSpPr/>
          <p:nvPr/>
        </p:nvSpPr>
        <p:spPr>
          <a:xfrm>
            <a:off x="10349782" y="2241850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grpSp>
        <p:nvGrpSpPr>
          <p:cNvPr id="6239" name="Group 6238">
            <a:extLst>
              <a:ext uri="{FF2B5EF4-FFF2-40B4-BE49-F238E27FC236}">
                <a16:creationId xmlns:a16="http://schemas.microsoft.com/office/drawing/2014/main" id="{58AD5512-6757-2717-534B-5135B4F3DA1C}"/>
              </a:ext>
            </a:extLst>
          </p:cNvPr>
          <p:cNvGrpSpPr/>
          <p:nvPr/>
        </p:nvGrpSpPr>
        <p:grpSpPr>
          <a:xfrm>
            <a:off x="9038476" y="4934265"/>
            <a:ext cx="1110341" cy="143070"/>
            <a:chOff x="4727510" y="5859624"/>
            <a:chExt cx="1110341" cy="143070"/>
          </a:xfrm>
          <a:noFill/>
        </p:grpSpPr>
        <p:sp>
          <p:nvSpPr>
            <p:cNvPr id="6240" name="Rectangle: Rounded Corners 6239">
              <a:extLst>
                <a:ext uri="{FF2B5EF4-FFF2-40B4-BE49-F238E27FC236}">
                  <a16:creationId xmlns:a16="http://schemas.microsoft.com/office/drawing/2014/main" id="{5BFA8A9B-4699-0740-5F45-61526759DD9D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1" name="Rectangle: Rounded Corners 6240">
              <a:extLst>
                <a:ext uri="{FF2B5EF4-FFF2-40B4-BE49-F238E27FC236}">
                  <a16:creationId xmlns:a16="http://schemas.microsoft.com/office/drawing/2014/main" id="{CD2D1029-2322-D3E6-A389-4D242A6CD4B6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2" name="Rectangle: Rounded Corners 6241">
              <a:extLst>
                <a:ext uri="{FF2B5EF4-FFF2-40B4-BE49-F238E27FC236}">
                  <a16:creationId xmlns:a16="http://schemas.microsoft.com/office/drawing/2014/main" id="{FD1B9751-DB28-2172-05F8-3D7E7E6797B2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3" name="Rectangle: Rounded Corners 6242">
              <a:extLst>
                <a:ext uri="{FF2B5EF4-FFF2-40B4-BE49-F238E27FC236}">
                  <a16:creationId xmlns:a16="http://schemas.microsoft.com/office/drawing/2014/main" id="{4CD226EC-BDC3-DE4F-43DC-54887F410BF9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44" name="Group 6243">
            <a:extLst>
              <a:ext uri="{FF2B5EF4-FFF2-40B4-BE49-F238E27FC236}">
                <a16:creationId xmlns:a16="http://schemas.microsoft.com/office/drawing/2014/main" id="{B0A3D7AC-DC75-08DA-B4AA-3073085DB92E}"/>
              </a:ext>
            </a:extLst>
          </p:cNvPr>
          <p:cNvGrpSpPr/>
          <p:nvPr/>
        </p:nvGrpSpPr>
        <p:grpSpPr>
          <a:xfrm>
            <a:off x="9038476" y="4371646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45" name="Rectangle: Rounded Corners 6244">
              <a:extLst>
                <a:ext uri="{FF2B5EF4-FFF2-40B4-BE49-F238E27FC236}">
                  <a16:creationId xmlns:a16="http://schemas.microsoft.com/office/drawing/2014/main" id="{68BB10D0-BDA2-57C2-F2A5-7E3D7C2B27F6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6" name="Rectangle: Rounded Corners 6245">
              <a:extLst>
                <a:ext uri="{FF2B5EF4-FFF2-40B4-BE49-F238E27FC236}">
                  <a16:creationId xmlns:a16="http://schemas.microsoft.com/office/drawing/2014/main" id="{7DE33017-3E59-3371-5EF7-22032D07FF82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7" name="Rectangle: Rounded Corners 6246">
              <a:extLst>
                <a:ext uri="{FF2B5EF4-FFF2-40B4-BE49-F238E27FC236}">
                  <a16:creationId xmlns:a16="http://schemas.microsoft.com/office/drawing/2014/main" id="{FB4CE820-EB53-AF99-B701-FEFF3D5A424F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8" name="Rectangle: Rounded Corners 6247">
              <a:extLst>
                <a:ext uri="{FF2B5EF4-FFF2-40B4-BE49-F238E27FC236}">
                  <a16:creationId xmlns:a16="http://schemas.microsoft.com/office/drawing/2014/main" id="{842CE1DA-3F59-6B53-46E8-AD20EC4521D4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49" name="Group 6248">
            <a:extLst>
              <a:ext uri="{FF2B5EF4-FFF2-40B4-BE49-F238E27FC236}">
                <a16:creationId xmlns:a16="http://schemas.microsoft.com/office/drawing/2014/main" id="{BB94902F-DDF0-A6B2-8637-E931201B3176}"/>
              </a:ext>
            </a:extLst>
          </p:cNvPr>
          <p:cNvGrpSpPr/>
          <p:nvPr/>
        </p:nvGrpSpPr>
        <p:grpSpPr>
          <a:xfrm>
            <a:off x="9027590" y="3760751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50" name="Rectangle: Rounded Corners 6249">
              <a:extLst>
                <a:ext uri="{FF2B5EF4-FFF2-40B4-BE49-F238E27FC236}">
                  <a16:creationId xmlns:a16="http://schemas.microsoft.com/office/drawing/2014/main" id="{40142D21-5E38-DF95-92C3-4522C356AC37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1" name="Rectangle: Rounded Corners 6250">
              <a:extLst>
                <a:ext uri="{FF2B5EF4-FFF2-40B4-BE49-F238E27FC236}">
                  <a16:creationId xmlns:a16="http://schemas.microsoft.com/office/drawing/2014/main" id="{ABAD1F77-8CCA-8871-30DD-536F5EBB182A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2" name="Rectangle: Rounded Corners 6251">
              <a:extLst>
                <a:ext uri="{FF2B5EF4-FFF2-40B4-BE49-F238E27FC236}">
                  <a16:creationId xmlns:a16="http://schemas.microsoft.com/office/drawing/2014/main" id="{C831C1BD-9487-DEC2-E368-CDC15BB92E0B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53" name="Rectangle: Rounded Corners 6252">
              <a:extLst>
                <a:ext uri="{FF2B5EF4-FFF2-40B4-BE49-F238E27FC236}">
                  <a16:creationId xmlns:a16="http://schemas.microsoft.com/office/drawing/2014/main" id="{D80BF62E-55A6-E5CF-5072-3AB2A8E3C73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54" name="Group 6253">
            <a:extLst>
              <a:ext uri="{FF2B5EF4-FFF2-40B4-BE49-F238E27FC236}">
                <a16:creationId xmlns:a16="http://schemas.microsoft.com/office/drawing/2014/main" id="{3DFF42EE-0432-6832-8589-F50D4C3C5F40}"/>
              </a:ext>
            </a:extLst>
          </p:cNvPr>
          <p:cNvGrpSpPr/>
          <p:nvPr/>
        </p:nvGrpSpPr>
        <p:grpSpPr>
          <a:xfrm>
            <a:off x="9027590" y="3276458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55" name="Rectangle: Rounded Corners 6254">
              <a:extLst>
                <a:ext uri="{FF2B5EF4-FFF2-40B4-BE49-F238E27FC236}">
                  <a16:creationId xmlns:a16="http://schemas.microsoft.com/office/drawing/2014/main" id="{C3DE4DC8-85B7-ADBE-93DD-C8DB5C598A38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6" name="Rectangle: Rounded Corners 6255">
              <a:extLst>
                <a:ext uri="{FF2B5EF4-FFF2-40B4-BE49-F238E27FC236}">
                  <a16:creationId xmlns:a16="http://schemas.microsoft.com/office/drawing/2014/main" id="{F5D29868-CE97-35A0-9AD3-64E1D4C67FA8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7" name="Rectangle: Rounded Corners 6256">
              <a:extLst>
                <a:ext uri="{FF2B5EF4-FFF2-40B4-BE49-F238E27FC236}">
                  <a16:creationId xmlns:a16="http://schemas.microsoft.com/office/drawing/2014/main" id="{8D3A768A-29EF-536C-28D4-E0D6AED803A5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8" name="Rectangle: Rounded Corners 6257">
              <a:extLst>
                <a:ext uri="{FF2B5EF4-FFF2-40B4-BE49-F238E27FC236}">
                  <a16:creationId xmlns:a16="http://schemas.microsoft.com/office/drawing/2014/main" id="{3EEDE0E7-2B2A-BFAD-61FC-BB31DB4D6184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59" name="Group 6258">
            <a:extLst>
              <a:ext uri="{FF2B5EF4-FFF2-40B4-BE49-F238E27FC236}">
                <a16:creationId xmlns:a16="http://schemas.microsoft.com/office/drawing/2014/main" id="{211D5A74-8506-D523-24B3-673A89FE7EB7}"/>
              </a:ext>
            </a:extLst>
          </p:cNvPr>
          <p:cNvGrpSpPr/>
          <p:nvPr/>
        </p:nvGrpSpPr>
        <p:grpSpPr>
          <a:xfrm>
            <a:off x="9027590" y="2685850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60" name="Rectangle: Rounded Corners 6259">
              <a:extLst>
                <a:ext uri="{FF2B5EF4-FFF2-40B4-BE49-F238E27FC236}">
                  <a16:creationId xmlns:a16="http://schemas.microsoft.com/office/drawing/2014/main" id="{2A0C7540-A70D-7F02-767C-EF91BBA792AE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1" name="Rectangle: Rounded Corners 6260">
              <a:extLst>
                <a:ext uri="{FF2B5EF4-FFF2-40B4-BE49-F238E27FC236}">
                  <a16:creationId xmlns:a16="http://schemas.microsoft.com/office/drawing/2014/main" id="{AE79FA0A-0648-E66C-09FF-EC37A213CC88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2" name="Rectangle: Rounded Corners 6261">
              <a:extLst>
                <a:ext uri="{FF2B5EF4-FFF2-40B4-BE49-F238E27FC236}">
                  <a16:creationId xmlns:a16="http://schemas.microsoft.com/office/drawing/2014/main" id="{2B3DED5F-6148-E922-A546-0943CE51DEF1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3" name="Rectangle: Rounded Corners 6262">
              <a:extLst>
                <a:ext uri="{FF2B5EF4-FFF2-40B4-BE49-F238E27FC236}">
                  <a16:creationId xmlns:a16="http://schemas.microsoft.com/office/drawing/2014/main" id="{416A1550-8530-0B15-FFBB-6D61BBC2FE0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64" name="Rectangle 6263">
            <a:extLst>
              <a:ext uri="{FF2B5EF4-FFF2-40B4-BE49-F238E27FC236}">
                <a16:creationId xmlns:a16="http://schemas.microsoft.com/office/drawing/2014/main" id="{23DA1FDA-7A3B-F0F3-0798-95C3598360CB}"/>
              </a:ext>
            </a:extLst>
          </p:cNvPr>
          <p:cNvSpPr/>
          <p:nvPr/>
        </p:nvSpPr>
        <p:spPr>
          <a:xfrm>
            <a:off x="10349782" y="3386284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265" name="Rectangle 6264">
            <a:extLst>
              <a:ext uri="{FF2B5EF4-FFF2-40B4-BE49-F238E27FC236}">
                <a16:creationId xmlns:a16="http://schemas.microsoft.com/office/drawing/2014/main" id="{F8E89F1A-A632-6576-B480-CC099D856DAC}"/>
              </a:ext>
            </a:extLst>
          </p:cNvPr>
          <p:cNvSpPr/>
          <p:nvPr/>
        </p:nvSpPr>
        <p:spPr>
          <a:xfrm>
            <a:off x="10349782" y="4530718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266" name="Rectangle 6265">
            <a:extLst>
              <a:ext uri="{FF2B5EF4-FFF2-40B4-BE49-F238E27FC236}">
                <a16:creationId xmlns:a16="http://schemas.microsoft.com/office/drawing/2014/main" id="{9F3C05F2-A206-0F60-363D-6227F697BDF1}"/>
              </a:ext>
            </a:extLst>
          </p:cNvPr>
          <p:cNvSpPr/>
          <p:nvPr/>
        </p:nvSpPr>
        <p:spPr>
          <a:xfrm>
            <a:off x="10362878" y="3958501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9698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vGluT1-Ai203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2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vGluT1-Ai203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7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vGluT1-Ai203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20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GCamp6s-CamkII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5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GCamp6s-CamkII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74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GCamp6s-CamkII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611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Emx1.Cre-Ai96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80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Emx1.Cre-Ai96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3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3B-8A82-B5EB-8895-237B596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3" y="233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spc="-50" dirty="0">
                <a:solidFill>
                  <a:srgbClr val="01204E"/>
                </a:solidFill>
                <a:effectLst/>
                <a:ea typeface="Times New Roman" panose="02020603050405020304" pitchFamily="18" charset="0"/>
              </a:rPr>
              <a:t>SLM: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Emx1.Cre-Ai96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1D31-21A0-17BC-F865-E8076163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577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82" name="Table 6181">
            <a:extLst>
              <a:ext uri="{FF2B5EF4-FFF2-40B4-BE49-F238E27FC236}">
                <a16:creationId xmlns:a16="http://schemas.microsoft.com/office/drawing/2014/main" id="{A89609DE-1502-099A-6834-F8EF79CA0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93308"/>
              </p:ext>
            </p:extLst>
          </p:nvPr>
        </p:nvGraphicFramePr>
        <p:xfrm>
          <a:off x="2248387" y="1429429"/>
          <a:ext cx="8648396" cy="3411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594">
                  <a:extLst>
                    <a:ext uri="{9D8B030D-6E8A-4147-A177-3AD203B41FA5}">
                      <a16:colId xmlns:a16="http://schemas.microsoft.com/office/drawing/2014/main" val="3719688331"/>
                    </a:ext>
                  </a:extLst>
                </a:gridCol>
                <a:gridCol w="2292646">
                  <a:extLst>
                    <a:ext uri="{9D8B030D-6E8A-4147-A177-3AD203B41FA5}">
                      <a16:colId xmlns:a16="http://schemas.microsoft.com/office/drawing/2014/main" val="1907406057"/>
                    </a:ext>
                  </a:extLst>
                </a:gridCol>
                <a:gridCol w="2114938">
                  <a:extLst>
                    <a:ext uri="{9D8B030D-6E8A-4147-A177-3AD203B41FA5}">
                      <a16:colId xmlns:a16="http://schemas.microsoft.com/office/drawing/2014/main" val="3803807165"/>
                    </a:ext>
                  </a:extLst>
                </a:gridCol>
                <a:gridCol w="2338218">
                  <a:extLst>
                    <a:ext uri="{9D8B030D-6E8A-4147-A177-3AD203B41FA5}">
                      <a16:colId xmlns:a16="http://schemas.microsoft.com/office/drawing/2014/main" val="329330623"/>
                    </a:ext>
                  </a:extLst>
                </a:gridCol>
              </a:tblGrid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vGluT1-Ai203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GCamp6s-CamkII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Emx1.Cre-Ai96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43727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419133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9148680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52114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8997234"/>
                  </a:ext>
                </a:extLst>
              </a:tr>
              <a:tr h="568592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059845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948" y="329284"/>
            <a:ext cx="9829587" cy="600069"/>
          </a:xfrm>
        </p:spPr>
        <p:txBody>
          <a:bodyPr>
            <a:normAutofit fontScale="90000"/>
          </a:bodyPr>
          <a:lstStyle/>
          <a:p>
            <a:pPr algn="ctr"/>
            <a:r>
              <a:rPr lang="en-US" spc="-50" dirty="0">
                <a:solidFill>
                  <a:srgbClr val="01204E"/>
                </a:solidFill>
              </a:rPr>
              <a:t>Thoughts?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CCDF2-AA96-7A8B-2597-25391B1119F6}"/>
              </a:ext>
            </a:extLst>
          </p:cNvPr>
          <p:cNvSpPr/>
          <p:nvPr/>
        </p:nvSpPr>
        <p:spPr>
          <a:xfrm>
            <a:off x="64566" y="3037063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9A7E80-4A3A-910E-F8CA-19EA8A07FFE5}"/>
              </a:ext>
            </a:extLst>
          </p:cNvPr>
          <p:cNvSpPr/>
          <p:nvPr/>
        </p:nvSpPr>
        <p:spPr>
          <a:xfrm>
            <a:off x="241233" y="2822412"/>
            <a:ext cx="778154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BC6E3A-363E-674E-30B2-1A725347F280}"/>
              </a:ext>
            </a:extLst>
          </p:cNvPr>
          <p:cNvSpPr/>
          <p:nvPr/>
        </p:nvSpPr>
        <p:spPr>
          <a:xfrm>
            <a:off x="2302324" y="2120142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1755DB-6C2C-E3F6-0810-B5E89FB42734}"/>
              </a:ext>
            </a:extLst>
          </p:cNvPr>
          <p:cNvSpPr/>
          <p:nvPr/>
        </p:nvSpPr>
        <p:spPr>
          <a:xfrm>
            <a:off x="2302324" y="3851442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1065C2-38B5-C2F8-CA15-AAB48F419580}"/>
              </a:ext>
            </a:extLst>
          </p:cNvPr>
          <p:cNvSpPr/>
          <p:nvPr/>
        </p:nvSpPr>
        <p:spPr>
          <a:xfrm>
            <a:off x="2302324" y="3242944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F0F06D-4CC4-61BA-23B8-805D0B1C357B}"/>
              </a:ext>
            </a:extLst>
          </p:cNvPr>
          <p:cNvSpPr/>
          <p:nvPr/>
        </p:nvSpPr>
        <p:spPr>
          <a:xfrm>
            <a:off x="2302324" y="2688420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230E9C9-ABD5-033A-2188-EC6C0490449D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1019387" y="2260849"/>
            <a:ext cx="1282937" cy="913998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7BE574-1449-701A-61F7-5C5D9500F1B0}"/>
              </a:ext>
            </a:extLst>
          </p:cNvPr>
          <p:cNvSpPr/>
          <p:nvPr/>
        </p:nvSpPr>
        <p:spPr>
          <a:xfrm>
            <a:off x="2585196" y="2008897"/>
            <a:ext cx="4532651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quality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F5184D4-B4A2-B3C5-CE3F-3B47CA44272D}"/>
              </a:ext>
            </a:extLst>
          </p:cNvPr>
          <p:cNvSpPr/>
          <p:nvPr/>
        </p:nvSpPr>
        <p:spPr>
          <a:xfrm>
            <a:off x="2585196" y="2603356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Imaging population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9BF8F5-65B4-C8E8-F823-030197C1C9F3}"/>
              </a:ext>
            </a:extLst>
          </p:cNvPr>
          <p:cNvSpPr/>
          <p:nvPr/>
        </p:nvSpPr>
        <p:spPr>
          <a:xfrm>
            <a:off x="2585196" y="3174847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SLM populations</a:t>
            </a:r>
          </a:p>
        </p:txBody>
      </p:sp>
      <p:sp>
        <p:nvSpPr>
          <p:cNvPr id="6144" name="Rectangle: Rounded Corners 6143">
            <a:extLst>
              <a:ext uri="{FF2B5EF4-FFF2-40B4-BE49-F238E27FC236}">
                <a16:creationId xmlns:a16="http://schemas.microsoft.com/office/drawing/2014/main" id="{90D0A88A-924F-E570-3CEA-4110AA3B3D13}"/>
              </a:ext>
            </a:extLst>
          </p:cNvPr>
          <p:cNvSpPr/>
          <p:nvPr/>
        </p:nvSpPr>
        <p:spPr>
          <a:xfrm>
            <a:off x="2585196" y="3754658"/>
            <a:ext cx="6657480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‘Cross-talk’</a:t>
            </a:r>
          </a:p>
        </p:txBody>
      </p:sp>
      <p:cxnSp>
        <p:nvCxnSpPr>
          <p:cNvPr id="6145" name="Connector: Curved 6144">
            <a:extLst>
              <a:ext uri="{FF2B5EF4-FFF2-40B4-BE49-F238E27FC236}">
                <a16:creationId xmlns:a16="http://schemas.microsoft.com/office/drawing/2014/main" id="{C734F82F-220A-C68E-DC21-639A3DE808F6}"/>
              </a:ext>
            </a:extLst>
          </p:cNvPr>
          <p:cNvCxnSpPr>
            <a:cxnSpLocks/>
            <a:stCxn id="16" idx="3"/>
            <a:endCxn id="24" idx="2"/>
          </p:cNvCxnSpPr>
          <p:nvPr/>
        </p:nvCxnSpPr>
        <p:spPr>
          <a:xfrm flipV="1">
            <a:off x="1019387" y="2829127"/>
            <a:ext cx="1282937" cy="345720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Rectangle: Rounded Corners 6148">
            <a:extLst>
              <a:ext uri="{FF2B5EF4-FFF2-40B4-BE49-F238E27FC236}">
                <a16:creationId xmlns:a16="http://schemas.microsoft.com/office/drawing/2014/main" id="{90973480-D1BF-0584-91FA-6C167699202A}"/>
              </a:ext>
            </a:extLst>
          </p:cNvPr>
          <p:cNvSpPr/>
          <p:nvPr/>
        </p:nvSpPr>
        <p:spPr>
          <a:xfrm>
            <a:off x="2585196" y="4347751"/>
            <a:ext cx="2980145" cy="4515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</a:t>
            </a:r>
          </a:p>
        </p:txBody>
      </p:sp>
      <p:sp>
        <p:nvSpPr>
          <p:cNvPr id="6150" name="Oval 6149">
            <a:extLst>
              <a:ext uri="{FF2B5EF4-FFF2-40B4-BE49-F238E27FC236}">
                <a16:creationId xmlns:a16="http://schemas.microsoft.com/office/drawing/2014/main" id="{4532782F-57CF-DDE8-5E78-D9AEEF785043}"/>
              </a:ext>
            </a:extLst>
          </p:cNvPr>
          <p:cNvSpPr/>
          <p:nvPr/>
        </p:nvSpPr>
        <p:spPr>
          <a:xfrm>
            <a:off x="2302324" y="4448301"/>
            <a:ext cx="282872" cy="2814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51" name="Connector: Curved 6150">
            <a:extLst>
              <a:ext uri="{FF2B5EF4-FFF2-40B4-BE49-F238E27FC236}">
                <a16:creationId xmlns:a16="http://schemas.microsoft.com/office/drawing/2014/main" id="{DE7C56B9-7B1F-296D-4AEC-669ECCDFE34F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>
            <a:off x="1019387" y="3174847"/>
            <a:ext cx="1282937" cy="208804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4" name="Connector: Curved 6153">
            <a:extLst>
              <a:ext uri="{FF2B5EF4-FFF2-40B4-BE49-F238E27FC236}">
                <a16:creationId xmlns:a16="http://schemas.microsoft.com/office/drawing/2014/main" id="{014EDBEF-D5C0-8D9C-B451-B8A2DB7AF483}"/>
              </a:ext>
            </a:extLst>
          </p:cNvPr>
          <p:cNvCxnSpPr>
            <a:cxnSpLocks/>
            <a:stCxn id="16" idx="3"/>
            <a:endCxn id="22" idx="2"/>
          </p:cNvCxnSpPr>
          <p:nvPr/>
        </p:nvCxnSpPr>
        <p:spPr>
          <a:xfrm>
            <a:off x="1019387" y="3174847"/>
            <a:ext cx="1282937" cy="817302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8" name="Connector: Curved 6157">
            <a:extLst>
              <a:ext uri="{FF2B5EF4-FFF2-40B4-BE49-F238E27FC236}">
                <a16:creationId xmlns:a16="http://schemas.microsoft.com/office/drawing/2014/main" id="{E19232AB-3953-9432-562A-CA98FEF18D91}"/>
              </a:ext>
            </a:extLst>
          </p:cNvPr>
          <p:cNvCxnSpPr>
            <a:cxnSpLocks/>
            <a:stCxn id="16" idx="3"/>
            <a:endCxn id="6150" idx="2"/>
          </p:cNvCxnSpPr>
          <p:nvPr/>
        </p:nvCxnSpPr>
        <p:spPr>
          <a:xfrm>
            <a:off x="1019387" y="3174847"/>
            <a:ext cx="1282937" cy="1414161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92" name="Group 6191">
            <a:extLst>
              <a:ext uri="{FF2B5EF4-FFF2-40B4-BE49-F238E27FC236}">
                <a16:creationId xmlns:a16="http://schemas.microsoft.com/office/drawing/2014/main" id="{13849045-D302-30AA-6D0F-AD1510365668}"/>
              </a:ext>
            </a:extLst>
          </p:cNvPr>
          <p:cNvGrpSpPr/>
          <p:nvPr/>
        </p:nvGrpSpPr>
        <p:grpSpPr>
          <a:xfrm>
            <a:off x="4688040" y="2234667"/>
            <a:ext cx="1110341" cy="143070"/>
            <a:chOff x="4727510" y="5859624"/>
            <a:chExt cx="1110341" cy="143070"/>
          </a:xfrm>
        </p:grpSpPr>
        <p:sp>
          <p:nvSpPr>
            <p:cNvPr id="6188" name="Rectangle: Rounded Corners 6187">
              <a:extLst>
                <a:ext uri="{FF2B5EF4-FFF2-40B4-BE49-F238E27FC236}">
                  <a16:creationId xmlns:a16="http://schemas.microsoft.com/office/drawing/2014/main" id="{59A40905-EF0C-0F25-7877-302F8114D363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9" name="Rectangle: Rounded Corners 6188">
              <a:extLst>
                <a:ext uri="{FF2B5EF4-FFF2-40B4-BE49-F238E27FC236}">
                  <a16:creationId xmlns:a16="http://schemas.microsoft.com/office/drawing/2014/main" id="{F057C8CE-4591-67C4-58C5-BEBC3964357D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0" name="Rectangle: Rounded Corners 6189">
              <a:extLst>
                <a:ext uri="{FF2B5EF4-FFF2-40B4-BE49-F238E27FC236}">
                  <a16:creationId xmlns:a16="http://schemas.microsoft.com/office/drawing/2014/main" id="{1B5426BA-57EB-1941-E2EA-9C19728628CC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1" name="Rectangle: Rounded Corners 6190">
              <a:extLst>
                <a:ext uri="{FF2B5EF4-FFF2-40B4-BE49-F238E27FC236}">
                  <a16:creationId xmlns:a16="http://schemas.microsoft.com/office/drawing/2014/main" id="{7DB34753-F892-FC2E-7ABB-F967C4E769AF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93" name="Group 6192">
            <a:extLst>
              <a:ext uri="{FF2B5EF4-FFF2-40B4-BE49-F238E27FC236}">
                <a16:creationId xmlns:a16="http://schemas.microsoft.com/office/drawing/2014/main" id="{53CAAEB6-B876-9DA8-AB28-B7724BD534E5}"/>
              </a:ext>
            </a:extLst>
          </p:cNvPr>
          <p:cNvGrpSpPr/>
          <p:nvPr/>
        </p:nvGrpSpPr>
        <p:grpSpPr>
          <a:xfrm>
            <a:off x="4677154" y="2822302"/>
            <a:ext cx="1110341" cy="143070"/>
            <a:chOff x="4727510" y="5859624"/>
            <a:chExt cx="1110341" cy="143070"/>
          </a:xfrm>
        </p:grpSpPr>
        <p:sp>
          <p:nvSpPr>
            <p:cNvPr id="6194" name="Rectangle: Rounded Corners 6193">
              <a:extLst>
                <a:ext uri="{FF2B5EF4-FFF2-40B4-BE49-F238E27FC236}">
                  <a16:creationId xmlns:a16="http://schemas.microsoft.com/office/drawing/2014/main" id="{D613A915-657A-1C1F-2E70-73115703E721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5" name="Rectangle: Rounded Corners 6194">
              <a:extLst>
                <a:ext uri="{FF2B5EF4-FFF2-40B4-BE49-F238E27FC236}">
                  <a16:creationId xmlns:a16="http://schemas.microsoft.com/office/drawing/2014/main" id="{6E5DA624-AE06-EBB6-48F3-425835D2CB51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6" name="Rectangle: Rounded Corners 6195">
              <a:extLst>
                <a:ext uri="{FF2B5EF4-FFF2-40B4-BE49-F238E27FC236}">
                  <a16:creationId xmlns:a16="http://schemas.microsoft.com/office/drawing/2014/main" id="{EF7185F9-D60B-76BE-B9EE-8C8D32B50B7E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7" name="Rectangle: Rounded Corners 6196">
              <a:extLst>
                <a:ext uri="{FF2B5EF4-FFF2-40B4-BE49-F238E27FC236}">
                  <a16:creationId xmlns:a16="http://schemas.microsoft.com/office/drawing/2014/main" id="{9D9F4360-C9B3-3148-5035-FE3D2B2BCADE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98" name="Group 6197">
            <a:extLst>
              <a:ext uri="{FF2B5EF4-FFF2-40B4-BE49-F238E27FC236}">
                <a16:creationId xmlns:a16="http://schemas.microsoft.com/office/drawing/2014/main" id="{D10081EA-0CE9-5EBA-3234-93AA24AA7288}"/>
              </a:ext>
            </a:extLst>
          </p:cNvPr>
          <p:cNvGrpSpPr/>
          <p:nvPr/>
        </p:nvGrpSpPr>
        <p:grpSpPr>
          <a:xfrm>
            <a:off x="4677154" y="3329855"/>
            <a:ext cx="1110341" cy="143070"/>
            <a:chOff x="4727510" y="5859624"/>
            <a:chExt cx="1110341" cy="143070"/>
          </a:xfrm>
        </p:grpSpPr>
        <p:sp>
          <p:nvSpPr>
            <p:cNvPr id="6199" name="Rectangle: Rounded Corners 6198">
              <a:extLst>
                <a:ext uri="{FF2B5EF4-FFF2-40B4-BE49-F238E27FC236}">
                  <a16:creationId xmlns:a16="http://schemas.microsoft.com/office/drawing/2014/main" id="{F14A261A-0C4D-2FCC-090C-840F66298E29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0" name="Rectangle: Rounded Corners 6199">
              <a:extLst>
                <a:ext uri="{FF2B5EF4-FFF2-40B4-BE49-F238E27FC236}">
                  <a16:creationId xmlns:a16="http://schemas.microsoft.com/office/drawing/2014/main" id="{D6EA03E1-320D-73FF-6156-182D2F9314D5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1" name="Rectangle: Rounded Corners 6200">
              <a:extLst>
                <a:ext uri="{FF2B5EF4-FFF2-40B4-BE49-F238E27FC236}">
                  <a16:creationId xmlns:a16="http://schemas.microsoft.com/office/drawing/2014/main" id="{1A0F89D9-543D-9C35-ACED-391A5E5B8022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2" name="Rectangle: Rounded Corners 6201">
              <a:extLst>
                <a:ext uri="{FF2B5EF4-FFF2-40B4-BE49-F238E27FC236}">
                  <a16:creationId xmlns:a16="http://schemas.microsoft.com/office/drawing/2014/main" id="{55235E6B-B43E-59B6-6AA2-EB0D79D8C8A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03" name="Group 6202">
            <a:extLst>
              <a:ext uri="{FF2B5EF4-FFF2-40B4-BE49-F238E27FC236}">
                <a16:creationId xmlns:a16="http://schemas.microsoft.com/office/drawing/2014/main" id="{22B9D183-0DD8-2100-7FB4-8C9698651B5E}"/>
              </a:ext>
            </a:extLst>
          </p:cNvPr>
          <p:cNvGrpSpPr/>
          <p:nvPr/>
        </p:nvGrpSpPr>
        <p:grpSpPr>
          <a:xfrm>
            <a:off x="4677154" y="3924314"/>
            <a:ext cx="1110341" cy="143070"/>
            <a:chOff x="4727510" y="5859624"/>
            <a:chExt cx="1110341" cy="143070"/>
          </a:xfrm>
        </p:grpSpPr>
        <p:sp>
          <p:nvSpPr>
            <p:cNvPr id="6204" name="Rectangle: Rounded Corners 6203">
              <a:extLst>
                <a:ext uri="{FF2B5EF4-FFF2-40B4-BE49-F238E27FC236}">
                  <a16:creationId xmlns:a16="http://schemas.microsoft.com/office/drawing/2014/main" id="{13861D87-8F0D-17B2-EFE7-57752B4BD915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5" name="Rectangle: Rounded Corners 6204">
              <a:extLst>
                <a:ext uri="{FF2B5EF4-FFF2-40B4-BE49-F238E27FC236}">
                  <a16:creationId xmlns:a16="http://schemas.microsoft.com/office/drawing/2014/main" id="{D167444E-4489-424A-1A86-48451B448FD4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6" name="Rectangle: Rounded Corners 6205">
              <a:extLst>
                <a:ext uri="{FF2B5EF4-FFF2-40B4-BE49-F238E27FC236}">
                  <a16:creationId xmlns:a16="http://schemas.microsoft.com/office/drawing/2014/main" id="{1C201848-0675-8E78-2200-F857F4130D33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7" name="Rectangle: Rounded Corners 6206">
              <a:extLst>
                <a:ext uri="{FF2B5EF4-FFF2-40B4-BE49-F238E27FC236}">
                  <a16:creationId xmlns:a16="http://schemas.microsoft.com/office/drawing/2014/main" id="{E94502F6-0F8B-CDAC-A3B2-07041B07139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08" name="Group 6207">
            <a:extLst>
              <a:ext uri="{FF2B5EF4-FFF2-40B4-BE49-F238E27FC236}">
                <a16:creationId xmlns:a16="http://schemas.microsoft.com/office/drawing/2014/main" id="{3D1E8354-065C-7477-A471-FE4EB46444FC}"/>
              </a:ext>
            </a:extLst>
          </p:cNvPr>
          <p:cNvGrpSpPr/>
          <p:nvPr/>
        </p:nvGrpSpPr>
        <p:grpSpPr>
          <a:xfrm>
            <a:off x="4677154" y="4485412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09" name="Rectangle: Rounded Corners 6208">
              <a:extLst>
                <a:ext uri="{FF2B5EF4-FFF2-40B4-BE49-F238E27FC236}">
                  <a16:creationId xmlns:a16="http://schemas.microsoft.com/office/drawing/2014/main" id="{30C3F730-7739-18EF-5F98-E0CD6816A075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0" name="Rectangle: Rounded Corners 6209">
              <a:extLst>
                <a:ext uri="{FF2B5EF4-FFF2-40B4-BE49-F238E27FC236}">
                  <a16:creationId xmlns:a16="http://schemas.microsoft.com/office/drawing/2014/main" id="{657FA0C2-1732-1A2A-74E8-3F32DBB501C3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1" name="Rectangle: Rounded Corners 6210">
              <a:extLst>
                <a:ext uri="{FF2B5EF4-FFF2-40B4-BE49-F238E27FC236}">
                  <a16:creationId xmlns:a16="http://schemas.microsoft.com/office/drawing/2014/main" id="{825E1AB0-717F-4919-16D4-A64378AEB084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2" name="Rectangle: Rounded Corners 6211">
              <a:extLst>
                <a:ext uri="{FF2B5EF4-FFF2-40B4-BE49-F238E27FC236}">
                  <a16:creationId xmlns:a16="http://schemas.microsoft.com/office/drawing/2014/main" id="{67B23D93-71CA-B9BB-D7B7-15D32708927A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13" name="Group 6212">
            <a:extLst>
              <a:ext uri="{FF2B5EF4-FFF2-40B4-BE49-F238E27FC236}">
                <a16:creationId xmlns:a16="http://schemas.microsoft.com/office/drawing/2014/main" id="{8DD1F3C8-0269-3D13-4F45-733709B091FE}"/>
              </a:ext>
            </a:extLst>
          </p:cNvPr>
          <p:cNvGrpSpPr/>
          <p:nvPr/>
        </p:nvGrpSpPr>
        <p:grpSpPr>
          <a:xfrm>
            <a:off x="6815109" y="2234667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14" name="Rectangle: Rounded Corners 6213">
              <a:extLst>
                <a:ext uri="{FF2B5EF4-FFF2-40B4-BE49-F238E27FC236}">
                  <a16:creationId xmlns:a16="http://schemas.microsoft.com/office/drawing/2014/main" id="{DA472510-E33B-55F9-BFA7-EEDF8554BE27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5" name="Rectangle: Rounded Corners 6214">
              <a:extLst>
                <a:ext uri="{FF2B5EF4-FFF2-40B4-BE49-F238E27FC236}">
                  <a16:creationId xmlns:a16="http://schemas.microsoft.com/office/drawing/2014/main" id="{C849564A-AC87-B39C-0BE8-D92371C48466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6" name="Rectangle: Rounded Corners 6215">
              <a:extLst>
                <a:ext uri="{FF2B5EF4-FFF2-40B4-BE49-F238E27FC236}">
                  <a16:creationId xmlns:a16="http://schemas.microsoft.com/office/drawing/2014/main" id="{42E64FC2-E275-72DD-3D1B-133220CA761C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7" name="Rectangle: Rounded Corners 6216">
              <a:extLst>
                <a:ext uri="{FF2B5EF4-FFF2-40B4-BE49-F238E27FC236}">
                  <a16:creationId xmlns:a16="http://schemas.microsoft.com/office/drawing/2014/main" id="{AFDF03D8-1867-3CF5-E3DB-20C605DC649F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18" name="Group 6217">
            <a:extLst>
              <a:ext uri="{FF2B5EF4-FFF2-40B4-BE49-F238E27FC236}">
                <a16:creationId xmlns:a16="http://schemas.microsoft.com/office/drawing/2014/main" id="{BD2D7D04-0AC0-BAC2-9DA6-AD92B477E87F}"/>
              </a:ext>
            </a:extLst>
          </p:cNvPr>
          <p:cNvGrpSpPr/>
          <p:nvPr/>
        </p:nvGrpSpPr>
        <p:grpSpPr>
          <a:xfrm>
            <a:off x="6804223" y="2822302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19" name="Rectangle: Rounded Corners 6218">
              <a:extLst>
                <a:ext uri="{FF2B5EF4-FFF2-40B4-BE49-F238E27FC236}">
                  <a16:creationId xmlns:a16="http://schemas.microsoft.com/office/drawing/2014/main" id="{EFC14EC6-EE90-4E3B-4F09-50BE2C65C144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0" name="Rectangle: Rounded Corners 6219">
              <a:extLst>
                <a:ext uri="{FF2B5EF4-FFF2-40B4-BE49-F238E27FC236}">
                  <a16:creationId xmlns:a16="http://schemas.microsoft.com/office/drawing/2014/main" id="{A89E7795-A12F-65B8-E639-4150665C3EE8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1" name="Rectangle: Rounded Corners 6220">
              <a:extLst>
                <a:ext uri="{FF2B5EF4-FFF2-40B4-BE49-F238E27FC236}">
                  <a16:creationId xmlns:a16="http://schemas.microsoft.com/office/drawing/2014/main" id="{C9BAF215-4F8F-2691-7A42-FF5EA401D1E3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2" name="Rectangle: Rounded Corners 6221">
              <a:extLst>
                <a:ext uri="{FF2B5EF4-FFF2-40B4-BE49-F238E27FC236}">
                  <a16:creationId xmlns:a16="http://schemas.microsoft.com/office/drawing/2014/main" id="{561D5E13-FD56-30EA-8550-D44AFFB7348F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23" name="Group 6222">
            <a:extLst>
              <a:ext uri="{FF2B5EF4-FFF2-40B4-BE49-F238E27FC236}">
                <a16:creationId xmlns:a16="http://schemas.microsoft.com/office/drawing/2014/main" id="{2F7BE642-5A8A-5D0A-8F49-B087EF7AAB2C}"/>
              </a:ext>
            </a:extLst>
          </p:cNvPr>
          <p:cNvGrpSpPr/>
          <p:nvPr/>
        </p:nvGrpSpPr>
        <p:grpSpPr>
          <a:xfrm>
            <a:off x="6804223" y="3329855"/>
            <a:ext cx="1110341" cy="143070"/>
            <a:chOff x="4727510" y="5859624"/>
            <a:chExt cx="1110341" cy="143070"/>
          </a:xfrm>
        </p:grpSpPr>
        <p:sp>
          <p:nvSpPr>
            <p:cNvPr id="6224" name="Rectangle: Rounded Corners 6223">
              <a:extLst>
                <a:ext uri="{FF2B5EF4-FFF2-40B4-BE49-F238E27FC236}">
                  <a16:creationId xmlns:a16="http://schemas.microsoft.com/office/drawing/2014/main" id="{CAEF311E-DDC5-D2B1-21BB-D942314A466C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5" name="Rectangle: Rounded Corners 6224">
              <a:extLst>
                <a:ext uri="{FF2B5EF4-FFF2-40B4-BE49-F238E27FC236}">
                  <a16:creationId xmlns:a16="http://schemas.microsoft.com/office/drawing/2014/main" id="{E361DE9E-FDFB-BAA3-AA59-4E27350E4A62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6" name="Rectangle: Rounded Corners 6225">
              <a:extLst>
                <a:ext uri="{FF2B5EF4-FFF2-40B4-BE49-F238E27FC236}">
                  <a16:creationId xmlns:a16="http://schemas.microsoft.com/office/drawing/2014/main" id="{E3EA1AEB-2A87-2020-E325-59764663EECB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7" name="Rectangle: Rounded Corners 6226">
              <a:extLst>
                <a:ext uri="{FF2B5EF4-FFF2-40B4-BE49-F238E27FC236}">
                  <a16:creationId xmlns:a16="http://schemas.microsoft.com/office/drawing/2014/main" id="{42FBC2F8-3B29-91D8-9652-DAECAFEDA996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28" name="Group 6227">
            <a:extLst>
              <a:ext uri="{FF2B5EF4-FFF2-40B4-BE49-F238E27FC236}">
                <a16:creationId xmlns:a16="http://schemas.microsoft.com/office/drawing/2014/main" id="{3ADC11DB-E807-305D-C46B-F0CF55D91A13}"/>
              </a:ext>
            </a:extLst>
          </p:cNvPr>
          <p:cNvGrpSpPr/>
          <p:nvPr/>
        </p:nvGrpSpPr>
        <p:grpSpPr>
          <a:xfrm>
            <a:off x="6804223" y="3924314"/>
            <a:ext cx="1110341" cy="143070"/>
            <a:chOff x="4727510" y="5859624"/>
            <a:chExt cx="1110341" cy="143070"/>
          </a:xfrm>
        </p:grpSpPr>
        <p:sp>
          <p:nvSpPr>
            <p:cNvPr id="6229" name="Rectangle: Rounded Corners 6228">
              <a:extLst>
                <a:ext uri="{FF2B5EF4-FFF2-40B4-BE49-F238E27FC236}">
                  <a16:creationId xmlns:a16="http://schemas.microsoft.com/office/drawing/2014/main" id="{53181981-E19B-0ED8-3B33-836731D85748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0" name="Rectangle: Rounded Corners 6229">
              <a:extLst>
                <a:ext uri="{FF2B5EF4-FFF2-40B4-BE49-F238E27FC236}">
                  <a16:creationId xmlns:a16="http://schemas.microsoft.com/office/drawing/2014/main" id="{BCF9068D-C3F8-41C4-546C-BBAE86011BB9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1" name="Rectangle: Rounded Corners 6230">
              <a:extLst>
                <a:ext uri="{FF2B5EF4-FFF2-40B4-BE49-F238E27FC236}">
                  <a16:creationId xmlns:a16="http://schemas.microsoft.com/office/drawing/2014/main" id="{B76366E0-D4DE-717A-64F1-EAEA69F98ED5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2" name="Rectangle: Rounded Corners 6231">
              <a:extLst>
                <a:ext uri="{FF2B5EF4-FFF2-40B4-BE49-F238E27FC236}">
                  <a16:creationId xmlns:a16="http://schemas.microsoft.com/office/drawing/2014/main" id="{DADA2EB9-C9F1-C4BE-B9DC-C510111EED65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33" name="Group 6232">
            <a:extLst>
              <a:ext uri="{FF2B5EF4-FFF2-40B4-BE49-F238E27FC236}">
                <a16:creationId xmlns:a16="http://schemas.microsoft.com/office/drawing/2014/main" id="{4E39DA4B-CD6A-3C92-321D-7130229A0930}"/>
              </a:ext>
            </a:extLst>
          </p:cNvPr>
          <p:cNvGrpSpPr/>
          <p:nvPr/>
        </p:nvGrpSpPr>
        <p:grpSpPr>
          <a:xfrm>
            <a:off x="6804223" y="4485412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34" name="Rectangle: Rounded Corners 6233">
              <a:extLst>
                <a:ext uri="{FF2B5EF4-FFF2-40B4-BE49-F238E27FC236}">
                  <a16:creationId xmlns:a16="http://schemas.microsoft.com/office/drawing/2014/main" id="{70C3A780-7ED5-E90D-E07A-E5BA55107B83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5" name="Rectangle: Rounded Corners 6234">
              <a:extLst>
                <a:ext uri="{FF2B5EF4-FFF2-40B4-BE49-F238E27FC236}">
                  <a16:creationId xmlns:a16="http://schemas.microsoft.com/office/drawing/2014/main" id="{6B7ABCC9-7A07-F1E6-1C2E-72495159CCCA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6" name="Rectangle: Rounded Corners 6235">
              <a:extLst>
                <a:ext uri="{FF2B5EF4-FFF2-40B4-BE49-F238E27FC236}">
                  <a16:creationId xmlns:a16="http://schemas.microsoft.com/office/drawing/2014/main" id="{68392BF7-703D-23C3-D02D-CEED1A169AFE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7" name="Rectangle: Rounded Corners 6236">
              <a:extLst>
                <a:ext uri="{FF2B5EF4-FFF2-40B4-BE49-F238E27FC236}">
                  <a16:creationId xmlns:a16="http://schemas.microsoft.com/office/drawing/2014/main" id="{B8488AB4-1AFA-08DD-80EA-EF4AF2AB6D8A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38" name="Rectangle 6237">
            <a:extLst>
              <a:ext uri="{FF2B5EF4-FFF2-40B4-BE49-F238E27FC236}">
                <a16:creationId xmlns:a16="http://schemas.microsoft.com/office/drawing/2014/main" id="{7F922EE3-737B-BCD1-58C9-E50C0F02DC9C}"/>
              </a:ext>
            </a:extLst>
          </p:cNvPr>
          <p:cNvSpPr/>
          <p:nvPr/>
        </p:nvSpPr>
        <p:spPr>
          <a:xfrm>
            <a:off x="10336625" y="1794518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grpSp>
        <p:nvGrpSpPr>
          <p:cNvPr id="6239" name="Group 6238">
            <a:extLst>
              <a:ext uri="{FF2B5EF4-FFF2-40B4-BE49-F238E27FC236}">
                <a16:creationId xmlns:a16="http://schemas.microsoft.com/office/drawing/2014/main" id="{58AD5512-6757-2717-534B-5135B4F3DA1C}"/>
              </a:ext>
            </a:extLst>
          </p:cNvPr>
          <p:cNvGrpSpPr/>
          <p:nvPr/>
        </p:nvGrpSpPr>
        <p:grpSpPr>
          <a:xfrm>
            <a:off x="9025319" y="4486933"/>
            <a:ext cx="1110341" cy="143070"/>
            <a:chOff x="4727510" y="5859624"/>
            <a:chExt cx="1110341" cy="143070"/>
          </a:xfrm>
          <a:noFill/>
        </p:grpSpPr>
        <p:sp>
          <p:nvSpPr>
            <p:cNvPr id="6240" name="Rectangle: Rounded Corners 6239">
              <a:extLst>
                <a:ext uri="{FF2B5EF4-FFF2-40B4-BE49-F238E27FC236}">
                  <a16:creationId xmlns:a16="http://schemas.microsoft.com/office/drawing/2014/main" id="{5BFA8A9B-4699-0740-5F45-61526759DD9D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1" name="Rectangle: Rounded Corners 6240">
              <a:extLst>
                <a:ext uri="{FF2B5EF4-FFF2-40B4-BE49-F238E27FC236}">
                  <a16:creationId xmlns:a16="http://schemas.microsoft.com/office/drawing/2014/main" id="{CD2D1029-2322-D3E6-A389-4D242A6CD4B6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2" name="Rectangle: Rounded Corners 6241">
              <a:extLst>
                <a:ext uri="{FF2B5EF4-FFF2-40B4-BE49-F238E27FC236}">
                  <a16:creationId xmlns:a16="http://schemas.microsoft.com/office/drawing/2014/main" id="{FD1B9751-DB28-2172-05F8-3D7E7E6797B2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3" name="Rectangle: Rounded Corners 6242">
              <a:extLst>
                <a:ext uri="{FF2B5EF4-FFF2-40B4-BE49-F238E27FC236}">
                  <a16:creationId xmlns:a16="http://schemas.microsoft.com/office/drawing/2014/main" id="{4CD226EC-BDC3-DE4F-43DC-54887F410BF9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44" name="Group 6243">
            <a:extLst>
              <a:ext uri="{FF2B5EF4-FFF2-40B4-BE49-F238E27FC236}">
                <a16:creationId xmlns:a16="http://schemas.microsoft.com/office/drawing/2014/main" id="{B0A3D7AC-DC75-08DA-B4AA-3073085DB92E}"/>
              </a:ext>
            </a:extLst>
          </p:cNvPr>
          <p:cNvGrpSpPr/>
          <p:nvPr/>
        </p:nvGrpSpPr>
        <p:grpSpPr>
          <a:xfrm>
            <a:off x="9025319" y="3924314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45" name="Rectangle: Rounded Corners 6244">
              <a:extLst>
                <a:ext uri="{FF2B5EF4-FFF2-40B4-BE49-F238E27FC236}">
                  <a16:creationId xmlns:a16="http://schemas.microsoft.com/office/drawing/2014/main" id="{68BB10D0-BDA2-57C2-F2A5-7E3D7C2B27F6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6" name="Rectangle: Rounded Corners 6245">
              <a:extLst>
                <a:ext uri="{FF2B5EF4-FFF2-40B4-BE49-F238E27FC236}">
                  <a16:creationId xmlns:a16="http://schemas.microsoft.com/office/drawing/2014/main" id="{7DE33017-3E59-3371-5EF7-22032D07FF82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7" name="Rectangle: Rounded Corners 6246">
              <a:extLst>
                <a:ext uri="{FF2B5EF4-FFF2-40B4-BE49-F238E27FC236}">
                  <a16:creationId xmlns:a16="http://schemas.microsoft.com/office/drawing/2014/main" id="{FB4CE820-EB53-AF99-B701-FEFF3D5A424F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8" name="Rectangle: Rounded Corners 6247">
              <a:extLst>
                <a:ext uri="{FF2B5EF4-FFF2-40B4-BE49-F238E27FC236}">
                  <a16:creationId xmlns:a16="http://schemas.microsoft.com/office/drawing/2014/main" id="{842CE1DA-3F59-6B53-46E8-AD20EC4521D4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49" name="Group 6248">
            <a:extLst>
              <a:ext uri="{FF2B5EF4-FFF2-40B4-BE49-F238E27FC236}">
                <a16:creationId xmlns:a16="http://schemas.microsoft.com/office/drawing/2014/main" id="{BB94902F-DDF0-A6B2-8637-E931201B3176}"/>
              </a:ext>
            </a:extLst>
          </p:cNvPr>
          <p:cNvGrpSpPr/>
          <p:nvPr/>
        </p:nvGrpSpPr>
        <p:grpSpPr>
          <a:xfrm>
            <a:off x="9014433" y="3313419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50" name="Rectangle: Rounded Corners 6249">
              <a:extLst>
                <a:ext uri="{FF2B5EF4-FFF2-40B4-BE49-F238E27FC236}">
                  <a16:creationId xmlns:a16="http://schemas.microsoft.com/office/drawing/2014/main" id="{40142D21-5E38-DF95-92C3-4522C356AC37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1" name="Rectangle: Rounded Corners 6250">
              <a:extLst>
                <a:ext uri="{FF2B5EF4-FFF2-40B4-BE49-F238E27FC236}">
                  <a16:creationId xmlns:a16="http://schemas.microsoft.com/office/drawing/2014/main" id="{ABAD1F77-8CCA-8871-30DD-536F5EBB182A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2" name="Rectangle: Rounded Corners 6251">
              <a:extLst>
                <a:ext uri="{FF2B5EF4-FFF2-40B4-BE49-F238E27FC236}">
                  <a16:creationId xmlns:a16="http://schemas.microsoft.com/office/drawing/2014/main" id="{C831C1BD-9487-DEC2-E368-CDC15BB92E0B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53" name="Rectangle: Rounded Corners 6252">
              <a:extLst>
                <a:ext uri="{FF2B5EF4-FFF2-40B4-BE49-F238E27FC236}">
                  <a16:creationId xmlns:a16="http://schemas.microsoft.com/office/drawing/2014/main" id="{D80BF62E-55A6-E5CF-5072-3AB2A8E3C73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54" name="Group 6253">
            <a:extLst>
              <a:ext uri="{FF2B5EF4-FFF2-40B4-BE49-F238E27FC236}">
                <a16:creationId xmlns:a16="http://schemas.microsoft.com/office/drawing/2014/main" id="{3DFF42EE-0432-6832-8589-F50D4C3C5F40}"/>
              </a:ext>
            </a:extLst>
          </p:cNvPr>
          <p:cNvGrpSpPr/>
          <p:nvPr/>
        </p:nvGrpSpPr>
        <p:grpSpPr>
          <a:xfrm>
            <a:off x="9014433" y="2829126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55" name="Rectangle: Rounded Corners 6254">
              <a:extLst>
                <a:ext uri="{FF2B5EF4-FFF2-40B4-BE49-F238E27FC236}">
                  <a16:creationId xmlns:a16="http://schemas.microsoft.com/office/drawing/2014/main" id="{C3DE4DC8-85B7-ADBE-93DD-C8DB5C598A38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6" name="Rectangle: Rounded Corners 6255">
              <a:extLst>
                <a:ext uri="{FF2B5EF4-FFF2-40B4-BE49-F238E27FC236}">
                  <a16:creationId xmlns:a16="http://schemas.microsoft.com/office/drawing/2014/main" id="{F5D29868-CE97-35A0-9AD3-64E1D4C67FA8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7" name="Rectangle: Rounded Corners 6256">
              <a:extLst>
                <a:ext uri="{FF2B5EF4-FFF2-40B4-BE49-F238E27FC236}">
                  <a16:creationId xmlns:a16="http://schemas.microsoft.com/office/drawing/2014/main" id="{8D3A768A-29EF-536C-28D4-E0D6AED803A5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8" name="Rectangle: Rounded Corners 6257">
              <a:extLst>
                <a:ext uri="{FF2B5EF4-FFF2-40B4-BE49-F238E27FC236}">
                  <a16:creationId xmlns:a16="http://schemas.microsoft.com/office/drawing/2014/main" id="{3EEDE0E7-2B2A-BFAD-61FC-BB31DB4D6184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59" name="Group 6258">
            <a:extLst>
              <a:ext uri="{FF2B5EF4-FFF2-40B4-BE49-F238E27FC236}">
                <a16:creationId xmlns:a16="http://schemas.microsoft.com/office/drawing/2014/main" id="{211D5A74-8506-D523-24B3-673A89FE7EB7}"/>
              </a:ext>
            </a:extLst>
          </p:cNvPr>
          <p:cNvGrpSpPr/>
          <p:nvPr/>
        </p:nvGrpSpPr>
        <p:grpSpPr>
          <a:xfrm>
            <a:off x="9014433" y="2238518"/>
            <a:ext cx="1110341" cy="143070"/>
            <a:chOff x="4727510" y="5859624"/>
            <a:chExt cx="1110341" cy="143070"/>
          </a:xfrm>
          <a:solidFill>
            <a:srgbClr val="92D050"/>
          </a:solidFill>
        </p:grpSpPr>
        <p:sp>
          <p:nvSpPr>
            <p:cNvPr id="6260" name="Rectangle: Rounded Corners 6259">
              <a:extLst>
                <a:ext uri="{FF2B5EF4-FFF2-40B4-BE49-F238E27FC236}">
                  <a16:creationId xmlns:a16="http://schemas.microsoft.com/office/drawing/2014/main" id="{2A0C7540-A70D-7F02-767C-EF91BBA792AE}"/>
                </a:ext>
              </a:extLst>
            </p:cNvPr>
            <p:cNvSpPr/>
            <p:nvPr/>
          </p:nvSpPr>
          <p:spPr>
            <a:xfrm>
              <a:off x="4727510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1" name="Rectangle: Rounded Corners 6260">
              <a:extLst>
                <a:ext uri="{FF2B5EF4-FFF2-40B4-BE49-F238E27FC236}">
                  <a16:creationId xmlns:a16="http://schemas.microsoft.com/office/drawing/2014/main" id="{AE79FA0A-0648-E66C-09FF-EC37A213CC88}"/>
                </a:ext>
              </a:extLst>
            </p:cNvPr>
            <p:cNvSpPr/>
            <p:nvPr/>
          </p:nvSpPr>
          <p:spPr>
            <a:xfrm>
              <a:off x="5010538" y="5859624"/>
              <a:ext cx="261257" cy="14307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2" name="Rectangle: Rounded Corners 6261">
              <a:extLst>
                <a:ext uri="{FF2B5EF4-FFF2-40B4-BE49-F238E27FC236}">
                  <a16:creationId xmlns:a16="http://schemas.microsoft.com/office/drawing/2014/main" id="{2B3DED5F-6148-E922-A546-0943CE51DEF1}"/>
                </a:ext>
              </a:extLst>
            </p:cNvPr>
            <p:cNvSpPr/>
            <p:nvPr/>
          </p:nvSpPr>
          <p:spPr>
            <a:xfrm>
              <a:off x="5293566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3" name="Rectangle: Rounded Corners 6262">
              <a:extLst>
                <a:ext uri="{FF2B5EF4-FFF2-40B4-BE49-F238E27FC236}">
                  <a16:creationId xmlns:a16="http://schemas.microsoft.com/office/drawing/2014/main" id="{416A1550-8530-0B15-FFBB-6D61BBC2FE0C}"/>
                </a:ext>
              </a:extLst>
            </p:cNvPr>
            <p:cNvSpPr/>
            <p:nvPr/>
          </p:nvSpPr>
          <p:spPr>
            <a:xfrm>
              <a:off x="5576594" y="5859624"/>
              <a:ext cx="261257" cy="1430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64" name="Rectangle 6263">
            <a:extLst>
              <a:ext uri="{FF2B5EF4-FFF2-40B4-BE49-F238E27FC236}">
                <a16:creationId xmlns:a16="http://schemas.microsoft.com/office/drawing/2014/main" id="{23DA1FDA-7A3B-F0F3-0798-95C3598360CB}"/>
              </a:ext>
            </a:extLst>
          </p:cNvPr>
          <p:cNvSpPr/>
          <p:nvPr/>
        </p:nvSpPr>
        <p:spPr>
          <a:xfrm>
            <a:off x="10336625" y="2938952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266" name="Rectangle 6265">
            <a:extLst>
              <a:ext uri="{FF2B5EF4-FFF2-40B4-BE49-F238E27FC236}">
                <a16:creationId xmlns:a16="http://schemas.microsoft.com/office/drawing/2014/main" id="{9F3C05F2-A206-0F60-363D-6227F697BDF1}"/>
              </a:ext>
            </a:extLst>
          </p:cNvPr>
          <p:cNvSpPr/>
          <p:nvPr/>
        </p:nvSpPr>
        <p:spPr>
          <a:xfrm>
            <a:off x="10349721" y="3511169"/>
            <a:ext cx="16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063890-DB55-AE30-372D-52D54198CD7D}"/>
              </a:ext>
            </a:extLst>
          </p:cNvPr>
          <p:cNvSpPr/>
          <p:nvPr/>
        </p:nvSpPr>
        <p:spPr>
          <a:xfrm>
            <a:off x="4726313" y="5059927"/>
            <a:ext cx="778154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en-US" sz="60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5B5A6D-189B-25C7-F942-98A783D2C78D}"/>
              </a:ext>
            </a:extLst>
          </p:cNvPr>
          <p:cNvSpPr/>
          <p:nvPr/>
        </p:nvSpPr>
        <p:spPr>
          <a:xfrm>
            <a:off x="6959431" y="4990666"/>
            <a:ext cx="778154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US" sz="9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AA8CAF-7075-F8AB-EF24-03ABA754B22F}"/>
              </a:ext>
            </a:extLst>
          </p:cNvPr>
          <p:cNvSpPr/>
          <p:nvPr/>
        </p:nvSpPr>
        <p:spPr>
          <a:xfrm>
            <a:off x="8723833" y="5061118"/>
            <a:ext cx="1974568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Ai203 at this moment,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testing more Emx1Cre-Ai96 mice 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C56F8-561E-3860-E199-73EA0A183BEE}"/>
              </a:ext>
            </a:extLst>
          </p:cNvPr>
          <p:cNvSpPr/>
          <p:nvPr/>
        </p:nvSpPr>
        <p:spPr>
          <a:xfrm>
            <a:off x="7740172" y="3054897"/>
            <a:ext cx="778154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US" sz="3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15B388-C2FD-8594-C7C0-F130B7466E1C}"/>
              </a:ext>
            </a:extLst>
          </p:cNvPr>
          <p:cNvSpPr/>
          <p:nvPr/>
        </p:nvSpPr>
        <p:spPr>
          <a:xfrm>
            <a:off x="2248387" y="5763139"/>
            <a:ext cx="9013575" cy="7048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forward with vGluT1-Ai203 ,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testing more Emx1Cre-Ai96 mice  </a:t>
            </a:r>
          </a:p>
        </p:txBody>
      </p:sp>
    </p:spTree>
    <p:extLst>
      <p:ext uri="{BB962C8B-B14F-4D97-AF65-F5344CB8AC3E}">
        <p14:creationId xmlns:p14="http://schemas.microsoft.com/office/powerpoint/2010/main" val="570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442</Words>
  <Application>Microsoft Macintosh PowerPoint</Application>
  <PresentationFormat>Widescreen</PresentationFormat>
  <Paragraphs>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Noto Sans</vt:lpstr>
      <vt:lpstr>Times New Roman</vt:lpstr>
      <vt:lpstr>Office Theme</vt:lpstr>
      <vt:lpstr>SLM-Project Progress</vt:lpstr>
      <vt:lpstr>Holographic Imaging and Photo-Stimulation </vt:lpstr>
      <vt:lpstr>Two Parts of SLM</vt:lpstr>
      <vt:lpstr>Update in Engineering</vt:lpstr>
      <vt:lpstr>Two Parts of SLM</vt:lpstr>
      <vt:lpstr>Main Aims in Biology Part of SLM</vt:lpstr>
      <vt:lpstr>Evaluation of Three Animal Strategies</vt:lpstr>
      <vt:lpstr>SLM: vGluT1-Ai203 </vt:lpstr>
      <vt:lpstr>SLM: vGluT1-Ai203 </vt:lpstr>
      <vt:lpstr>SLM: vGluT1-Ai203 </vt:lpstr>
      <vt:lpstr>SLM: GCamp6s-CamkII </vt:lpstr>
      <vt:lpstr>SLM: GCamp6s-CamkII </vt:lpstr>
      <vt:lpstr>SLM: GCamp6s-CamkII </vt:lpstr>
      <vt:lpstr>SLM: Emx1.Cre-Ai96 </vt:lpstr>
      <vt:lpstr>SLM: Emx1.Cre-Ai96 </vt:lpstr>
      <vt:lpstr>SLM: Emx1.Cre-Ai96 </vt:lpstr>
      <vt:lpstr>Thoughts?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dc:creator>Zhang, Lu (NIH/NIMH) [C]</dc:creator>
  <cp:lastModifiedBy>Lee, Soohyun (NIH/NIMH) [E]</cp:lastModifiedBy>
  <cp:revision>7</cp:revision>
  <dcterms:created xsi:type="dcterms:W3CDTF">2024-03-19T13:22:46Z</dcterms:created>
  <dcterms:modified xsi:type="dcterms:W3CDTF">2024-08-08T05:42:28Z</dcterms:modified>
</cp:coreProperties>
</file>